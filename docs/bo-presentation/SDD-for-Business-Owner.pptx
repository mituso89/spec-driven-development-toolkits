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1.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3F"/>
        </a:solidFill>
      </p:bgPr>
    </p:bg>
    <p:spTree>
      <p:nvGrpSpPr>
        <p:cNvPr id="1" name=""/>
        <p:cNvGrpSpPr/>
        <p:nvPr/>
      </p:nvGrpSpPr>
      <p:grpSpPr>
        <a:xfrm>
          <a:off x="0" y="0"/>
          <a:ext cx="0" cy="0"/>
          <a:chOff x="0" y="0"/>
          <a:chExt cx="0" cy="0"/>
        </a:xfrm>
      </p:grpSpPr>
      <p:sp>
        <p:nvSpPr>
          <p:cNvPr id="2" name="Shape 0"/>
          <p:cNvSpPr/>
          <p:nvPr/>
        </p:nvSpPr>
        <p:spPr>
          <a:xfrm>
            <a:off x="10241280" y="-457200"/>
            <a:ext cx="2560320" cy="2560320"/>
          </a:xfrm>
          <a:prstGeom prst="ellipse">
            <a:avLst/>
          </a:prstGeom>
          <a:solidFill>
            <a:srgbClr val="2EC4B6">
              <a:alpha val="15000"/>
            </a:srgbClr>
          </a:solidFill>
          <a:ln/>
        </p:spPr>
      </p:sp>
      <p:sp>
        <p:nvSpPr>
          <p:cNvPr id="3" name="Shape 1"/>
          <p:cNvSpPr/>
          <p:nvPr/>
        </p:nvSpPr>
        <p:spPr>
          <a:xfrm>
            <a:off x="11064240" y="1371600"/>
            <a:ext cx="1645920" cy="1645920"/>
          </a:xfrm>
          <a:prstGeom prst="ellipse">
            <a:avLst/>
          </a:prstGeom>
          <a:solidFill>
            <a:srgbClr val="E9A23B">
              <a:alpha val="15000"/>
            </a:srgbClr>
          </a:solidFill>
          <a:ln/>
        </p:spPr>
      </p:sp>
      <p:sp>
        <p:nvSpPr>
          <p:cNvPr id="4" name="Shape 2"/>
          <p:cNvSpPr/>
          <p:nvPr/>
        </p:nvSpPr>
        <p:spPr>
          <a:xfrm>
            <a:off x="-731520" y="5303520"/>
            <a:ext cx="2194560" cy="2194560"/>
          </a:xfrm>
          <a:prstGeom prst="ellipse">
            <a:avLst/>
          </a:prstGeom>
          <a:solidFill>
            <a:srgbClr val="2EC4B6">
              <a:alpha val="12000"/>
            </a:srgbClr>
          </a:solidFill>
          <a:ln/>
        </p:spPr>
      </p:sp>
      <p:sp>
        <p:nvSpPr>
          <p:cNvPr id="5" name="Text 3"/>
          <p:cNvSpPr/>
          <p:nvPr/>
        </p:nvSpPr>
        <p:spPr>
          <a:xfrm>
            <a:off x="822960" y="1828800"/>
            <a:ext cx="7315200" cy="329184"/>
          </a:xfrm>
          <a:prstGeom prst="rect">
            <a:avLst/>
          </a:prstGeom>
          <a:noFill/>
          <a:ln/>
        </p:spPr>
        <p:txBody>
          <a:bodyPr wrap="square" lIns="0" tIns="0" rIns="0" bIns="0" rtlCol="0" anchor="ctr"/>
          <a:lstStyle/>
          <a:p>
            <a:pPr indent="0" marL="0">
              <a:buNone/>
            </a:pPr>
            <a:r>
              <a:rPr lang="en-US" sz="1250" b="1" spc="400" kern="0" dirty="0">
                <a:solidFill>
                  <a:srgbClr val="2EC4B6"/>
                </a:solidFill>
                <a:latin typeface="Calibri" pitchFamily="34" charset="0"/>
                <a:ea typeface="Calibri" pitchFamily="34" charset="-122"/>
                <a:cs typeface="Calibri" pitchFamily="34" charset="-120"/>
              </a:rPr>
              <a:t>FOR LEADERSHIP</a:t>
            </a:r>
            <a:endParaRPr lang="en-US" sz="1250" dirty="0"/>
          </a:p>
        </p:txBody>
      </p:sp>
      <p:sp>
        <p:nvSpPr>
          <p:cNvPr id="6" name="Text 4"/>
          <p:cNvSpPr/>
          <p:nvPr/>
        </p:nvSpPr>
        <p:spPr>
          <a:xfrm>
            <a:off x="777240" y="2212848"/>
            <a:ext cx="10972800" cy="1325880"/>
          </a:xfrm>
          <a:prstGeom prst="rect">
            <a:avLst/>
          </a:prstGeom>
          <a:noFill/>
          <a:ln/>
        </p:spPr>
        <p:txBody>
          <a:bodyPr wrap="square" lIns="0" tIns="0" rIns="0" bIns="0" rtlCol="0" anchor="ctr"/>
          <a:lstStyle/>
          <a:p>
            <a:pPr indent="0" marL="0">
              <a:buNone/>
            </a:pPr>
            <a:r>
              <a:rPr lang="en-US" sz="5800" b="1" dirty="0">
                <a:solidFill>
                  <a:srgbClr val="FFFFFF"/>
                </a:solidFill>
                <a:latin typeface="Georgia" pitchFamily="34" charset="0"/>
                <a:ea typeface="Georgia" pitchFamily="34" charset="-122"/>
                <a:cs typeface="Georgia" pitchFamily="34" charset="-120"/>
              </a:rPr>
              <a:t>Spec-Driven Development</a:t>
            </a:r>
            <a:endParaRPr lang="en-US" sz="5800" dirty="0"/>
          </a:p>
        </p:txBody>
      </p:sp>
      <p:sp>
        <p:nvSpPr>
          <p:cNvPr id="7" name="Text 5"/>
          <p:cNvSpPr/>
          <p:nvPr/>
        </p:nvSpPr>
        <p:spPr>
          <a:xfrm>
            <a:off x="822960" y="3611880"/>
            <a:ext cx="10058400" cy="594360"/>
          </a:xfrm>
          <a:prstGeom prst="rect">
            <a:avLst/>
          </a:prstGeom>
          <a:noFill/>
          <a:ln/>
        </p:spPr>
        <p:txBody>
          <a:bodyPr wrap="square" lIns="0" tIns="0" rIns="0" bIns="0" rtlCol="0" anchor="ctr"/>
          <a:lstStyle/>
          <a:p>
            <a:pPr indent="0" marL="0">
              <a:buNone/>
            </a:pPr>
            <a:r>
              <a:rPr lang="en-US" sz="2400" i="1" dirty="0">
                <a:solidFill>
                  <a:srgbClr val="C8DAEF"/>
                </a:solidFill>
                <a:latin typeface="Georgia" pitchFamily="34" charset="0"/>
                <a:ea typeface="Georgia" pitchFamily="34" charset="-122"/>
                <a:cs typeface="Georgia" pitchFamily="34" charset="-120"/>
              </a:rPr>
              <a:t>Shipping the right thing — predictably.</a:t>
            </a:r>
            <a:endParaRPr lang="en-US" sz="2400" dirty="0"/>
          </a:p>
        </p:txBody>
      </p:sp>
      <p:sp>
        <p:nvSpPr>
          <p:cNvPr id="8" name="Shape 6"/>
          <p:cNvSpPr/>
          <p:nvPr/>
        </p:nvSpPr>
        <p:spPr>
          <a:xfrm>
            <a:off x="868680" y="4389120"/>
            <a:ext cx="2011680" cy="0"/>
          </a:xfrm>
          <a:prstGeom prst="line">
            <a:avLst/>
          </a:prstGeom>
          <a:noFill/>
          <a:ln w="31750">
            <a:solidFill>
              <a:srgbClr val="E9A23B"/>
            </a:solidFill>
            <a:prstDash val="solid"/>
          </a:ln>
        </p:spPr>
      </p:sp>
      <p:sp>
        <p:nvSpPr>
          <p:cNvPr id="9" name="Text 7"/>
          <p:cNvSpPr/>
          <p:nvPr/>
        </p:nvSpPr>
        <p:spPr>
          <a:xfrm>
            <a:off x="822960" y="4572000"/>
            <a:ext cx="10424160" cy="822960"/>
          </a:xfrm>
          <a:prstGeom prst="rect">
            <a:avLst/>
          </a:prstGeom>
          <a:noFill/>
          <a:ln/>
        </p:spPr>
        <p:txBody>
          <a:bodyPr wrap="square" lIns="0" tIns="0" rIns="0" bIns="0" rtlCol="0" anchor="ctr"/>
          <a:lstStyle/>
          <a:p>
            <a:pPr indent="0" marL="0">
              <a:buNone/>
            </a:pPr>
            <a:r>
              <a:rPr lang="en-US" sz="1450" dirty="0">
                <a:solidFill>
                  <a:srgbClr val="C8DAEF"/>
                </a:solidFill>
                <a:latin typeface="Calibri" pitchFamily="34" charset="0"/>
                <a:ea typeface="Calibri" pitchFamily="34" charset="-122"/>
                <a:cs typeface="Calibri" pitchFamily="34" charset="-120"/>
              </a:rPr>
              <a:t>How we turn business requirements into working software — with humans approving every critical step.  Especially important now that AI can build fast: we need to make sure that speed points in the right direction.</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94360" y="438912"/>
            <a:ext cx="10972800" cy="292608"/>
          </a:xfrm>
          <a:prstGeom prst="rect">
            <a:avLst/>
          </a:prstGeom>
          <a:noFill/>
          <a:ln/>
        </p:spPr>
        <p:txBody>
          <a:bodyPr wrap="square" lIns="0" tIns="0" rIns="0" bIns="0" rtlCol="0" anchor="ctr"/>
          <a:lstStyle/>
          <a:p>
            <a:pPr indent="0" marL="0">
              <a:buNone/>
            </a:pPr>
            <a:r>
              <a:rPr lang="en-US" sz="1150" b="1" spc="350" kern="0" dirty="0">
                <a:solidFill>
                  <a:srgbClr val="2EC4B6"/>
                </a:solidFill>
                <a:latin typeface="Calibri" pitchFamily="34" charset="0"/>
                <a:ea typeface="Calibri" pitchFamily="34" charset="-122"/>
                <a:cs typeface="Calibri" pitchFamily="34" charset="-120"/>
              </a:rPr>
              <a:t>THE PROBLEM TODAY</a:t>
            </a:r>
            <a:endParaRPr lang="en-US" sz="1150" dirty="0"/>
          </a:p>
        </p:txBody>
      </p:sp>
      <p:sp>
        <p:nvSpPr>
          <p:cNvPr id="3" name="Text 1"/>
          <p:cNvSpPr/>
          <p:nvPr/>
        </p:nvSpPr>
        <p:spPr>
          <a:xfrm>
            <a:off x="594360" y="749808"/>
            <a:ext cx="10972800" cy="868680"/>
          </a:xfrm>
          <a:prstGeom prst="rect">
            <a:avLst/>
          </a:prstGeom>
          <a:noFill/>
          <a:ln/>
        </p:spPr>
        <p:txBody>
          <a:bodyPr wrap="square" lIns="0" tIns="0" rIns="0" bIns="0" rtlCol="0" anchor="ctr"/>
          <a:lstStyle/>
          <a:p>
            <a:pPr indent="0" marL="0">
              <a:buNone/>
            </a:pPr>
            <a:r>
              <a:rPr lang="en-US" sz="3400" b="1" dirty="0">
                <a:solidFill>
                  <a:srgbClr val="1A2333"/>
                </a:solidFill>
                <a:latin typeface="Georgia" pitchFamily="34" charset="0"/>
                <a:ea typeface="Georgia" pitchFamily="34" charset="-122"/>
                <a:cs typeface="Georgia" pitchFamily="34" charset="-120"/>
              </a:rPr>
              <a:t>Four patterns that derail most software projects</a:t>
            </a:r>
            <a:endParaRPr lang="en-US" sz="3400" dirty="0"/>
          </a:p>
        </p:txBody>
      </p:sp>
      <p:sp>
        <p:nvSpPr>
          <p:cNvPr id="4" name="Text 2"/>
          <p:cNvSpPr/>
          <p:nvPr/>
        </p:nvSpPr>
        <p:spPr>
          <a:xfrm>
            <a:off x="594360" y="1572768"/>
            <a:ext cx="10972800" cy="347472"/>
          </a:xfrm>
          <a:prstGeom prst="rect">
            <a:avLst/>
          </a:prstGeom>
          <a:noFill/>
          <a:ln/>
        </p:spPr>
        <p:txBody>
          <a:bodyPr wrap="square" lIns="0" tIns="0" rIns="0" bIns="0" rtlCol="0" anchor="ctr"/>
          <a:lstStyle/>
          <a:p>
            <a:pPr indent="0" marL="0">
              <a:buNone/>
            </a:pPr>
            <a:r>
              <a:rPr lang="en-US" sz="1400" dirty="0">
                <a:solidFill>
                  <a:srgbClr val="5A6478"/>
                </a:solidFill>
                <a:latin typeface="Calibri" pitchFamily="34" charset="0"/>
                <a:ea typeface="Calibri" pitchFamily="34" charset="-122"/>
                <a:cs typeface="Calibri" pitchFamily="34" charset="-120"/>
              </a:rPr>
              <a:t>These four patterns show up in nearly every team — and each one compounds the others.</a:t>
            </a:r>
            <a:endParaRPr lang="en-US" sz="1400" dirty="0"/>
          </a:p>
        </p:txBody>
      </p:sp>
      <p:sp>
        <p:nvSpPr>
          <p:cNvPr id="5" name="Shape 3"/>
          <p:cNvSpPr/>
          <p:nvPr/>
        </p:nvSpPr>
        <p:spPr>
          <a:xfrm>
            <a:off x="594360" y="2103120"/>
            <a:ext cx="5349240" cy="2011680"/>
          </a:xfrm>
          <a:prstGeom prst="rect">
            <a:avLst/>
          </a:prstGeom>
          <a:solidFill>
            <a:srgbClr val="FFFFFF"/>
          </a:solidFill>
          <a:ln w="12700">
            <a:solidFill>
              <a:srgbClr val="D8E2F0"/>
            </a:solidFill>
            <a:prstDash val="solid"/>
          </a:ln>
          <a:effectLst>
            <a:outerShdw sx="100000" sy="100000" kx="0" ky="0" algn="bl" rotWithShape="0" blurRad="127000" dist="38100" dir="8100000">
              <a:srgbClr val="000000">
                <a:alpha val="14000"/>
              </a:srgbClr>
            </a:outerShdw>
          </a:effectLst>
        </p:spPr>
      </p:sp>
      <p:sp>
        <p:nvSpPr>
          <p:cNvPr id="6" name="Shape 4"/>
          <p:cNvSpPr/>
          <p:nvPr/>
        </p:nvSpPr>
        <p:spPr>
          <a:xfrm>
            <a:off x="594360" y="2103120"/>
            <a:ext cx="91440" cy="2011680"/>
          </a:xfrm>
          <a:prstGeom prst="rect">
            <a:avLst/>
          </a:prstGeom>
          <a:solidFill>
            <a:srgbClr val="E9A23B"/>
          </a:solidFill>
          <a:ln/>
        </p:spPr>
      </p:sp>
      <p:sp>
        <p:nvSpPr>
          <p:cNvPr id="7" name="Shape 5"/>
          <p:cNvSpPr/>
          <p:nvPr/>
        </p:nvSpPr>
        <p:spPr>
          <a:xfrm>
            <a:off x="914400" y="2423160"/>
            <a:ext cx="566928" cy="566928"/>
          </a:xfrm>
          <a:prstGeom prst="ellipse">
            <a:avLst/>
          </a:prstGeom>
          <a:solidFill>
            <a:srgbClr val="FEF3DC"/>
          </a:solidFill>
          <a:ln/>
        </p:spPr>
      </p:sp>
      <p:pic>
        <p:nvPicPr>
          <p:cNvPr id="8" name="Image 0" descr="preencoded.png">    </p:cNvPr>
          <p:cNvPicPr>
            <a:picLocks noChangeAspect="1"/>
          </p:cNvPicPr>
          <p:nvPr/>
        </p:nvPicPr>
        <p:blipFill>
          <a:blip r:embed="rId1"/>
          <a:stretch>
            <a:fillRect/>
          </a:stretch>
        </p:blipFill>
        <p:spPr>
          <a:xfrm>
            <a:off x="1039124" y="2547884"/>
            <a:ext cx="317480" cy="317480"/>
          </a:xfrm>
          <a:prstGeom prst="rect">
            <a:avLst/>
          </a:prstGeom>
        </p:spPr>
      </p:pic>
      <p:sp>
        <p:nvSpPr>
          <p:cNvPr id="9" name="Text 6"/>
          <p:cNvSpPr/>
          <p:nvPr/>
        </p:nvSpPr>
        <p:spPr>
          <a:xfrm>
            <a:off x="1691640" y="2377440"/>
            <a:ext cx="4069080" cy="457200"/>
          </a:xfrm>
          <a:prstGeom prst="rect">
            <a:avLst/>
          </a:prstGeom>
          <a:noFill/>
          <a:ln/>
        </p:spPr>
        <p:txBody>
          <a:bodyPr wrap="square" lIns="0" tIns="0" rIns="0" bIns="0" rtlCol="0" anchor="ctr"/>
          <a:lstStyle/>
          <a:p>
            <a:pPr indent="0" marL="0">
              <a:buNone/>
            </a:pPr>
            <a:r>
              <a:rPr lang="en-US" sz="1700" b="1" dirty="0">
                <a:solidFill>
                  <a:srgbClr val="1A2333"/>
                </a:solidFill>
                <a:latin typeface="Georgia" pitchFamily="34" charset="0"/>
                <a:ea typeface="Georgia" pitchFamily="34" charset="-122"/>
                <a:cs typeface="Georgia" pitchFamily="34" charset="-120"/>
              </a:rPr>
              <a:t>Expensive rework</a:t>
            </a:r>
            <a:endParaRPr lang="en-US" sz="1700" dirty="0"/>
          </a:p>
        </p:txBody>
      </p:sp>
      <p:sp>
        <p:nvSpPr>
          <p:cNvPr id="10" name="Text 7"/>
          <p:cNvSpPr/>
          <p:nvPr/>
        </p:nvSpPr>
        <p:spPr>
          <a:xfrm>
            <a:off x="1691640" y="2852928"/>
            <a:ext cx="4069080" cy="64008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We build a feature, ship it, and then discover it wasn't what the business actually needed — and do it again. On average, 40–50% of total project effort goes to work that gets thrown away or redone.</a:t>
            </a:r>
            <a:endParaRPr lang="en-US" sz="1150" dirty="0"/>
          </a:p>
        </p:txBody>
      </p:sp>
      <p:sp>
        <p:nvSpPr>
          <p:cNvPr id="11" name="Shape 8"/>
          <p:cNvSpPr/>
          <p:nvPr/>
        </p:nvSpPr>
        <p:spPr>
          <a:xfrm>
            <a:off x="1691640" y="3547872"/>
            <a:ext cx="4023360" cy="0"/>
          </a:xfrm>
          <a:prstGeom prst="line">
            <a:avLst/>
          </a:prstGeom>
          <a:noFill/>
          <a:ln w="9525">
            <a:solidFill>
              <a:srgbClr val="D8E2F0"/>
            </a:solidFill>
            <a:prstDash val="solid"/>
          </a:ln>
        </p:spPr>
      </p:sp>
      <p:sp>
        <p:nvSpPr>
          <p:cNvPr id="12" name="Text 9"/>
          <p:cNvSpPr/>
          <p:nvPr/>
        </p:nvSpPr>
        <p:spPr>
          <a:xfrm>
            <a:off x="1691640" y="3584448"/>
            <a:ext cx="4069080" cy="411480"/>
          </a:xfrm>
          <a:prstGeom prst="rect">
            <a:avLst/>
          </a:prstGeom>
          <a:noFill/>
          <a:ln/>
        </p:spPr>
        <p:txBody>
          <a:bodyPr wrap="square" lIns="0" tIns="0" rIns="0" bIns="0" rtlCol="0" anchor="ctr"/>
          <a:lstStyle/>
          <a:p>
            <a:pPr indent="0" marL="0">
              <a:buNone/>
            </a:pPr>
            <a:r>
              <a:rPr lang="en-US" sz="1100" i="1" dirty="0">
                <a:solidFill>
                  <a:srgbClr val="D64045"/>
                </a:solidFill>
                <a:latin typeface="Calibri" pitchFamily="34" charset="0"/>
                <a:ea typeface="Calibri" pitchFamily="34" charset="-122"/>
                <a:cs typeface="Calibri" pitchFamily="34" charset="-120"/>
              </a:rPr>
              <a:t>Every rework cycle: wasted time, delayed roadmap, team morale hit.</a:t>
            </a:r>
            <a:endParaRPr lang="en-US" sz="1100" dirty="0"/>
          </a:p>
        </p:txBody>
      </p:sp>
      <p:sp>
        <p:nvSpPr>
          <p:cNvPr id="13" name="Shape 10"/>
          <p:cNvSpPr/>
          <p:nvPr/>
        </p:nvSpPr>
        <p:spPr>
          <a:xfrm>
            <a:off x="6217920" y="2103120"/>
            <a:ext cx="5349240" cy="2011680"/>
          </a:xfrm>
          <a:prstGeom prst="rect">
            <a:avLst/>
          </a:prstGeom>
          <a:solidFill>
            <a:srgbClr val="FFFFFF"/>
          </a:solidFill>
          <a:ln w="12700">
            <a:solidFill>
              <a:srgbClr val="D8E2F0"/>
            </a:solidFill>
            <a:prstDash val="solid"/>
          </a:ln>
          <a:effectLst>
            <a:outerShdw sx="100000" sy="100000" kx="0" ky="0" algn="bl" rotWithShape="0" blurRad="127000" dist="38100" dir="8100000">
              <a:srgbClr val="000000">
                <a:alpha val="14000"/>
              </a:srgbClr>
            </a:outerShdw>
          </a:effectLst>
        </p:spPr>
      </p:sp>
      <p:sp>
        <p:nvSpPr>
          <p:cNvPr id="14" name="Shape 11"/>
          <p:cNvSpPr/>
          <p:nvPr/>
        </p:nvSpPr>
        <p:spPr>
          <a:xfrm>
            <a:off x="6217920" y="2103120"/>
            <a:ext cx="91440" cy="2011680"/>
          </a:xfrm>
          <a:prstGeom prst="rect">
            <a:avLst/>
          </a:prstGeom>
          <a:solidFill>
            <a:srgbClr val="E9A23B"/>
          </a:solidFill>
          <a:ln/>
        </p:spPr>
      </p:sp>
      <p:sp>
        <p:nvSpPr>
          <p:cNvPr id="15" name="Shape 12"/>
          <p:cNvSpPr/>
          <p:nvPr/>
        </p:nvSpPr>
        <p:spPr>
          <a:xfrm>
            <a:off x="6537960" y="2423160"/>
            <a:ext cx="566928" cy="566928"/>
          </a:xfrm>
          <a:prstGeom prst="ellipse">
            <a:avLst/>
          </a:prstGeom>
          <a:solidFill>
            <a:srgbClr val="FEF3DC"/>
          </a:solidFill>
          <a:ln/>
        </p:spPr>
      </p:sp>
      <p:pic>
        <p:nvPicPr>
          <p:cNvPr id="16" name="Image 1" descr="preencoded.png">    </p:cNvPr>
          <p:cNvPicPr>
            <a:picLocks noChangeAspect="1"/>
          </p:cNvPicPr>
          <p:nvPr/>
        </p:nvPicPr>
        <p:blipFill>
          <a:blip r:embed="rId2"/>
          <a:stretch>
            <a:fillRect/>
          </a:stretch>
        </p:blipFill>
        <p:spPr>
          <a:xfrm>
            <a:off x="6662684" y="2547884"/>
            <a:ext cx="317480" cy="317480"/>
          </a:xfrm>
          <a:prstGeom prst="rect">
            <a:avLst/>
          </a:prstGeom>
        </p:spPr>
      </p:pic>
      <p:sp>
        <p:nvSpPr>
          <p:cNvPr id="17" name="Text 13"/>
          <p:cNvSpPr/>
          <p:nvPr/>
        </p:nvSpPr>
        <p:spPr>
          <a:xfrm>
            <a:off x="7315200" y="2377440"/>
            <a:ext cx="4069080" cy="457200"/>
          </a:xfrm>
          <a:prstGeom prst="rect">
            <a:avLst/>
          </a:prstGeom>
          <a:noFill/>
          <a:ln/>
        </p:spPr>
        <p:txBody>
          <a:bodyPr wrap="square" lIns="0" tIns="0" rIns="0" bIns="0" rtlCol="0" anchor="ctr"/>
          <a:lstStyle/>
          <a:p>
            <a:pPr indent="0" marL="0">
              <a:buNone/>
            </a:pPr>
            <a:r>
              <a:rPr lang="en-US" sz="1700" b="1" dirty="0">
                <a:solidFill>
                  <a:srgbClr val="1A2333"/>
                </a:solidFill>
                <a:latin typeface="Georgia" pitchFamily="34" charset="0"/>
                <a:ea typeface="Georgia" pitchFamily="34" charset="-122"/>
                <a:cs typeface="Georgia" pitchFamily="34" charset="-120"/>
              </a:rPr>
              <a:t>Fuzzy requirements</a:t>
            </a:r>
            <a:endParaRPr lang="en-US" sz="1700" dirty="0"/>
          </a:p>
        </p:txBody>
      </p:sp>
      <p:sp>
        <p:nvSpPr>
          <p:cNvPr id="18" name="Text 14"/>
          <p:cNvSpPr/>
          <p:nvPr/>
        </p:nvSpPr>
        <p:spPr>
          <a:xfrm>
            <a:off x="7315200" y="2852928"/>
            <a:ext cx="4069080" cy="64008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"What to build" and "why it matters" live in Slack threads, meeting notes, and people's heads — not in one single, approved place. Everyone has a slightly different understanding.</a:t>
            </a:r>
            <a:endParaRPr lang="en-US" sz="1150" dirty="0"/>
          </a:p>
        </p:txBody>
      </p:sp>
      <p:sp>
        <p:nvSpPr>
          <p:cNvPr id="19" name="Shape 15"/>
          <p:cNvSpPr/>
          <p:nvPr/>
        </p:nvSpPr>
        <p:spPr>
          <a:xfrm>
            <a:off x="7315200" y="3547872"/>
            <a:ext cx="4023360" cy="0"/>
          </a:xfrm>
          <a:prstGeom prst="line">
            <a:avLst/>
          </a:prstGeom>
          <a:noFill/>
          <a:ln w="9525">
            <a:solidFill>
              <a:srgbClr val="D8E2F0"/>
            </a:solidFill>
            <a:prstDash val="solid"/>
          </a:ln>
        </p:spPr>
      </p:sp>
      <p:sp>
        <p:nvSpPr>
          <p:cNvPr id="20" name="Text 16"/>
          <p:cNvSpPr/>
          <p:nvPr/>
        </p:nvSpPr>
        <p:spPr>
          <a:xfrm>
            <a:off x="7315200" y="3584448"/>
            <a:ext cx="4069080" cy="411480"/>
          </a:xfrm>
          <a:prstGeom prst="rect">
            <a:avLst/>
          </a:prstGeom>
          <a:noFill/>
          <a:ln/>
        </p:spPr>
        <p:txBody>
          <a:bodyPr wrap="square" lIns="0" tIns="0" rIns="0" bIns="0" rtlCol="0" anchor="ctr"/>
          <a:lstStyle/>
          <a:p>
            <a:pPr indent="0" marL="0">
              <a:buNone/>
            </a:pPr>
            <a:r>
              <a:rPr lang="en-US" sz="1100" i="1" dirty="0">
                <a:solidFill>
                  <a:srgbClr val="D64045"/>
                </a:solidFill>
                <a:latin typeface="Calibri" pitchFamily="34" charset="0"/>
                <a:ea typeface="Calibri" pitchFamily="34" charset="-122"/>
                <a:cs typeface="Calibri" pitchFamily="34" charset="-120"/>
              </a:rPr>
              <a:t>Result: engineers build confidently in the wrong direction.</a:t>
            </a:r>
            <a:endParaRPr lang="en-US" sz="1100" dirty="0"/>
          </a:p>
        </p:txBody>
      </p:sp>
      <p:sp>
        <p:nvSpPr>
          <p:cNvPr id="21" name="Shape 17"/>
          <p:cNvSpPr/>
          <p:nvPr/>
        </p:nvSpPr>
        <p:spPr>
          <a:xfrm>
            <a:off x="594360" y="4251960"/>
            <a:ext cx="5349240" cy="2011680"/>
          </a:xfrm>
          <a:prstGeom prst="rect">
            <a:avLst/>
          </a:prstGeom>
          <a:solidFill>
            <a:srgbClr val="FFFFFF"/>
          </a:solidFill>
          <a:ln w="12700">
            <a:solidFill>
              <a:srgbClr val="D8E2F0"/>
            </a:solidFill>
            <a:prstDash val="solid"/>
          </a:ln>
          <a:effectLst>
            <a:outerShdw sx="100000" sy="100000" kx="0" ky="0" algn="bl" rotWithShape="0" blurRad="127000" dist="38100" dir="8100000">
              <a:srgbClr val="000000">
                <a:alpha val="14000"/>
              </a:srgbClr>
            </a:outerShdw>
          </a:effectLst>
        </p:spPr>
      </p:sp>
      <p:sp>
        <p:nvSpPr>
          <p:cNvPr id="22" name="Shape 18"/>
          <p:cNvSpPr/>
          <p:nvPr/>
        </p:nvSpPr>
        <p:spPr>
          <a:xfrm>
            <a:off x="594360" y="4251960"/>
            <a:ext cx="91440" cy="2011680"/>
          </a:xfrm>
          <a:prstGeom prst="rect">
            <a:avLst/>
          </a:prstGeom>
          <a:solidFill>
            <a:srgbClr val="E9A23B"/>
          </a:solidFill>
          <a:ln/>
        </p:spPr>
      </p:sp>
      <p:sp>
        <p:nvSpPr>
          <p:cNvPr id="23" name="Shape 19"/>
          <p:cNvSpPr/>
          <p:nvPr/>
        </p:nvSpPr>
        <p:spPr>
          <a:xfrm>
            <a:off x="914400" y="4572000"/>
            <a:ext cx="566928" cy="566928"/>
          </a:xfrm>
          <a:prstGeom prst="ellipse">
            <a:avLst/>
          </a:prstGeom>
          <a:solidFill>
            <a:srgbClr val="FEF3DC"/>
          </a:solidFill>
          <a:ln/>
        </p:spPr>
      </p:sp>
      <p:pic>
        <p:nvPicPr>
          <p:cNvPr id="24" name="Image 2" descr="preencoded.png">    </p:cNvPr>
          <p:cNvPicPr>
            <a:picLocks noChangeAspect="1"/>
          </p:cNvPicPr>
          <p:nvPr/>
        </p:nvPicPr>
        <p:blipFill>
          <a:blip r:embed="rId3"/>
          <a:stretch>
            <a:fillRect/>
          </a:stretch>
        </p:blipFill>
        <p:spPr>
          <a:xfrm>
            <a:off x="1039124" y="4696724"/>
            <a:ext cx="317480" cy="317480"/>
          </a:xfrm>
          <a:prstGeom prst="rect">
            <a:avLst/>
          </a:prstGeom>
        </p:spPr>
      </p:pic>
      <p:sp>
        <p:nvSpPr>
          <p:cNvPr id="25" name="Text 20"/>
          <p:cNvSpPr/>
          <p:nvPr/>
        </p:nvSpPr>
        <p:spPr>
          <a:xfrm>
            <a:off x="1691640" y="4526280"/>
            <a:ext cx="4069080" cy="457200"/>
          </a:xfrm>
          <a:prstGeom prst="rect">
            <a:avLst/>
          </a:prstGeom>
          <a:noFill/>
          <a:ln/>
        </p:spPr>
        <p:txBody>
          <a:bodyPr wrap="square" lIns="0" tIns="0" rIns="0" bIns="0" rtlCol="0" anchor="ctr"/>
          <a:lstStyle/>
          <a:p>
            <a:pPr indent="0" marL="0">
              <a:buNone/>
            </a:pPr>
            <a:r>
              <a:rPr lang="en-US" sz="1700" b="1" dirty="0">
                <a:solidFill>
                  <a:srgbClr val="1A2333"/>
                </a:solidFill>
                <a:latin typeface="Georgia" pitchFamily="34" charset="0"/>
                <a:ea typeface="Georgia" pitchFamily="34" charset="-122"/>
                <a:cs typeface="Georgia" pitchFamily="34" charset="-120"/>
              </a:rPr>
              <a:t>Silent scope creep</a:t>
            </a:r>
            <a:endParaRPr lang="en-US" sz="1700" dirty="0"/>
          </a:p>
        </p:txBody>
      </p:sp>
      <p:sp>
        <p:nvSpPr>
          <p:cNvPr id="26" name="Text 21"/>
          <p:cNvSpPr/>
          <p:nvPr/>
        </p:nvSpPr>
        <p:spPr>
          <a:xfrm>
            <a:off x="1691640" y="5001768"/>
            <a:ext cx="4069080" cy="64008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Work quietly expands mid-build. New ideas get added, edges cases multiply, but there's no formal decision point — so the timeline slips with no clear explanation for why.</a:t>
            </a:r>
            <a:endParaRPr lang="en-US" sz="1150" dirty="0"/>
          </a:p>
        </p:txBody>
      </p:sp>
      <p:sp>
        <p:nvSpPr>
          <p:cNvPr id="27" name="Shape 22"/>
          <p:cNvSpPr/>
          <p:nvPr/>
        </p:nvSpPr>
        <p:spPr>
          <a:xfrm>
            <a:off x="1691640" y="5696712"/>
            <a:ext cx="4023360" cy="0"/>
          </a:xfrm>
          <a:prstGeom prst="line">
            <a:avLst/>
          </a:prstGeom>
          <a:noFill/>
          <a:ln w="9525">
            <a:solidFill>
              <a:srgbClr val="D8E2F0"/>
            </a:solidFill>
            <a:prstDash val="solid"/>
          </a:ln>
        </p:spPr>
      </p:sp>
      <p:sp>
        <p:nvSpPr>
          <p:cNvPr id="28" name="Text 23"/>
          <p:cNvSpPr/>
          <p:nvPr/>
        </p:nvSpPr>
        <p:spPr>
          <a:xfrm>
            <a:off x="1691640" y="5733288"/>
            <a:ext cx="4069080" cy="411480"/>
          </a:xfrm>
          <a:prstGeom prst="rect">
            <a:avLst/>
          </a:prstGeom>
          <a:noFill/>
          <a:ln/>
        </p:spPr>
        <p:txBody>
          <a:bodyPr wrap="square" lIns="0" tIns="0" rIns="0" bIns="0" rtlCol="0" anchor="ctr"/>
          <a:lstStyle/>
          <a:p>
            <a:pPr indent="0" marL="0">
              <a:buNone/>
            </a:pPr>
            <a:r>
              <a:rPr lang="en-US" sz="1100" i="1" dirty="0">
                <a:solidFill>
                  <a:srgbClr val="D64045"/>
                </a:solidFill>
                <a:latin typeface="Calibri" pitchFamily="34" charset="0"/>
                <a:ea typeface="Calibri" pitchFamily="34" charset="-122"/>
                <a:cs typeface="Calibri" pitchFamily="34" charset="-120"/>
              </a:rPr>
              <a:t>Nobody is to blame, but everyone suffers the delay.</a:t>
            </a:r>
            <a:endParaRPr lang="en-US" sz="1100" dirty="0"/>
          </a:p>
        </p:txBody>
      </p:sp>
      <p:sp>
        <p:nvSpPr>
          <p:cNvPr id="29" name="Shape 24"/>
          <p:cNvSpPr/>
          <p:nvPr/>
        </p:nvSpPr>
        <p:spPr>
          <a:xfrm>
            <a:off x="6217920" y="4251960"/>
            <a:ext cx="5349240" cy="2011680"/>
          </a:xfrm>
          <a:prstGeom prst="rect">
            <a:avLst/>
          </a:prstGeom>
          <a:solidFill>
            <a:srgbClr val="FFFFFF"/>
          </a:solidFill>
          <a:ln w="12700">
            <a:solidFill>
              <a:srgbClr val="D8E2F0"/>
            </a:solidFill>
            <a:prstDash val="solid"/>
          </a:ln>
          <a:effectLst>
            <a:outerShdw sx="100000" sy="100000" kx="0" ky="0" algn="bl" rotWithShape="0" blurRad="127000" dist="38100" dir="8100000">
              <a:srgbClr val="000000">
                <a:alpha val="14000"/>
              </a:srgbClr>
            </a:outerShdw>
          </a:effectLst>
        </p:spPr>
      </p:sp>
      <p:sp>
        <p:nvSpPr>
          <p:cNvPr id="30" name="Shape 25"/>
          <p:cNvSpPr/>
          <p:nvPr/>
        </p:nvSpPr>
        <p:spPr>
          <a:xfrm>
            <a:off x="6217920" y="4251960"/>
            <a:ext cx="91440" cy="2011680"/>
          </a:xfrm>
          <a:prstGeom prst="rect">
            <a:avLst/>
          </a:prstGeom>
          <a:solidFill>
            <a:srgbClr val="E9A23B"/>
          </a:solidFill>
          <a:ln/>
        </p:spPr>
      </p:sp>
      <p:sp>
        <p:nvSpPr>
          <p:cNvPr id="31" name="Shape 26"/>
          <p:cNvSpPr/>
          <p:nvPr/>
        </p:nvSpPr>
        <p:spPr>
          <a:xfrm>
            <a:off x="6537960" y="4572000"/>
            <a:ext cx="566928" cy="566928"/>
          </a:xfrm>
          <a:prstGeom prst="ellipse">
            <a:avLst/>
          </a:prstGeom>
          <a:solidFill>
            <a:srgbClr val="FEF3DC"/>
          </a:solidFill>
          <a:ln/>
        </p:spPr>
      </p:sp>
      <p:pic>
        <p:nvPicPr>
          <p:cNvPr id="32" name="Image 3" descr="preencoded.png">    </p:cNvPr>
          <p:cNvPicPr>
            <a:picLocks noChangeAspect="1"/>
          </p:cNvPicPr>
          <p:nvPr/>
        </p:nvPicPr>
        <p:blipFill>
          <a:blip r:embed="rId4"/>
          <a:stretch>
            <a:fillRect/>
          </a:stretch>
        </p:blipFill>
        <p:spPr>
          <a:xfrm>
            <a:off x="6662684" y="4696724"/>
            <a:ext cx="317480" cy="317480"/>
          </a:xfrm>
          <a:prstGeom prst="rect">
            <a:avLst/>
          </a:prstGeom>
        </p:spPr>
      </p:pic>
      <p:sp>
        <p:nvSpPr>
          <p:cNvPr id="33" name="Text 27"/>
          <p:cNvSpPr/>
          <p:nvPr/>
        </p:nvSpPr>
        <p:spPr>
          <a:xfrm>
            <a:off x="7315200" y="4526280"/>
            <a:ext cx="4069080" cy="457200"/>
          </a:xfrm>
          <a:prstGeom prst="rect">
            <a:avLst/>
          </a:prstGeom>
          <a:noFill/>
          <a:ln/>
        </p:spPr>
        <p:txBody>
          <a:bodyPr wrap="square" lIns="0" tIns="0" rIns="0" bIns="0" rtlCol="0" anchor="ctr"/>
          <a:lstStyle/>
          <a:p>
            <a:pPr indent="0" marL="0">
              <a:buNone/>
            </a:pPr>
            <a:r>
              <a:rPr lang="en-US" sz="1700" b="1" dirty="0">
                <a:solidFill>
                  <a:srgbClr val="1A2333"/>
                </a:solidFill>
                <a:latin typeface="Georgia" pitchFamily="34" charset="0"/>
                <a:ea typeface="Georgia" pitchFamily="34" charset="-122"/>
                <a:cs typeface="Georgia" pitchFamily="34" charset="-120"/>
              </a:rPr>
              <a:t>AI without guardrails</a:t>
            </a:r>
            <a:endParaRPr lang="en-US" sz="1700" dirty="0"/>
          </a:p>
        </p:txBody>
      </p:sp>
      <p:sp>
        <p:nvSpPr>
          <p:cNvPr id="34" name="Text 28"/>
          <p:cNvSpPr/>
          <p:nvPr/>
        </p:nvSpPr>
        <p:spPr>
          <a:xfrm>
            <a:off x="7315200" y="5001768"/>
            <a:ext cx="4069080" cy="64008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AI can now write code in hours that would have taken days. That's powerful — but speed in the wrong direction is more damaging, not less. AI amplifies the cost of unclear requirements.</a:t>
            </a:r>
            <a:endParaRPr lang="en-US" sz="1150" dirty="0"/>
          </a:p>
        </p:txBody>
      </p:sp>
      <p:sp>
        <p:nvSpPr>
          <p:cNvPr id="35" name="Shape 29"/>
          <p:cNvSpPr/>
          <p:nvPr/>
        </p:nvSpPr>
        <p:spPr>
          <a:xfrm>
            <a:off x="7315200" y="5696712"/>
            <a:ext cx="4023360" cy="0"/>
          </a:xfrm>
          <a:prstGeom prst="line">
            <a:avLst/>
          </a:prstGeom>
          <a:noFill/>
          <a:ln w="9525">
            <a:solidFill>
              <a:srgbClr val="D8E2F0"/>
            </a:solidFill>
            <a:prstDash val="solid"/>
          </a:ln>
        </p:spPr>
      </p:sp>
      <p:sp>
        <p:nvSpPr>
          <p:cNvPr id="36" name="Text 30"/>
          <p:cNvSpPr/>
          <p:nvPr/>
        </p:nvSpPr>
        <p:spPr>
          <a:xfrm>
            <a:off x="7315200" y="5733288"/>
            <a:ext cx="4069080" cy="411480"/>
          </a:xfrm>
          <a:prstGeom prst="rect">
            <a:avLst/>
          </a:prstGeom>
          <a:noFill/>
          <a:ln/>
        </p:spPr>
        <p:txBody>
          <a:bodyPr wrap="square" lIns="0" tIns="0" rIns="0" bIns="0" rtlCol="0" anchor="ctr"/>
          <a:lstStyle/>
          <a:p>
            <a:pPr indent="0" marL="0">
              <a:buNone/>
            </a:pPr>
            <a:r>
              <a:rPr lang="en-US" sz="1100" i="1" dirty="0">
                <a:solidFill>
                  <a:srgbClr val="D64045"/>
                </a:solidFill>
                <a:latin typeface="Calibri" pitchFamily="34" charset="0"/>
                <a:ea typeface="Calibri" pitchFamily="34" charset="-122"/>
                <a:cs typeface="Calibri" pitchFamily="34" charset="-120"/>
              </a:rPr>
              <a:t>Faster wrong = harder to recover.</a:t>
            </a:r>
            <a:endParaRPr lang="en-US" sz="1100" dirty="0"/>
          </a:p>
        </p:txBody>
      </p:sp>
      <p:sp>
        <p:nvSpPr>
          <p:cNvPr id="37" name="Text 31"/>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5A6478"/>
                </a:solidFill>
                <a:latin typeface="Calibri" pitchFamily="34" charset="0"/>
                <a:ea typeface="Calibri" pitchFamily="34" charset="-122"/>
                <a:cs typeface="Calibri" pitchFamily="34" charset="-120"/>
              </a:rPr>
              <a:t>Spec-Driven Development</a:t>
            </a:r>
            <a:endParaRPr lang="en-US" sz="900" dirty="0"/>
          </a:p>
        </p:txBody>
      </p:sp>
      <p:sp>
        <p:nvSpPr>
          <p:cNvPr id="38" name="Text 32"/>
          <p:cNvSpPr/>
          <p:nvPr/>
        </p:nvSpPr>
        <p:spPr>
          <a:xfrm>
            <a:off x="11247120" y="6473952"/>
            <a:ext cx="365760" cy="274320"/>
          </a:xfrm>
          <a:prstGeom prst="rect">
            <a:avLst/>
          </a:prstGeom>
          <a:noFill/>
          <a:ln/>
        </p:spPr>
        <p:txBody>
          <a:bodyPr wrap="square" lIns="0" tIns="0" rIns="0" bIns="0" rtlCol="0" anchor="ctr"/>
          <a:lstStyle/>
          <a:p>
            <a:pPr algn="r" indent="0" marL="0">
              <a:buNone/>
            </a:pPr>
            <a:r>
              <a:rPr lang="en-US" sz="900" dirty="0">
                <a:solidFill>
                  <a:srgbClr val="5A64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03F"/>
        </a:solidFill>
      </p:bgPr>
    </p:bg>
    <p:spTree>
      <p:nvGrpSpPr>
        <p:cNvPr id="1" name=""/>
        <p:cNvGrpSpPr/>
        <p:nvPr/>
      </p:nvGrpSpPr>
      <p:grpSpPr>
        <a:xfrm>
          <a:off x="0" y="0"/>
          <a:ext cx="0" cy="0"/>
          <a:chOff x="0" y="0"/>
          <a:chExt cx="0" cy="0"/>
        </a:xfrm>
      </p:grpSpPr>
      <p:sp>
        <p:nvSpPr>
          <p:cNvPr id="2" name="Text 0"/>
          <p:cNvSpPr/>
          <p:nvPr/>
        </p:nvSpPr>
        <p:spPr>
          <a:xfrm>
            <a:off x="594360" y="438912"/>
            <a:ext cx="10972800" cy="292608"/>
          </a:xfrm>
          <a:prstGeom prst="rect">
            <a:avLst/>
          </a:prstGeom>
          <a:noFill/>
          <a:ln/>
        </p:spPr>
        <p:txBody>
          <a:bodyPr wrap="square" lIns="0" tIns="0" rIns="0" bIns="0" rtlCol="0" anchor="ctr"/>
          <a:lstStyle/>
          <a:p>
            <a:pPr indent="0" marL="0">
              <a:buNone/>
            </a:pPr>
            <a:r>
              <a:rPr lang="en-US" sz="1150" b="1" spc="350" kern="0" dirty="0">
                <a:solidFill>
                  <a:srgbClr val="E9A23B"/>
                </a:solidFill>
                <a:latin typeface="Calibri" pitchFamily="34" charset="0"/>
                <a:ea typeface="Calibri" pitchFamily="34" charset="-122"/>
                <a:cs typeface="Calibri" pitchFamily="34" charset="-120"/>
              </a:rPr>
              <a:t>WHY THIS MATTERS NOW</a:t>
            </a:r>
            <a:endParaRPr lang="en-US" sz="1150" dirty="0"/>
          </a:p>
        </p:txBody>
      </p:sp>
      <p:sp>
        <p:nvSpPr>
          <p:cNvPr id="3" name="Text 1"/>
          <p:cNvSpPr/>
          <p:nvPr/>
        </p:nvSpPr>
        <p:spPr>
          <a:xfrm>
            <a:off x="594360" y="749808"/>
            <a:ext cx="10972800" cy="86868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The cost of the status quo is going up — not down</a:t>
            </a:r>
            <a:endParaRPr lang="en-US" sz="3400" dirty="0"/>
          </a:p>
        </p:txBody>
      </p:sp>
      <p:sp>
        <p:nvSpPr>
          <p:cNvPr id="4" name="Text 2"/>
          <p:cNvSpPr/>
          <p:nvPr/>
        </p:nvSpPr>
        <p:spPr>
          <a:xfrm>
            <a:off x="594360" y="1572768"/>
            <a:ext cx="10972800" cy="347472"/>
          </a:xfrm>
          <a:prstGeom prst="rect">
            <a:avLst/>
          </a:prstGeom>
          <a:noFill/>
          <a:ln/>
        </p:spPr>
        <p:txBody>
          <a:bodyPr wrap="square" lIns="0" tIns="0" rIns="0" bIns="0" rtlCol="0" anchor="ctr"/>
          <a:lstStyle/>
          <a:p>
            <a:pPr indent="0" marL="0">
              <a:buNone/>
            </a:pPr>
            <a:r>
              <a:rPr lang="en-US" sz="1400" dirty="0">
                <a:solidFill>
                  <a:srgbClr val="C8DAEF"/>
                </a:solidFill>
                <a:latin typeface="Calibri" pitchFamily="34" charset="0"/>
                <a:ea typeface="Calibri" pitchFamily="34" charset="-122"/>
                <a:cs typeface="Calibri" pitchFamily="34" charset="-120"/>
              </a:rPr>
              <a:t>Three reasons this is urgent in 2025.</a:t>
            </a:r>
            <a:endParaRPr lang="en-US" sz="1400" dirty="0"/>
          </a:p>
        </p:txBody>
      </p:sp>
      <p:sp>
        <p:nvSpPr>
          <p:cNvPr id="5" name="Shape 3"/>
          <p:cNvSpPr/>
          <p:nvPr/>
        </p:nvSpPr>
        <p:spPr>
          <a:xfrm>
            <a:off x="544068" y="2286000"/>
            <a:ext cx="3520440" cy="4114800"/>
          </a:xfrm>
          <a:prstGeom prst="rect">
            <a:avLst/>
          </a:prstGeom>
          <a:solidFill>
            <a:srgbClr val="21386A"/>
          </a:solidFill>
          <a:ln w="15875">
            <a:solidFill>
              <a:srgbClr val="44608F"/>
            </a:solidFill>
            <a:prstDash val="solid"/>
          </a:ln>
          <a:effectLst>
            <a:outerShdw sx="100000" sy="100000" kx="0" ky="0" algn="bl" rotWithShape="0" blurRad="127000" dist="38100" dir="8100000">
              <a:srgbClr val="000000">
                <a:alpha val="14000"/>
              </a:srgbClr>
            </a:outerShdw>
          </a:effectLst>
        </p:spPr>
      </p:sp>
      <p:sp>
        <p:nvSpPr>
          <p:cNvPr id="6" name="Shape 4"/>
          <p:cNvSpPr/>
          <p:nvPr/>
        </p:nvSpPr>
        <p:spPr>
          <a:xfrm>
            <a:off x="544068" y="2286000"/>
            <a:ext cx="3520440" cy="109728"/>
          </a:xfrm>
          <a:prstGeom prst="rect">
            <a:avLst/>
          </a:prstGeom>
          <a:solidFill>
            <a:srgbClr val="D64045"/>
          </a:solidFill>
          <a:ln/>
        </p:spPr>
      </p:sp>
      <p:sp>
        <p:nvSpPr>
          <p:cNvPr id="7" name="Shape 5"/>
          <p:cNvSpPr/>
          <p:nvPr/>
        </p:nvSpPr>
        <p:spPr>
          <a:xfrm>
            <a:off x="864108" y="2606040"/>
            <a:ext cx="658368" cy="658368"/>
          </a:xfrm>
          <a:prstGeom prst="ellipse">
            <a:avLst/>
          </a:prstGeom>
          <a:solidFill>
            <a:srgbClr val="3A1C1E"/>
          </a:solidFill>
          <a:ln/>
        </p:spPr>
      </p:sp>
      <p:pic>
        <p:nvPicPr>
          <p:cNvPr id="8" name="Image 0" descr="preencoded.png">    </p:cNvPr>
          <p:cNvPicPr>
            <a:picLocks noChangeAspect="1"/>
          </p:cNvPicPr>
          <p:nvPr/>
        </p:nvPicPr>
        <p:blipFill>
          <a:blip r:embed="rId1"/>
          <a:stretch>
            <a:fillRect/>
          </a:stretch>
        </p:blipFill>
        <p:spPr>
          <a:xfrm>
            <a:off x="1008949" y="2750881"/>
            <a:ext cx="368686" cy="368686"/>
          </a:xfrm>
          <a:prstGeom prst="rect">
            <a:avLst/>
          </a:prstGeom>
        </p:spPr>
      </p:pic>
      <p:sp>
        <p:nvSpPr>
          <p:cNvPr id="9" name="Text 6"/>
          <p:cNvSpPr/>
          <p:nvPr/>
        </p:nvSpPr>
        <p:spPr>
          <a:xfrm>
            <a:off x="864108" y="3401568"/>
            <a:ext cx="3063240" cy="54864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40–50% of rework</a:t>
            </a:r>
            <a:endParaRPr lang="en-US" sz="1800" dirty="0"/>
          </a:p>
        </p:txBody>
      </p:sp>
      <p:sp>
        <p:nvSpPr>
          <p:cNvPr id="10" name="Text 7"/>
          <p:cNvSpPr/>
          <p:nvPr/>
        </p:nvSpPr>
        <p:spPr>
          <a:xfrm>
            <a:off x="864108" y="4023360"/>
            <a:ext cx="3063240" cy="1417320"/>
          </a:xfrm>
          <a:prstGeom prst="rect">
            <a:avLst/>
          </a:prstGeom>
          <a:noFill/>
          <a:ln/>
        </p:spPr>
        <p:txBody>
          <a:bodyPr wrap="square" lIns="0" tIns="0" rIns="0" bIns="0" rtlCol="0" anchor="ctr"/>
          <a:lstStyle/>
          <a:p>
            <a:pPr indent="0" marL="0">
              <a:buNone/>
            </a:pPr>
            <a:r>
              <a:rPr lang="en-US" sz="1250" dirty="0">
                <a:solidFill>
                  <a:srgbClr val="C8DAEF"/>
                </a:solidFill>
                <a:latin typeface="Calibri" pitchFamily="34" charset="0"/>
                <a:ea typeface="Calibri" pitchFamily="34" charset="-122"/>
                <a:cs typeface="Calibri" pitchFamily="34" charset="-120"/>
              </a:rPr>
              <a:t>Industry research consistently finds that 40–50% of all software rework is traceable to unclear or misunderstood requirements at the start. This isn't a code quality problem — it's a communication problem.</a:t>
            </a:r>
            <a:endParaRPr lang="en-US" sz="1250" dirty="0"/>
          </a:p>
        </p:txBody>
      </p:sp>
      <p:sp>
        <p:nvSpPr>
          <p:cNvPr id="11" name="Shape 8"/>
          <p:cNvSpPr/>
          <p:nvPr/>
        </p:nvSpPr>
        <p:spPr>
          <a:xfrm>
            <a:off x="864108" y="5504688"/>
            <a:ext cx="2971800" cy="0"/>
          </a:xfrm>
          <a:prstGeom prst="line">
            <a:avLst/>
          </a:prstGeom>
          <a:noFill/>
          <a:ln w="9525">
            <a:solidFill>
              <a:srgbClr val="44608F"/>
            </a:solidFill>
            <a:prstDash val="solid"/>
          </a:ln>
        </p:spPr>
      </p:sp>
      <p:sp>
        <p:nvSpPr>
          <p:cNvPr id="12" name="Text 9"/>
          <p:cNvSpPr/>
          <p:nvPr/>
        </p:nvSpPr>
        <p:spPr>
          <a:xfrm>
            <a:off x="864108" y="5577840"/>
            <a:ext cx="3063240" cy="685800"/>
          </a:xfrm>
          <a:prstGeom prst="rect">
            <a:avLst/>
          </a:prstGeom>
          <a:noFill/>
          <a:ln/>
        </p:spPr>
        <p:txBody>
          <a:bodyPr wrap="square" lIns="0" tIns="0" rIns="0" bIns="0" rtlCol="0" anchor="ctr"/>
          <a:lstStyle/>
          <a:p>
            <a:pPr indent="0" marL="0">
              <a:buNone/>
            </a:pPr>
            <a:r>
              <a:rPr lang="en-US" sz="1150" i="1" dirty="0">
                <a:solidFill>
                  <a:srgbClr val="2EC4B6"/>
                </a:solidFill>
                <a:latin typeface="Calibri" pitchFamily="34" charset="0"/>
                <a:ea typeface="Calibri" pitchFamily="34" charset="-122"/>
                <a:cs typeface="Calibri" pitchFamily="34" charset="-120"/>
              </a:rPr>
              <a:t>→  The fix is a better process before the first line of code, not better testing afterward.</a:t>
            </a:r>
            <a:endParaRPr lang="en-US" sz="1150" dirty="0"/>
          </a:p>
        </p:txBody>
      </p:sp>
      <p:sp>
        <p:nvSpPr>
          <p:cNvPr id="13" name="Shape 10"/>
          <p:cNvSpPr/>
          <p:nvPr/>
        </p:nvSpPr>
        <p:spPr>
          <a:xfrm>
            <a:off x="4320540" y="2286000"/>
            <a:ext cx="3520440" cy="4114800"/>
          </a:xfrm>
          <a:prstGeom prst="rect">
            <a:avLst/>
          </a:prstGeom>
          <a:solidFill>
            <a:srgbClr val="21386A"/>
          </a:solidFill>
          <a:ln w="15875">
            <a:solidFill>
              <a:srgbClr val="44608F"/>
            </a:solidFill>
            <a:prstDash val="solid"/>
          </a:ln>
          <a:effectLst>
            <a:outerShdw sx="100000" sy="100000" kx="0" ky="0" algn="bl" rotWithShape="0" blurRad="127000" dist="38100" dir="8100000">
              <a:srgbClr val="000000">
                <a:alpha val="14000"/>
              </a:srgbClr>
            </a:outerShdw>
          </a:effectLst>
        </p:spPr>
      </p:sp>
      <p:sp>
        <p:nvSpPr>
          <p:cNvPr id="14" name="Shape 11"/>
          <p:cNvSpPr/>
          <p:nvPr/>
        </p:nvSpPr>
        <p:spPr>
          <a:xfrm>
            <a:off x="4320540" y="2286000"/>
            <a:ext cx="3520440" cy="109728"/>
          </a:xfrm>
          <a:prstGeom prst="rect">
            <a:avLst/>
          </a:prstGeom>
          <a:solidFill>
            <a:srgbClr val="D64045"/>
          </a:solidFill>
          <a:ln/>
        </p:spPr>
      </p:sp>
      <p:sp>
        <p:nvSpPr>
          <p:cNvPr id="15" name="Shape 12"/>
          <p:cNvSpPr/>
          <p:nvPr/>
        </p:nvSpPr>
        <p:spPr>
          <a:xfrm>
            <a:off x="4640580" y="2606040"/>
            <a:ext cx="658368" cy="658368"/>
          </a:xfrm>
          <a:prstGeom prst="ellipse">
            <a:avLst/>
          </a:prstGeom>
          <a:solidFill>
            <a:srgbClr val="3A1C1E"/>
          </a:solidFill>
          <a:ln/>
        </p:spPr>
      </p:sp>
      <p:pic>
        <p:nvPicPr>
          <p:cNvPr id="16" name="Image 1" descr="preencoded.png">    </p:cNvPr>
          <p:cNvPicPr>
            <a:picLocks noChangeAspect="1"/>
          </p:cNvPicPr>
          <p:nvPr/>
        </p:nvPicPr>
        <p:blipFill>
          <a:blip r:embed="rId2"/>
          <a:stretch>
            <a:fillRect/>
          </a:stretch>
        </p:blipFill>
        <p:spPr>
          <a:xfrm>
            <a:off x="4785421" y="2750881"/>
            <a:ext cx="368686" cy="368686"/>
          </a:xfrm>
          <a:prstGeom prst="rect">
            <a:avLst/>
          </a:prstGeom>
        </p:spPr>
      </p:pic>
      <p:sp>
        <p:nvSpPr>
          <p:cNvPr id="17" name="Text 13"/>
          <p:cNvSpPr/>
          <p:nvPr/>
        </p:nvSpPr>
        <p:spPr>
          <a:xfrm>
            <a:off x="4640580" y="3401568"/>
            <a:ext cx="3063240" cy="54864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AI makes it 10× faster — and 10× riskier</a:t>
            </a:r>
            <a:endParaRPr lang="en-US" sz="1800" dirty="0"/>
          </a:p>
        </p:txBody>
      </p:sp>
      <p:sp>
        <p:nvSpPr>
          <p:cNvPr id="18" name="Text 14"/>
          <p:cNvSpPr/>
          <p:nvPr/>
        </p:nvSpPr>
        <p:spPr>
          <a:xfrm>
            <a:off x="4640580" y="4023360"/>
            <a:ext cx="3063240" cy="1417320"/>
          </a:xfrm>
          <a:prstGeom prst="rect">
            <a:avLst/>
          </a:prstGeom>
          <a:noFill/>
          <a:ln/>
        </p:spPr>
        <p:txBody>
          <a:bodyPr wrap="square" lIns="0" tIns="0" rIns="0" bIns="0" rtlCol="0" anchor="ctr"/>
          <a:lstStyle/>
          <a:p>
            <a:pPr indent="0" marL="0">
              <a:buNone/>
            </a:pPr>
            <a:r>
              <a:rPr lang="en-US" sz="1250" dirty="0">
                <a:solidFill>
                  <a:srgbClr val="C8DAEF"/>
                </a:solidFill>
                <a:latin typeface="Calibri" pitchFamily="34" charset="0"/>
                <a:ea typeface="Calibri" pitchFamily="34" charset="-122"/>
                <a:cs typeface="Calibri" pitchFamily="34" charset="-120"/>
              </a:rPr>
              <a:t>A team using AI today can build in one week what used to take a month. That's a force multiplier — but only if the direction is right. Unclear requirements + AI speed = very expensive wrong turns, very fast.</a:t>
            </a:r>
            <a:endParaRPr lang="en-US" sz="1250" dirty="0"/>
          </a:p>
        </p:txBody>
      </p:sp>
      <p:sp>
        <p:nvSpPr>
          <p:cNvPr id="19" name="Shape 15"/>
          <p:cNvSpPr/>
          <p:nvPr/>
        </p:nvSpPr>
        <p:spPr>
          <a:xfrm>
            <a:off x="4640580" y="5504688"/>
            <a:ext cx="2971800" cy="0"/>
          </a:xfrm>
          <a:prstGeom prst="line">
            <a:avLst/>
          </a:prstGeom>
          <a:noFill/>
          <a:ln w="9525">
            <a:solidFill>
              <a:srgbClr val="44608F"/>
            </a:solidFill>
            <a:prstDash val="solid"/>
          </a:ln>
        </p:spPr>
      </p:sp>
      <p:sp>
        <p:nvSpPr>
          <p:cNvPr id="20" name="Text 16"/>
          <p:cNvSpPr/>
          <p:nvPr/>
        </p:nvSpPr>
        <p:spPr>
          <a:xfrm>
            <a:off x="4640580" y="5577840"/>
            <a:ext cx="3063240" cy="685800"/>
          </a:xfrm>
          <a:prstGeom prst="rect">
            <a:avLst/>
          </a:prstGeom>
          <a:noFill/>
          <a:ln/>
        </p:spPr>
        <p:txBody>
          <a:bodyPr wrap="square" lIns="0" tIns="0" rIns="0" bIns="0" rtlCol="0" anchor="ctr"/>
          <a:lstStyle/>
          <a:p>
            <a:pPr indent="0" marL="0">
              <a:buNone/>
            </a:pPr>
            <a:r>
              <a:rPr lang="en-US" sz="1150" i="1" dirty="0">
                <a:solidFill>
                  <a:srgbClr val="2EC4B6"/>
                </a:solidFill>
                <a:latin typeface="Calibri" pitchFamily="34" charset="0"/>
                <a:ea typeface="Calibri" pitchFamily="34" charset="-122"/>
                <a:cs typeface="Calibri" pitchFamily="34" charset="-120"/>
              </a:rPr>
              <a:t>→  Speed amplifies both good direction and bad direction equally.</a:t>
            </a:r>
            <a:endParaRPr lang="en-US" sz="1150" dirty="0"/>
          </a:p>
        </p:txBody>
      </p:sp>
      <p:sp>
        <p:nvSpPr>
          <p:cNvPr id="21" name="Shape 17"/>
          <p:cNvSpPr/>
          <p:nvPr/>
        </p:nvSpPr>
        <p:spPr>
          <a:xfrm>
            <a:off x="8097012" y="2286000"/>
            <a:ext cx="3520440" cy="4114800"/>
          </a:xfrm>
          <a:prstGeom prst="rect">
            <a:avLst/>
          </a:prstGeom>
          <a:solidFill>
            <a:srgbClr val="21386A"/>
          </a:solidFill>
          <a:ln w="15875">
            <a:solidFill>
              <a:srgbClr val="44608F"/>
            </a:solidFill>
            <a:prstDash val="solid"/>
          </a:ln>
          <a:effectLst>
            <a:outerShdw sx="100000" sy="100000" kx="0" ky="0" algn="bl" rotWithShape="0" blurRad="127000" dist="38100" dir="8100000">
              <a:srgbClr val="000000">
                <a:alpha val="14000"/>
              </a:srgbClr>
            </a:outerShdw>
          </a:effectLst>
        </p:spPr>
      </p:sp>
      <p:sp>
        <p:nvSpPr>
          <p:cNvPr id="22" name="Shape 18"/>
          <p:cNvSpPr/>
          <p:nvPr/>
        </p:nvSpPr>
        <p:spPr>
          <a:xfrm>
            <a:off x="8097012" y="2286000"/>
            <a:ext cx="3520440" cy="109728"/>
          </a:xfrm>
          <a:prstGeom prst="rect">
            <a:avLst/>
          </a:prstGeom>
          <a:solidFill>
            <a:srgbClr val="D64045"/>
          </a:solidFill>
          <a:ln/>
        </p:spPr>
      </p:sp>
      <p:sp>
        <p:nvSpPr>
          <p:cNvPr id="23" name="Shape 19"/>
          <p:cNvSpPr/>
          <p:nvPr/>
        </p:nvSpPr>
        <p:spPr>
          <a:xfrm>
            <a:off x="8417052" y="2606040"/>
            <a:ext cx="658368" cy="658368"/>
          </a:xfrm>
          <a:prstGeom prst="ellipse">
            <a:avLst/>
          </a:prstGeom>
          <a:solidFill>
            <a:srgbClr val="3A1C1E"/>
          </a:solidFill>
          <a:ln/>
        </p:spPr>
      </p:sp>
      <p:pic>
        <p:nvPicPr>
          <p:cNvPr id="24" name="Image 2" descr="preencoded.png">    </p:cNvPr>
          <p:cNvPicPr>
            <a:picLocks noChangeAspect="1"/>
          </p:cNvPicPr>
          <p:nvPr/>
        </p:nvPicPr>
        <p:blipFill>
          <a:blip r:embed="rId3"/>
          <a:stretch>
            <a:fillRect/>
          </a:stretch>
        </p:blipFill>
        <p:spPr>
          <a:xfrm>
            <a:off x="8561893" y="2750881"/>
            <a:ext cx="368686" cy="368686"/>
          </a:xfrm>
          <a:prstGeom prst="rect">
            <a:avLst/>
          </a:prstGeom>
        </p:spPr>
      </p:pic>
      <p:sp>
        <p:nvSpPr>
          <p:cNvPr id="25" name="Text 20"/>
          <p:cNvSpPr/>
          <p:nvPr/>
        </p:nvSpPr>
        <p:spPr>
          <a:xfrm>
            <a:off x="8417052" y="3401568"/>
            <a:ext cx="3063240" cy="54864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No signed-off record</a:t>
            </a:r>
            <a:endParaRPr lang="en-US" sz="1800" dirty="0"/>
          </a:p>
        </p:txBody>
      </p:sp>
      <p:sp>
        <p:nvSpPr>
          <p:cNvPr id="26" name="Text 21"/>
          <p:cNvSpPr/>
          <p:nvPr/>
        </p:nvSpPr>
        <p:spPr>
          <a:xfrm>
            <a:off x="8417052" y="4023360"/>
            <a:ext cx="3063240" cy="1417320"/>
          </a:xfrm>
          <a:prstGeom prst="rect">
            <a:avLst/>
          </a:prstGeom>
          <a:noFill/>
          <a:ln/>
        </p:spPr>
        <p:txBody>
          <a:bodyPr wrap="square" lIns="0" tIns="0" rIns="0" bIns="0" rtlCol="0" anchor="ctr"/>
          <a:lstStyle/>
          <a:p>
            <a:pPr indent="0" marL="0">
              <a:buNone/>
            </a:pPr>
            <a:r>
              <a:rPr lang="en-US" sz="1250" dirty="0">
                <a:solidFill>
                  <a:srgbClr val="C8DAEF"/>
                </a:solidFill>
                <a:latin typeface="Calibri" pitchFamily="34" charset="0"/>
                <a:ea typeface="Calibri" pitchFamily="34" charset="-122"/>
                <a:cs typeface="Calibri" pitchFamily="34" charset="-120"/>
              </a:rPr>
              <a:t>Right now, there is often no single moment where the business said "yes, build exactly this." When the wrong thing ships, there's no accountability — and no learning. The same patterns repeat next sprint.</a:t>
            </a:r>
            <a:endParaRPr lang="en-US" sz="1250" dirty="0"/>
          </a:p>
        </p:txBody>
      </p:sp>
      <p:sp>
        <p:nvSpPr>
          <p:cNvPr id="27" name="Shape 22"/>
          <p:cNvSpPr/>
          <p:nvPr/>
        </p:nvSpPr>
        <p:spPr>
          <a:xfrm>
            <a:off x="8417052" y="5504688"/>
            <a:ext cx="2971800" cy="0"/>
          </a:xfrm>
          <a:prstGeom prst="line">
            <a:avLst/>
          </a:prstGeom>
          <a:noFill/>
          <a:ln w="9525">
            <a:solidFill>
              <a:srgbClr val="44608F"/>
            </a:solidFill>
            <a:prstDash val="solid"/>
          </a:ln>
        </p:spPr>
      </p:sp>
      <p:sp>
        <p:nvSpPr>
          <p:cNvPr id="28" name="Text 23"/>
          <p:cNvSpPr/>
          <p:nvPr/>
        </p:nvSpPr>
        <p:spPr>
          <a:xfrm>
            <a:off x="8417052" y="5577840"/>
            <a:ext cx="3063240" cy="685800"/>
          </a:xfrm>
          <a:prstGeom prst="rect">
            <a:avLst/>
          </a:prstGeom>
          <a:noFill/>
          <a:ln/>
        </p:spPr>
        <p:txBody>
          <a:bodyPr wrap="square" lIns="0" tIns="0" rIns="0" bIns="0" rtlCol="0" anchor="ctr"/>
          <a:lstStyle/>
          <a:p>
            <a:pPr indent="0" marL="0">
              <a:buNone/>
            </a:pPr>
            <a:r>
              <a:rPr lang="en-US" sz="1150" i="1" dirty="0">
                <a:solidFill>
                  <a:srgbClr val="2EC4B6"/>
                </a:solidFill>
                <a:latin typeface="Calibri" pitchFamily="34" charset="0"/>
                <a:ea typeface="Calibri" pitchFamily="34" charset="-122"/>
                <a:cs typeface="Calibri" pitchFamily="34" charset="-120"/>
              </a:rPr>
              <a:t>→  SDD creates that moment. And it creates the paper trail to learn from.</a:t>
            </a:r>
            <a:endParaRPr lang="en-US" sz="1150" dirty="0"/>
          </a:p>
        </p:txBody>
      </p:sp>
      <p:sp>
        <p:nvSpPr>
          <p:cNvPr id="29" name="Text 24"/>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5F7DA8"/>
                </a:solidFill>
                <a:latin typeface="Calibri" pitchFamily="34" charset="0"/>
                <a:ea typeface="Calibri" pitchFamily="34" charset="-122"/>
                <a:cs typeface="Calibri" pitchFamily="34" charset="-120"/>
              </a:rPr>
              <a:t>Spec-Driven Development</a:t>
            </a:r>
            <a:endParaRPr lang="en-US" sz="900" dirty="0"/>
          </a:p>
        </p:txBody>
      </p:sp>
      <p:sp>
        <p:nvSpPr>
          <p:cNvPr id="30" name="Text 25"/>
          <p:cNvSpPr/>
          <p:nvPr/>
        </p:nvSpPr>
        <p:spPr>
          <a:xfrm>
            <a:off x="11247120" y="6473952"/>
            <a:ext cx="365760" cy="274320"/>
          </a:xfrm>
          <a:prstGeom prst="rect">
            <a:avLst/>
          </a:prstGeom>
          <a:noFill/>
          <a:ln/>
        </p:spPr>
        <p:txBody>
          <a:bodyPr wrap="square" lIns="0" tIns="0" rIns="0" bIns="0" rtlCol="0" anchor="ctr"/>
          <a:lstStyle/>
          <a:p>
            <a:pPr algn="r" indent="0" marL="0">
              <a:buNone/>
            </a:pPr>
            <a:r>
              <a:rPr lang="en-US" sz="900" dirty="0">
                <a:solidFill>
                  <a:srgbClr val="5F7DA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03F"/>
        </a:solidFill>
      </p:bgPr>
    </p:bg>
    <p:spTree>
      <p:nvGrpSpPr>
        <p:cNvPr id="1" name=""/>
        <p:cNvGrpSpPr/>
        <p:nvPr/>
      </p:nvGrpSpPr>
      <p:grpSpPr>
        <a:xfrm>
          <a:off x="0" y="0"/>
          <a:ext cx="0" cy="0"/>
          <a:chOff x="0" y="0"/>
          <a:chExt cx="0" cy="0"/>
        </a:xfrm>
      </p:grpSpPr>
      <p:sp>
        <p:nvSpPr>
          <p:cNvPr id="2" name="Text 0"/>
          <p:cNvSpPr/>
          <p:nvPr/>
        </p:nvSpPr>
        <p:spPr>
          <a:xfrm>
            <a:off x="594360" y="438912"/>
            <a:ext cx="10972800" cy="292608"/>
          </a:xfrm>
          <a:prstGeom prst="rect">
            <a:avLst/>
          </a:prstGeom>
          <a:noFill/>
          <a:ln/>
        </p:spPr>
        <p:txBody>
          <a:bodyPr wrap="square" lIns="0" tIns="0" rIns="0" bIns="0" rtlCol="0" anchor="ctr"/>
          <a:lstStyle/>
          <a:p>
            <a:pPr indent="0" marL="0">
              <a:buNone/>
            </a:pPr>
            <a:r>
              <a:rPr lang="en-US" sz="1150" b="1" spc="350" kern="0" dirty="0">
                <a:solidFill>
                  <a:srgbClr val="2EC4B6"/>
                </a:solidFill>
                <a:latin typeface="Calibri" pitchFamily="34" charset="0"/>
                <a:ea typeface="Calibri" pitchFamily="34" charset="-122"/>
                <a:cs typeface="Calibri" pitchFamily="34" charset="-120"/>
              </a:rPr>
              <a:t>THE IDEA, IN ONE LINE</a:t>
            </a:r>
            <a:endParaRPr lang="en-US" sz="1150" dirty="0"/>
          </a:p>
        </p:txBody>
      </p:sp>
      <p:sp>
        <p:nvSpPr>
          <p:cNvPr id="3" name="Text 1"/>
          <p:cNvSpPr/>
          <p:nvPr/>
        </p:nvSpPr>
        <p:spPr>
          <a:xfrm>
            <a:off x="777240" y="1417320"/>
            <a:ext cx="10972800" cy="2514600"/>
          </a:xfrm>
          <a:prstGeom prst="rect">
            <a:avLst/>
          </a:prstGeom>
          <a:noFill/>
          <a:ln/>
        </p:spPr>
        <p:txBody>
          <a:bodyPr wrap="square" lIns="0" tIns="0" rIns="0" bIns="0" rtlCol="0" anchor="ctr"/>
          <a:lstStyle/>
          <a:p>
            <a:pPr indent="0" marL="0">
              <a:lnSpc>
                <a:spcPct val="118000"/>
              </a:lnSpc>
              <a:buNone/>
            </a:pPr>
            <a:r>
              <a:rPr lang="en-US" sz="3300" b="1" dirty="0">
                <a:solidFill>
                  <a:srgbClr val="FFFFFF"/>
                </a:solidFill>
                <a:latin typeface="Georgia" pitchFamily="34" charset="0"/>
                <a:ea typeface="Georgia" pitchFamily="34" charset="-122"/>
                <a:cs typeface="Georgia" pitchFamily="34" charset="-120"/>
              </a:rPr>
              <a:t>Agree on </a:t>
            </a:r>
            <a:pPr indent="0" marL="0">
              <a:lnSpc>
                <a:spcPct val="118000"/>
              </a:lnSpc>
              <a:buNone/>
            </a:pPr>
            <a:r>
              <a:rPr lang="en-US" sz="3300" b="1" dirty="0">
                <a:solidFill>
                  <a:srgbClr val="2EC4B6"/>
                </a:solidFill>
                <a:latin typeface="Georgia" pitchFamily="34" charset="0"/>
                <a:ea typeface="Georgia" pitchFamily="34" charset="-122"/>
                <a:cs typeface="Georgia" pitchFamily="34" charset="-120"/>
              </a:rPr>
              <a:t>what &amp; why</a:t>
            </a:r>
            <a:pPr indent="0" marL="0">
              <a:lnSpc>
                <a:spcPct val="118000"/>
              </a:lnSpc>
              <a:buNone/>
            </a:pPr>
            <a:r>
              <a:rPr lang="en-US" sz="3300" b="1" dirty="0">
                <a:solidFill>
                  <a:srgbClr val="FFFFFF"/>
                </a:solidFill>
                <a:latin typeface="Georgia" pitchFamily="34" charset="0"/>
                <a:ea typeface="Georgia" pitchFamily="34" charset="-122"/>
                <a:cs typeface="Georgia" pitchFamily="34" charset="-120"/>
              </a:rPr>
              <a:t> first.</a:t>
            </a:r>
            <a:endParaRPr lang="en-US" sz="3300" dirty="0"/>
          </a:p>
          <a:p>
            <a:pPr indent="0" marL="0">
              <a:lnSpc>
                <a:spcPct val="118000"/>
              </a:lnSpc>
              <a:buNone/>
            </a:pPr>
            <a:r>
              <a:rPr lang="en-US" sz="3300" b="1" dirty="0">
                <a:solidFill>
                  <a:srgbClr val="FFFFFF"/>
                </a:solidFill>
                <a:latin typeface="Georgia" pitchFamily="34" charset="0"/>
                <a:ea typeface="Georgia" pitchFamily="34" charset="-122"/>
                <a:cs typeface="Georgia" pitchFamily="34" charset="-120"/>
              </a:rPr>
              <a:t>Then build against an </a:t>
            </a:r>
            <a:pPr indent="0" marL="0">
              <a:lnSpc>
                <a:spcPct val="118000"/>
              </a:lnSpc>
              <a:buNone/>
            </a:pPr>
            <a:r>
              <a:rPr lang="en-US" sz="3300" b="1" dirty="0">
                <a:solidFill>
                  <a:srgbClr val="E9A23B"/>
                </a:solidFill>
                <a:latin typeface="Georgia" pitchFamily="34" charset="0"/>
                <a:ea typeface="Georgia" pitchFamily="34" charset="-122"/>
                <a:cs typeface="Georgia" pitchFamily="34" charset="-120"/>
              </a:rPr>
              <a:t>approved spec</a:t>
            </a:r>
            <a:pPr indent="0" marL="0">
              <a:lnSpc>
                <a:spcPct val="118000"/>
              </a:lnSpc>
              <a:buNone/>
            </a:pPr>
            <a:r>
              <a:rPr lang="en-US" sz="3300" b="1" dirty="0">
                <a:solidFill>
                  <a:srgbClr val="FFFFFF"/>
                </a:solidFill>
                <a:latin typeface="Georgia" pitchFamily="34" charset="0"/>
                <a:ea typeface="Georgia" pitchFamily="34" charset="-122"/>
                <a:cs typeface="Georgia" pitchFamily="34" charset="-120"/>
              </a:rPr>
              <a:t> —</a:t>
            </a:r>
            <a:endParaRPr lang="en-US" sz="3300" dirty="0"/>
          </a:p>
          <a:p>
            <a:pPr indent="0" marL="0">
              <a:lnSpc>
                <a:spcPct val="118000"/>
              </a:lnSpc>
              <a:buNone/>
            </a:pPr>
            <a:r>
              <a:rPr lang="en-US" sz="3300" b="1" dirty="0">
                <a:solidFill>
                  <a:srgbClr val="FFFFFF"/>
                </a:solidFill>
                <a:latin typeface="Georgia" pitchFamily="34" charset="0"/>
                <a:ea typeface="Georgia" pitchFamily="34" charset="-122"/>
                <a:cs typeface="Georgia" pitchFamily="34" charset="-120"/>
              </a:rPr>
              <a:t>with </a:t>
            </a:r>
            <a:pPr indent="0" marL="0">
              <a:lnSpc>
                <a:spcPct val="118000"/>
              </a:lnSpc>
              <a:buNone/>
            </a:pPr>
            <a:r>
              <a:rPr lang="en-US" sz="3300" b="1" dirty="0">
                <a:solidFill>
                  <a:srgbClr val="2EC4B6"/>
                </a:solidFill>
                <a:latin typeface="Georgia" pitchFamily="34" charset="0"/>
                <a:ea typeface="Georgia" pitchFamily="34" charset="-122"/>
                <a:cs typeface="Georgia" pitchFamily="34" charset="-120"/>
              </a:rPr>
              <a:t>humans signing off</a:t>
            </a:r>
            <a:pPr indent="0" marL="0">
              <a:lnSpc>
                <a:spcPct val="118000"/>
              </a:lnSpc>
              <a:buNone/>
            </a:pPr>
            <a:r>
              <a:rPr lang="en-US" sz="3300" b="1" dirty="0">
                <a:solidFill>
                  <a:srgbClr val="FFFFFF"/>
                </a:solidFill>
                <a:latin typeface="Georgia" pitchFamily="34" charset="0"/>
                <a:ea typeface="Georgia" pitchFamily="34" charset="-122"/>
                <a:cs typeface="Georgia" pitchFamily="34" charset="-120"/>
              </a:rPr>
              <a:t> at every critical step.</a:t>
            </a:r>
            <a:endParaRPr lang="en-US" sz="3300" dirty="0"/>
          </a:p>
        </p:txBody>
      </p:sp>
      <p:sp>
        <p:nvSpPr>
          <p:cNvPr id="4" name="Shape 2"/>
          <p:cNvSpPr/>
          <p:nvPr/>
        </p:nvSpPr>
        <p:spPr>
          <a:xfrm>
            <a:off x="777240" y="4343400"/>
            <a:ext cx="3429000" cy="2148840"/>
          </a:xfrm>
          <a:prstGeom prst="rect">
            <a:avLst/>
          </a:prstGeom>
          <a:solidFill>
            <a:srgbClr val="21386A"/>
          </a:solidFill>
          <a:ln w="15875">
            <a:solidFill>
              <a:srgbClr val="44608F"/>
            </a:solidFill>
            <a:prstDash val="solid"/>
          </a:ln>
        </p:spPr>
      </p:sp>
      <p:sp>
        <p:nvSpPr>
          <p:cNvPr id="5" name="Shape 3"/>
          <p:cNvSpPr/>
          <p:nvPr/>
        </p:nvSpPr>
        <p:spPr>
          <a:xfrm>
            <a:off x="1097280" y="4663440"/>
            <a:ext cx="658368" cy="658368"/>
          </a:xfrm>
          <a:prstGeom prst="ellipse">
            <a:avLst/>
          </a:prstGeom>
          <a:solidFill>
            <a:srgbClr val="2C4C82"/>
          </a:solidFill>
          <a:ln/>
        </p:spPr>
      </p:sp>
      <p:pic>
        <p:nvPicPr>
          <p:cNvPr id="6" name="Image 0" descr="preencoded.png">    </p:cNvPr>
          <p:cNvPicPr>
            <a:picLocks noChangeAspect="1"/>
          </p:cNvPicPr>
          <p:nvPr/>
        </p:nvPicPr>
        <p:blipFill>
          <a:blip r:embed="rId1"/>
          <a:stretch>
            <a:fillRect/>
          </a:stretch>
        </p:blipFill>
        <p:spPr>
          <a:xfrm>
            <a:off x="1242121" y="4808281"/>
            <a:ext cx="368686" cy="368686"/>
          </a:xfrm>
          <a:prstGeom prst="rect">
            <a:avLst/>
          </a:prstGeom>
        </p:spPr>
      </p:pic>
      <p:sp>
        <p:nvSpPr>
          <p:cNvPr id="7" name="Text 4"/>
          <p:cNvSpPr/>
          <p:nvPr/>
        </p:nvSpPr>
        <p:spPr>
          <a:xfrm>
            <a:off x="1920240" y="4690872"/>
            <a:ext cx="2148840" cy="502920"/>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Requirement-first</a:t>
            </a:r>
            <a:endParaRPr lang="en-US" sz="1700" dirty="0"/>
          </a:p>
        </p:txBody>
      </p:sp>
      <p:sp>
        <p:nvSpPr>
          <p:cNvPr id="8" name="Text 5"/>
          <p:cNvSpPr/>
          <p:nvPr/>
        </p:nvSpPr>
        <p:spPr>
          <a:xfrm>
            <a:off x="1097280" y="5440680"/>
            <a:ext cx="2944368" cy="960120"/>
          </a:xfrm>
          <a:prstGeom prst="rect">
            <a:avLst/>
          </a:prstGeom>
          <a:noFill/>
          <a:ln/>
        </p:spPr>
        <p:txBody>
          <a:bodyPr wrap="square" lIns="0" tIns="0" rIns="0" bIns="0" rtlCol="0" anchor="ctr"/>
          <a:lstStyle/>
          <a:p>
            <a:pPr indent="0" marL="0">
              <a:buNone/>
            </a:pPr>
            <a:r>
              <a:rPr lang="en-US" sz="1150" dirty="0">
                <a:solidFill>
                  <a:srgbClr val="D8E3F5"/>
                </a:solidFill>
                <a:latin typeface="Calibri" pitchFamily="34" charset="0"/>
                <a:ea typeface="Calibri" pitchFamily="34" charset="-122"/>
                <a:cs typeface="Calibri" pitchFamily="34" charset="-120"/>
              </a:rPr>
              <a:t>The spec is written in business language — WHAT and WHY only. No tech jargon. A business owner can read it, own it, and approve it without an engineer in the room.</a:t>
            </a:r>
            <a:endParaRPr lang="en-US" sz="1150" dirty="0"/>
          </a:p>
        </p:txBody>
      </p:sp>
      <p:sp>
        <p:nvSpPr>
          <p:cNvPr id="9" name="Shape 6"/>
          <p:cNvSpPr/>
          <p:nvPr/>
        </p:nvSpPr>
        <p:spPr>
          <a:xfrm>
            <a:off x="4480560" y="4343400"/>
            <a:ext cx="3429000" cy="2148840"/>
          </a:xfrm>
          <a:prstGeom prst="rect">
            <a:avLst/>
          </a:prstGeom>
          <a:solidFill>
            <a:srgbClr val="21386A"/>
          </a:solidFill>
          <a:ln w="15875">
            <a:solidFill>
              <a:srgbClr val="44608F"/>
            </a:solidFill>
            <a:prstDash val="solid"/>
          </a:ln>
        </p:spPr>
      </p:sp>
      <p:sp>
        <p:nvSpPr>
          <p:cNvPr id="10" name="Shape 7"/>
          <p:cNvSpPr/>
          <p:nvPr/>
        </p:nvSpPr>
        <p:spPr>
          <a:xfrm>
            <a:off x="4800600" y="4663440"/>
            <a:ext cx="658368" cy="658368"/>
          </a:xfrm>
          <a:prstGeom prst="ellipse">
            <a:avLst/>
          </a:prstGeom>
          <a:solidFill>
            <a:srgbClr val="2C4C82"/>
          </a:solidFill>
          <a:ln/>
        </p:spPr>
      </p:sp>
      <p:pic>
        <p:nvPicPr>
          <p:cNvPr id="11" name="Image 1" descr="preencoded.png">    </p:cNvPr>
          <p:cNvPicPr>
            <a:picLocks noChangeAspect="1"/>
          </p:cNvPicPr>
          <p:nvPr/>
        </p:nvPicPr>
        <p:blipFill>
          <a:blip r:embed="rId2"/>
          <a:stretch>
            <a:fillRect/>
          </a:stretch>
        </p:blipFill>
        <p:spPr>
          <a:xfrm>
            <a:off x="4945441" y="4808281"/>
            <a:ext cx="368686" cy="368686"/>
          </a:xfrm>
          <a:prstGeom prst="rect">
            <a:avLst/>
          </a:prstGeom>
        </p:spPr>
      </p:pic>
      <p:sp>
        <p:nvSpPr>
          <p:cNvPr id="12" name="Text 8"/>
          <p:cNvSpPr/>
          <p:nvPr/>
        </p:nvSpPr>
        <p:spPr>
          <a:xfrm>
            <a:off x="5623560" y="4690872"/>
            <a:ext cx="2148840" cy="502920"/>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Approval-gated</a:t>
            </a:r>
            <a:endParaRPr lang="en-US" sz="1700" dirty="0"/>
          </a:p>
        </p:txBody>
      </p:sp>
      <p:sp>
        <p:nvSpPr>
          <p:cNvPr id="13" name="Text 9"/>
          <p:cNvSpPr/>
          <p:nvPr/>
        </p:nvSpPr>
        <p:spPr>
          <a:xfrm>
            <a:off x="4800600" y="5440680"/>
            <a:ext cx="2944368" cy="960120"/>
          </a:xfrm>
          <a:prstGeom prst="rect">
            <a:avLst/>
          </a:prstGeom>
          <a:noFill/>
          <a:ln/>
        </p:spPr>
        <p:txBody>
          <a:bodyPr wrap="square" lIns="0" tIns="0" rIns="0" bIns="0" rtlCol="0" anchor="ctr"/>
          <a:lstStyle/>
          <a:p>
            <a:pPr indent="0" marL="0">
              <a:buNone/>
            </a:pPr>
            <a:r>
              <a:rPr lang="en-US" sz="1150" dirty="0">
                <a:solidFill>
                  <a:srgbClr val="D8E3F5"/>
                </a:solidFill>
                <a:latin typeface="Calibri" pitchFamily="34" charset="0"/>
                <a:ea typeface="Calibri" pitchFamily="34" charset="-122"/>
                <a:cs typeface="Calibri" pitchFamily="34" charset="-120"/>
              </a:rPr>
              <a:t>Three human checkpoints: approve the spec, approve the plan, say go to build. Work cannot advance past a gate without an explicit sign-off. No silent progress.</a:t>
            </a:r>
            <a:endParaRPr lang="en-US" sz="1150" dirty="0"/>
          </a:p>
        </p:txBody>
      </p:sp>
      <p:sp>
        <p:nvSpPr>
          <p:cNvPr id="14" name="Shape 10"/>
          <p:cNvSpPr/>
          <p:nvPr/>
        </p:nvSpPr>
        <p:spPr>
          <a:xfrm>
            <a:off x="8183880" y="4343400"/>
            <a:ext cx="3429000" cy="2148840"/>
          </a:xfrm>
          <a:prstGeom prst="rect">
            <a:avLst/>
          </a:prstGeom>
          <a:solidFill>
            <a:srgbClr val="21386A"/>
          </a:solidFill>
          <a:ln w="15875">
            <a:solidFill>
              <a:srgbClr val="44608F"/>
            </a:solidFill>
            <a:prstDash val="solid"/>
          </a:ln>
        </p:spPr>
      </p:sp>
      <p:sp>
        <p:nvSpPr>
          <p:cNvPr id="15" name="Shape 11"/>
          <p:cNvSpPr/>
          <p:nvPr/>
        </p:nvSpPr>
        <p:spPr>
          <a:xfrm>
            <a:off x="8503920" y="4663440"/>
            <a:ext cx="658368" cy="658368"/>
          </a:xfrm>
          <a:prstGeom prst="ellipse">
            <a:avLst/>
          </a:prstGeom>
          <a:solidFill>
            <a:srgbClr val="2C4C82"/>
          </a:solidFill>
          <a:ln/>
        </p:spPr>
      </p:sp>
      <p:pic>
        <p:nvPicPr>
          <p:cNvPr id="16" name="Image 2" descr="preencoded.png">    </p:cNvPr>
          <p:cNvPicPr>
            <a:picLocks noChangeAspect="1"/>
          </p:cNvPicPr>
          <p:nvPr/>
        </p:nvPicPr>
        <p:blipFill>
          <a:blip r:embed="rId3"/>
          <a:stretch>
            <a:fillRect/>
          </a:stretch>
        </p:blipFill>
        <p:spPr>
          <a:xfrm>
            <a:off x="8648761" y="4808281"/>
            <a:ext cx="368686" cy="368686"/>
          </a:xfrm>
          <a:prstGeom prst="rect">
            <a:avLst/>
          </a:prstGeom>
        </p:spPr>
      </p:pic>
      <p:sp>
        <p:nvSpPr>
          <p:cNvPr id="17" name="Text 12"/>
          <p:cNvSpPr/>
          <p:nvPr/>
        </p:nvSpPr>
        <p:spPr>
          <a:xfrm>
            <a:off x="9326880" y="4690872"/>
            <a:ext cx="2148840" cy="502920"/>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Fully traceable</a:t>
            </a:r>
            <a:endParaRPr lang="en-US" sz="1700" dirty="0"/>
          </a:p>
        </p:txBody>
      </p:sp>
      <p:sp>
        <p:nvSpPr>
          <p:cNvPr id="18" name="Text 13"/>
          <p:cNvSpPr/>
          <p:nvPr/>
        </p:nvSpPr>
        <p:spPr>
          <a:xfrm>
            <a:off x="8503920" y="5440680"/>
            <a:ext cx="2944368" cy="960120"/>
          </a:xfrm>
          <a:prstGeom prst="rect">
            <a:avLst/>
          </a:prstGeom>
          <a:noFill/>
          <a:ln/>
        </p:spPr>
        <p:txBody>
          <a:bodyPr wrap="square" lIns="0" tIns="0" rIns="0" bIns="0" rtlCol="0" anchor="ctr"/>
          <a:lstStyle/>
          <a:p>
            <a:pPr indent="0" marL="0">
              <a:buNone/>
            </a:pPr>
            <a:r>
              <a:rPr lang="en-US" sz="1150" dirty="0">
                <a:solidFill>
                  <a:srgbClr val="D8E3F5"/>
                </a:solidFill>
                <a:latin typeface="Calibri" pitchFamily="34" charset="0"/>
                <a:ea typeface="Calibri" pitchFamily="34" charset="-122"/>
                <a:cs typeface="Calibri" pitchFamily="34" charset="-120"/>
              </a:rPr>
              <a:t>Every task traces back to the spec. Every line of code traces back to a task. At any moment, you can answer "why was this built?" with a document.</a:t>
            </a:r>
            <a:endParaRPr lang="en-US" sz="1150" dirty="0"/>
          </a:p>
        </p:txBody>
      </p:sp>
      <p:sp>
        <p:nvSpPr>
          <p:cNvPr id="19" name="Text 14"/>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5F7DA8"/>
                </a:solidFill>
                <a:latin typeface="Calibri" pitchFamily="34" charset="0"/>
                <a:ea typeface="Calibri" pitchFamily="34" charset="-122"/>
                <a:cs typeface="Calibri" pitchFamily="34" charset="-120"/>
              </a:rPr>
              <a:t>Spec-Driven Development</a:t>
            </a:r>
            <a:endParaRPr lang="en-US" sz="900" dirty="0"/>
          </a:p>
        </p:txBody>
      </p:sp>
      <p:sp>
        <p:nvSpPr>
          <p:cNvPr id="20" name="Text 15"/>
          <p:cNvSpPr/>
          <p:nvPr/>
        </p:nvSpPr>
        <p:spPr>
          <a:xfrm>
            <a:off x="11247120" y="6473952"/>
            <a:ext cx="365760" cy="274320"/>
          </a:xfrm>
          <a:prstGeom prst="rect">
            <a:avLst/>
          </a:prstGeom>
          <a:noFill/>
          <a:ln/>
        </p:spPr>
        <p:txBody>
          <a:bodyPr wrap="square" lIns="0" tIns="0" rIns="0" bIns="0" rtlCol="0" anchor="ctr"/>
          <a:lstStyle/>
          <a:p>
            <a:pPr algn="r" indent="0" marL="0">
              <a:buNone/>
            </a:pPr>
            <a:r>
              <a:rPr lang="en-US" sz="900" dirty="0">
                <a:solidFill>
                  <a:srgbClr val="5F7DA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94360" y="438912"/>
            <a:ext cx="10972800" cy="292608"/>
          </a:xfrm>
          <a:prstGeom prst="rect">
            <a:avLst/>
          </a:prstGeom>
          <a:noFill/>
          <a:ln/>
        </p:spPr>
        <p:txBody>
          <a:bodyPr wrap="square" lIns="0" tIns="0" rIns="0" bIns="0" rtlCol="0" anchor="ctr"/>
          <a:lstStyle/>
          <a:p>
            <a:pPr indent="0" marL="0">
              <a:buNone/>
            </a:pPr>
            <a:r>
              <a:rPr lang="en-US" sz="1150" b="1" spc="350" kern="0" dirty="0">
                <a:solidFill>
                  <a:srgbClr val="2EC4B6"/>
                </a:solidFill>
                <a:latin typeface="Calibri" pitchFamily="34" charset="0"/>
                <a:ea typeface="Calibri" pitchFamily="34" charset="-122"/>
                <a:cs typeface="Calibri" pitchFamily="34" charset="-120"/>
              </a:rPr>
              <a:t>HOW IT FLOWS</a:t>
            </a:r>
            <a:endParaRPr lang="en-US" sz="1150" dirty="0"/>
          </a:p>
        </p:txBody>
      </p:sp>
      <p:sp>
        <p:nvSpPr>
          <p:cNvPr id="3" name="Text 1"/>
          <p:cNvSpPr/>
          <p:nvPr/>
        </p:nvSpPr>
        <p:spPr>
          <a:xfrm>
            <a:off x="594360" y="749808"/>
            <a:ext cx="10972800" cy="868680"/>
          </a:xfrm>
          <a:prstGeom prst="rect">
            <a:avLst/>
          </a:prstGeom>
          <a:noFill/>
          <a:ln/>
        </p:spPr>
        <p:txBody>
          <a:bodyPr wrap="square" lIns="0" tIns="0" rIns="0" bIns="0" rtlCol="0" anchor="ctr"/>
          <a:lstStyle/>
          <a:p>
            <a:pPr indent="0" marL="0">
              <a:buNone/>
            </a:pPr>
            <a:r>
              <a:rPr lang="en-US" sz="3400" b="1" dirty="0">
                <a:solidFill>
                  <a:srgbClr val="1A2333"/>
                </a:solidFill>
                <a:latin typeface="Georgia" pitchFamily="34" charset="0"/>
                <a:ea typeface="Georgia" pitchFamily="34" charset="-122"/>
                <a:cs typeface="Georgia" pitchFamily="34" charset="-120"/>
              </a:rPr>
              <a:t>Every feature follows the same 7-step path</a:t>
            </a:r>
            <a:endParaRPr lang="en-US" sz="3400" dirty="0"/>
          </a:p>
        </p:txBody>
      </p:sp>
      <p:sp>
        <p:nvSpPr>
          <p:cNvPr id="4" name="Text 2"/>
          <p:cNvSpPr/>
          <p:nvPr/>
        </p:nvSpPr>
        <p:spPr>
          <a:xfrm>
            <a:off x="594360" y="1572768"/>
            <a:ext cx="10972800" cy="347472"/>
          </a:xfrm>
          <a:prstGeom prst="rect">
            <a:avLst/>
          </a:prstGeom>
          <a:noFill/>
          <a:ln/>
        </p:spPr>
        <p:txBody>
          <a:bodyPr wrap="square" lIns="0" tIns="0" rIns="0" bIns="0" rtlCol="0" anchor="ctr"/>
          <a:lstStyle/>
          <a:p>
            <a:pPr indent="0" marL="0">
              <a:buNone/>
            </a:pPr>
            <a:r>
              <a:rPr lang="en-US" sz="1400" dirty="0">
                <a:solidFill>
                  <a:srgbClr val="5A6478"/>
                </a:solidFill>
                <a:latin typeface="Calibri" pitchFamily="34" charset="0"/>
                <a:ea typeface="Calibri" pitchFamily="34" charset="-122"/>
                <a:cs typeface="Calibri" pitchFamily="34" charset="-120"/>
              </a:rPr>
              <a:t>Each step produces a written artifact. The next step cannot start until the previous one is complete.</a:t>
            </a:r>
            <a:endParaRPr lang="en-US" sz="1400" dirty="0"/>
          </a:p>
        </p:txBody>
      </p:sp>
      <p:sp>
        <p:nvSpPr>
          <p:cNvPr id="5" name="Shape 3"/>
          <p:cNvSpPr/>
          <p:nvPr/>
        </p:nvSpPr>
        <p:spPr>
          <a:xfrm>
            <a:off x="374904" y="2240280"/>
            <a:ext cx="1536192" cy="2926080"/>
          </a:xfrm>
          <a:prstGeom prst="rect">
            <a:avLst/>
          </a:prstGeom>
          <a:solidFill>
            <a:srgbClr val="FFFFFF"/>
          </a:solidFill>
          <a:ln w="12700">
            <a:solidFill>
              <a:srgbClr val="D8E2F0"/>
            </a:solidFill>
            <a:prstDash val="solid"/>
          </a:ln>
          <a:effectLst>
            <a:outerShdw sx="100000" sy="100000" kx="0" ky="0" algn="bl" rotWithShape="0" blurRad="127000" dist="38100" dir="8100000">
              <a:srgbClr val="000000">
                <a:alpha val="14000"/>
              </a:srgbClr>
            </a:outerShdw>
          </a:effectLst>
        </p:spPr>
      </p:sp>
      <p:sp>
        <p:nvSpPr>
          <p:cNvPr id="6" name="Shape 4"/>
          <p:cNvSpPr/>
          <p:nvPr/>
        </p:nvSpPr>
        <p:spPr>
          <a:xfrm>
            <a:off x="374904" y="2240280"/>
            <a:ext cx="1536192" cy="109728"/>
          </a:xfrm>
          <a:prstGeom prst="rect">
            <a:avLst/>
          </a:prstGeom>
          <a:solidFill>
            <a:srgbClr val="12203F"/>
          </a:solidFill>
          <a:ln/>
        </p:spPr>
      </p:sp>
      <p:sp>
        <p:nvSpPr>
          <p:cNvPr id="7" name="Shape 5"/>
          <p:cNvSpPr/>
          <p:nvPr/>
        </p:nvSpPr>
        <p:spPr>
          <a:xfrm>
            <a:off x="795528" y="2468880"/>
            <a:ext cx="694944" cy="694944"/>
          </a:xfrm>
          <a:prstGeom prst="ellipse">
            <a:avLst/>
          </a:prstGeom>
          <a:solidFill>
            <a:srgbClr val="12203F"/>
          </a:solidFill>
          <a:ln/>
        </p:spPr>
      </p:sp>
      <p:sp>
        <p:nvSpPr>
          <p:cNvPr id="8" name="Text 6"/>
          <p:cNvSpPr/>
          <p:nvPr/>
        </p:nvSpPr>
        <p:spPr>
          <a:xfrm>
            <a:off x="795528" y="2468880"/>
            <a:ext cx="694944" cy="694944"/>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1</a:t>
            </a:r>
            <a:endParaRPr lang="en-US" sz="2400" dirty="0"/>
          </a:p>
        </p:txBody>
      </p:sp>
      <p:sp>
        <p:nvSpPr>
          <p:cNvPr id="9" name="Text 7"/>
          <p:cNvSpPr/>
          <p:nvPr/>
        </p:nvSpPr>
        <p:spPr>
          <a:xfrm>
            <a:off x="374904" y="3300984"/>
            <a:ext cx="1536192" cy="402336"/>
          </a:xfrm>
          <a:prstGeom prst="rect">
            <a:avLst/>
          </a:prstGeom>
          <a:noFill/>
          <a:ln/>
        </p:spPr>
        <p:txBody>
          <a:bodyPr wrap="square" lIns="0" tIns="0" rIns="0" bIns="0" rtlCol="0" anchor="ctr"/>
          <a:lstStyle/>
          <a:p>
            <a:pPr algn="ctr" indent="0" marL="0">
              <a:buNone/>
            </a:pPr>
            <a:r>
              <a:rPr lang="en-US" sz="1450" b="1" dirty="0">
                <a:solidFill>
                  <a:srgbClr val="1A2333"/>
                </a:solidFill>
                <a:latin typeface="Georgia" pitchFamily="34" charset="0"/>
                <a:ea typeface="Georgia" pitchFamily="34" charset="-122"/>
                <a:cs typeface="Georgia" pitchFamily="34" charset="-120"/>
              </a:rPr>
              <a:t>Constitution</a:t>
            </a:r>
            <a:endParaRPr lang="en-US" sz="1450" dirty="0"/>
          </a:p>
        </p:txBody>
      </p:sp>
      <p:sp>
        <p:nvSpPr>
          <p:cNvPr id="10" name="Text 8"/>
          <p:cNvSpPr/>
          <p:nvPr/>
        </p:nvSpPr>
        <p:spPr>
          <a:xfrm>
            <a:off x="448056" y="3703320"/>
            <a:ext cx="1389888" cy="1234440"/>
          </a:xfrm>
          <a:prstGeom prst="rect">
            <a:avLst/>
          </a:prstGeom>
          <a:noFill/>
          <a:ln/>
        </p:spPr>
        <p:txBody>
          <a:bodyPr wrap="square" lIns="0" tIns="0" rIns="0" bIns="0" rtlCol="0" anchor="ctr"/>
          <a:lstStyle/>
          <a:p>
            <a:pPr algn="ctr" indent="0" marL="0">
              <a:buNone/>
            </a:pPr>
            <a:r>
              <a:rPr lang="en-US" sz="1050" dirty="0">
                <a:solidFill>
                  <a:srgbClr val="5A6478"/>
                </a:solidFill>
                <a:latin typeface="Calibri" pitchFamily="34" charset="0"/>
                <a:ea typeface="Calibri" pitchFamily="34" charset="-122"/>
                <a:cs typeface="Calibri" pitchFamily="34" charset="-120"/>
              </a:rPr>
              <a:t>Set the ground rules</a:t>
            </a:r>
            <a:endParaRPr lang="en-US" sz="1050" dirty="0"/>
          </a:p>
          <a:p>
            <a:pPr algn="ctr" indent="0" marL="0">
              <a:buNone/>
            </a:pPr>
            <a:r>
              <a:rPr lang="en-US" sz="1050" dirty="0">
                <a:solidFill>
                  <a:srgbClr val="5A6478"/>
                </a:solidFill>
                <a:latin typeface="Calibri" pitchFamily="34" charset="0"/>
                <a:ea typeface="Calibri" pitchFamily="34" charset="-122"/>
                <a:cs typeface="Calibri" pitchFamily="34" charset="-120"/>
              </a:rPr>
              <a:t>all features must respect.</a:t>
            </a:r>
            <a:endParaRPr lang="en-US" sz="1050" dirty="0"/>
          </a:p>
        </p:txBody>
      </p:sp>
      <p:pic>
        <p:nvPicPr>
          <p:cNvPr id="11" name="Image 0" descr="preencoded.png">    </p:cNvPr>
          <p:cNvPicPr>
            <a:picLocks noChangeAspect="1"/>
          </p:cNvPicPr>
          <p:nvPr/>
        </p:nvPicPr>
        <p:blipFill>
          <a:blip r:embed="rId1"/>
          <a:stretch>
            <a:fillRect/>
          </a:stretch>
        </p:blipFill>
        <p:spPr>
          <a:xfrm>
            <a:off x="1024128" y="5276088"/>
            <a:ext cx="237744" cy="237744"/>
          </a:xfrm>
          <a:prstGeom prst="rect">
            <a:avLst/>
          </a:prstGeom>
        </p:spPr>
      </p:pic>
      <p:pic>
        <p:nvPicPr>
          <p:cNvPr id="12" name="Image 1" descr="preencoded.png">    </p:cNvPr>
          <p:cNvPicPr>
            <a:picLocks noChangeAspect="1"/>
          </p:cNvPicPr>
          <p:nvPr/>
        </p:nvPicPr>
        <p:blipFill>
          <a:blip r:embed="rId2"/>
          <a:stretch>
            <a:fillRect/>
          </a:stretch>
        </p:blipFill>
        <p:spPr>
          <a:xfrm>
            <a:off x="1856232" y="2788920"/>
            <a:ext cx="219456" cy="219456"/>
          </a:xfrm>
          <a:prstGeom prst="rect">
            <a:avLst/>
          </a:prstGeom>
        </p:spPr>
      </p:pic>
      <p:sp>
        <p:nvSpPr>
          <p:cNvPr id="13" name="Shape 9"/>
          <p:cNvSpPr/>
          <p:nvPr/>
        </p:nvSpPr>
        <p:spPr>
          <a:xfrm>
            <a:off x="2020824" y="2240280"/>
            <a:ext cx="1536192" cy="2926080"/>
          </a:xfrm>
          <a:prstGeom prst="rect">
            <a:avLst/>
          </a:prstGeom>
          <a:solidFill>
            <a:srgbClr val="FFFFFF"/>
          </a:solidFill>
          <a:ln w="12700">
            <a:solidFill>
              <a:srgbClr val="D8E2F0"/>
            </a:solidFill>
            <a:prstDash val="solid"/>
          </a:ln>
          <a:effectLst>
            <a:outerShdw sx="100000" sy="100000" kx="0" ky="0" algn="bl" rotWithShape="0" blurRad="127000" dist="38100" dir="8100000">
              <a:srgbClr val="000000">
                <a:alpha val="14000"/>
              </a:srgbClr>
            </a:outerShdw>
          </a:effectLst>
        </p:spPr>
      </p:sp>
      <p:sp>
        <p:nvSpPr>
          <p:cNvPr id="14" name="Shape 10"/>
          <p:cNvSpPr/>
          <p:nvPr/>
        </p:nvSpPr>
        <p:spPr>
          <a:xfrm>
            <a:off x="2020824" y="2240280"/>
            <a:ext cx="1536192" cy="109728"/>
          </a:xfrm>
          <a:prstGeom prst="rect">
            <a:avLst/>
          </a:prstGeom>
          <a:solidFill>
            <a:srgbClr val="2EC4B6"/>
          </a:solidFill>
          <a:ln/>
        </p:spPr>
      </p:sp>
      <p:sp>
        <p:nvSpPr>
          <p:cNvPr id="15" name="Shape 11"/>
          <p:cNvSpPr/>
          <p:nvPr/>
        </p:nvSpPr>
        <p:spPr>
          <a:xfrm>
            <a:off x="2441448" y="2468880"/>
            <a:ext cx="694944" cy="694944"/>
          </a:xfrm>
          <a:prstGeom prst="ellipse">
            <a:avLst/>
          </a:prstGeom>
          <a:solidFill>
            <a:srgbClr val="2EC4B6"/>
          </a:solidFill>
          <a:ln/>
        </p:spPr>
      </p:sp>
      <p:sp>
        <p:nvSpPr>
          <p:cNvPr id="16" name="Text 12"/>
          <p:cNvSpPr/>
          <p:nvPr/>
        </p:nvSpPr>
        <p:spPr>
          <a:xfrm>
            <a:off x="2441448" y="2468880"/>
            <a:ext cx="694944" cy="694944"/>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2</a:t>
            </a:r>
            <a:endParaRPr lang="en-US" sz="2400" dirty="0"/>
          </a:p>
        </p:txBody>
      </p:sp>
      <p:sp>
        <p:nvSpPr>
          <p:cNvPr id="17" name="Text 13"/>
          <p:cNvSpPr/>
          <p:nvPr/>
        </p:nvSpPr>
        <p:spPr>
          <a:xfrm>
            <a:off x="2020824" y="3300984"/>
            <a:ext cx="1536192" cy="402336"/>
          </a:xfrm>
          <a:prstGeom prst="rect">
            <a:avLst/>
          </a:prstGeom>
          <a:noFill/>
          <a:ln/>
        </p:spPr>
        <p:txBody>
          <a:bodyPr wrap="square" lIns="0" tIns="0" rIns="0" bIns="0" rtlCol="0" anchor="ctr"/>
          <a:lstStyle/>
          <a:p>
            <a:pPr algn="ctr" indent="0" marL="0">
              <a:buNone/>
            </a:pPr>
            <a:r>
              <a:rPr lang="en-US" sz="1450" b="1" dirty="0">
                <a:solidFill>
                  <a:srgbClr val="1A2333"/>
                </a:solidFill>
                <a:latin typeface="Georgia" pitchFamily="34" charset="0"/>
                <a:ea typeface="Georgia" pitchFamily="34" charset="-122"/>
                <a:cs typeface="Georgia" pitchFamily="34" charset="-120"/>
              </a:rPr>
              <a:t>Specify</a:t>
            </a:r>
            <a:endParaRPr lang="en-US" sz="1450" dirty="0"/>
          </a:p>
        </p:txBody>
      </p:sp>
      <p:sp>
        <p:nvSpPr>
          <p:cNvPr id="18" name="Text 14"/>
          <p:cNvSpPr/>
          <p:nvPr/>
        </p:nvSpPr>
        <p:spPr>
          <a:xfrm>
            <a:off x="2093976" y="3703320"/>
            <a:ext cx="1389888" cy="1234440"/>
          </a:xfrm>
          <a:prstGeom prst="rect">
            <a:avLst/>
          </a:prstGeom>
          <a:noFill/>
          <a:ln/>
        </p:spPr>
        <p:txBody>
          <a:bodyPr wrap="square" lIns="0" tIns="0" rIns="0" bIns="0" rtlCol="0" anchor="ctr"/>
          <a:lstStyle/>
          <a:p>
            <a:pPr algn="ctr" indent="0" marL="0">
              <a:buNone/>
            </a:pPr>
            <a:r>
              <a:rPr lang="en-US" sz="1050" dirty="0">
                <a:solidFill>
                  <a:srgbClr val="5A6478"/>
                </a:solidFill>
                <a:latin typeface="Calibri" pitchFamily="34" charset="0"/>
                <a:ea typeface="Calibri" pitchFamily="34" charset="-122"/>
                <a:cs typeface="Calibri" pitchFamily="34" charset="-120"/>
              </a:rPr>
              <a:t>Write what &amp; why in</a:t>
            </a:r>
            <a:endParaRPr lang="en-US" sz="1050" dirty="0"/>
          </a:p>
          <a:p>
            <a:pPr algn="ctr" indent="0" marL="0">
              <a:buNone/>
            </a:pPr>
            <a:r>
              <a:rPr lang="en-US" sz="1050" dirty="0">
                <a:solidFill>
                  <a:srgbClr val="5A6478"/>
                </a:solidFill>
                <a:latin typeface="Calibri" pitchFamily="34" charset="0"/>
                <a:ea typeface="Calibri" pitchFamily="34" charset="-122"/>
                <a:cs typeface="Calibri" pitchFamily="34" charset="-120"/>
              </a:rPr>
              <a:t>business language. BO approves.</a:t>
            </a:r>
            <a:endParaRPr lang="en-US" sz="1050" dirty="0"/>
          </a:p>
        </p:txBody>
      </p:sp>
      <p:pic>
        <p:nvPicPr>
          <p:cNvPr id="19" name="Image 2" descr="preencoded.png">    </p:cNvPr>
          <p:cNvPicPr>
            <a:picLocks noChangeAspect="1"/>
          </p:cNvPicPr>
          <p:nvPr/>
        </p:nvPicPr>
        <p:blipFill>
          <a:blip r:embed="rId3"/>
          <a:stretch>
            <a:fillRect/>
          </a:stretch>
        </p:blipFill>
        <p:spPr>
          <a:xfrm>
            <a:off x="2670048" y="5276088"/>
            <a:ext cx="237744" cy="237744"/>
          </a:xfrm>
          <a:prstGeom prst="rect">
            <a:avLst/>
          </a:prstGeom>
        </p:spPr>
      </p:pic>
      <p:pic>
        <p:nvPicPr>
          <p:cNvPr id="20" name="Image 3" descr="preencoded.png">    </p:cNvPr>
          <p:cNvPicPr>
            <a:picLocks noChangeAspect="1"/>
          </p:cNvPicPr>
          <p:nvPr/>
        </p:nvPicPr>
        <p:blipFill>
          <a:blip r:embed="rId4"/>
          <a:stretch>
            <a:fillRect/>
          </a:stretch>
        </p:blipFill>
        <p:spPr>
          <a:xfrm>
            <a:off x="3502152" y="2788920"/>
            <a:ext cx="219456" cy="219456"/>
          </a:xfrm>
          <a:prstGeom prst="rect">
            <a:avLst/>
          </a:prstGeom>
        </p:spPr>
      </p:pic>
      <p:sp>
        <p:nvSpPr>
          <p:cNvPr id="21" name="Shape 15"/>
          <p:cNvSpPr/>
          <p:nvPr/>
        </p:nvSpPr>
        <p:spPr>
          <a:xfrm>
            <a:off x="3666744" y="2240280"/>
            <a:ext cx="1536192" cy="2926080"/>
          </a:xfrm>
          <a:prstGeom prst="rect">
            <a:avLst/>
          </a:prstGeom>
          <a:solidFill>
            <a:srgbClr val="FFFFFF"/>
          </a:solidFill>
          <a:ln w="12700">
            <a:solidFill>
              <a:srgbClr val="D8E2F0"/>
            </a:solidFill>
            <a:prstDash val="solid"/>
          </a:ln>
          <a:effectLst>
            <a:outerShdw sx="100000" sy="100000" kx="0" ky="0" algn="bl" rotWithShape="0" blurRad="127000" dist="38100" dir="8100000">
              <a:srgbClr val="000000">
                <a:alpha val="14000"/>
              </a:srgbClr>
            </a:outerShdw>
          </a:effectLst>
        </p:spPr>
      </p:sp>
      <p:sp>
        <p:nvSpPr>
          <p:cNvPr id="22" name="Shape 16"/>
          <p:cNvSpPr/>
          <p:nvPr/>
        </p:nvSpPr>
        <p:spPr>
          <a:xfrm>
            <a:off x="3666744" y="2240280"/>
            <a:ext cx="1536192" cy="109728"/>
          </a:xfrm>
          <a:prstGeom prst="rect">
            <a:avLst/>
          </a:prstGeom>
          <a:solidFill>
            <a:srgbClr val="2EC4B6"/>
          </a:solidFill>
          <a:ln/>
        </p:spPr>
      </p:sp>
      <p:sp>
        <p:nvSpPr>
          <p:cNvPr id="23" name="Shape 17"/>
          <p:cNvSpPr/>
          <p:nvPr/>
        </p:nvSpPr>
        <p:spPr>
          <a:xfrm>
            <a:off x="4087368" y="2468880"/>
            <a:ext cx="694944" cy="694944"/>
          </a:xfrm>
          <a:prstGeom prst="ellipse">
            <a:avLst/>
          </a:prstGeom>
          <a:solidFill>
            <a:srgbClr val="2EC4B6"/>
          </a:solidFill>
          <a:ln/>
        </p:spPr>
      </p:sp>
      <p:sp>
        <p:nvSpPr>
          <p:cNvPr id="24" name="Text 18"/>
          <p:cNvSpPr/>
          <p:nvPr/>
        </p:nvSpPr>
        <p:spPr>
          <a:xfrm>
            <a:off x="4087368" y="2468880"/>
            <a:ext cx="694944" cy="694944"/>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3</a:t>
            </a:r>
            <a:endParaRPr lang="en-US" sz="2400" dirty="0"/>
          </a:p>
        </p:txBody>
      </p:sp>
      <p:sp>
        <p:nvSpPr>
          <p:cNvPr id="25" name="Text 19"/>
          <p:cNvSpPr/>
          <p:nvPr/>
        </p:nvSpPr>
        <p:spPr>
          <a:xfrm>
            <a:off x="3666744" y="3300984"/>
            <a:ext cx="1536192" cy="402336"/>
          </a:xfrm>
          <a:prstGeom prst="rect">
            <a:avLst/>
          </a:prstGeom>
          <a:noFill/>
          <a:ln/>
        </p:spPr>
        <p:txBody>
          <a:bodyPr wrap="square" lIns="0" tIns="0" rIns="0" bIns="0" rtlCol="0" anchor="ctr"/>
          <a:lstStyle/>
          <a:p>
            <a:pPr algn="ctr" indent="0" marL="0">
              <a:buNone/>
            </a:pPr>
            <a:r>
              <a:rPr lang="en-US" sz="1450" b="1" dirty="0">
                <a:solidFill>
                  <a:srgbClr val="1A2333"/>
                </a:solidFill>
                <a:latin typeface="Georgia" pitchFamily="34" charset="0"/>
                <a:ea typeface="Georgia" pitchFamily="34" charset="-122"/>
                <a:cs typeface="Georgia" pitchFamily="34" charset="-120"/>
              </a:rPr>
              <a:t>Clarify</a:t>
            </a:r>
            <a:endParaRPr lang="en-US" sz="1450" dirty="0"/>
          </a:p>
        </p:txBody>
      </p:sp>
      <p:sp>
        <p:nvSpPr>
          <p:cNvPr id="26" name="Text 20"/>
          <p:cNvSpPr/>
          <p:nvPr/>
        </p:nvSpPr>
        <p:spPr>
          <a:xfrm>
            <a:off x="3739896" y="3703320"/>
            <a:ext cx="1389888" cy="1234440"/>
          </a:xfrm>
          <a:prstGeom prst="rect">
            <a:avLst/>
          </a:prstGeom>
          <a:noFill/>
          <a:ln/>
        </p:spPr>
        <p:txBody>
          <a:bodyPr wrap="square" lIns="0" tIns="0" rIns="0" bIns="0" rtlCol="0" anchor="ctr"/>
          <a:lstStyle/>
          <a:p>
            <a:pPr algn="ctr" indent="0" marL="0">
              <a:buNone/>
            </a:pPr>
            <a:r>
              <a:rPr lang="en-US" sz="1050" dirty="0">
                <a:solidFill>
                  <a:srgbClr val="5A6478"/>
                </a:solidFill>
                <a:latin typeface="Calibri" pitchFamily="34" charset="0"/>
                <a:ea typeface="Calibri" pitchFamily="34" charset="-122"/>
                <a:cs typeface="Calibri" pitchFamily="34" charset="-120"/>
              </a:rPr>
              <a:t>Surface ambiguities</a:t>
            </a:r>
            <a:endParaRPr lang="en-US" sz="1050" dirty="0"/>
          </a:p>
          <a:p>
            <a:pPr algn="ctr" indent="0" marL="0">
              <a:buNone/>
            </a:pPr>
            <a:r>
              <a:rPr lang="en-US" sz="1050" dirty="0">
                <a:solidFill>
                  <a:srgbClr val="5A6478"/>
                </a:solidFill>
                <a:latin typeface="Calibri" pitchFamily="34" charset="0"/>
                <a:ea typeface="Calibri" pitchFamily="34" charset="-122"/>
                <a:cs typeface="Calibri" pitchFamily="34" charset="-120"/>
              </a:rPr>
              <a:t>before planning starts.</a:t>
            </a:r>
            <a:endParaRPr lang="en-US" sz="1050" dirty="0"/>
          </a:p>
        </p:txBody>
      </p:sp>
      <p:pic>
        <p:nvPicPr>
          <p:cNvPr id="27" name="Image 4" descr="preencoded.png">    </p:cNvPr>
          <p:cNvPicPr>
            <a:picLocks noChangeAspect="1"/>
          </p:cNvPicPr>
          <p:nvPr/>
        </p:nvPicPr>
        <p:blipFill>
          <a:blip r:embed="rId5"/>
          <a:stretch>
            <a:fillRect/>
          </a:stretch>
        </p:blipFill>
        <p:spPr>
          <a:xfrm>
            <a:off x="5148072" y="2788920"/>
            <a:ext cx="219456" cy="219456"/>
          </a:xfrm>
          <a:prstGeom prst="rect">
            <a:avLst/>
          </a:prstGeom>
        </p:spPr>
      </p:pic>
      <p:sp>
        <p:nvSpPr>
          <p:cNvPr id="28" name="Shape 21"/>
          <p:cNvSpPr/>
          <p:nvPr/>
        </p:nvSpPr>
        <p:spPr>
          <a:xfrm>
            <a:off x="5312664" y="2240280"/>
            <a:ext cx="1536192" cy="2926080"/>
          </a:xfrm>
          <a:prstGeom prst="rect">
            <a:avLst/>
          </a:prstGeom>
          <a:solidFill>
            <a:srgbClr val="FFFFFF"/>
          </a:solidFill>
          <a:ln w="12700">
            <a:solidFill>
              <a:srgbClr val="D8E2F0"/>
            </a:solidFill>
            <a:prstDash val="solid"/>
          </a:ln>
          <a:effectLst>
            <a:outerShdw sx="100000" sy="100000" kx="0" ky="0" algn="bl" rotWithShape="0" blurRad="127000" dist="38100" dir="8100000">
              <a:srgbClr val="000000">
                <a:alpha val="14000"/>
              </a:srgbClr>
            </a:outerShdw>
          </a:effectLst>
        </p:spPr>
      </p:sp>
      <p:sp>
        <p:nvSpPr>
          <p:cNvPr id="29" name="Shape 22"/>
          <p:cNvSpPr/>
          <p:nvPr/>
        </p:nvSpPr>
        <p:spPr>
          <a:xfrm>
            <a:off x="5312664" y="2240280"/>
            <a:ext cx="1536192" cy="109728"/>
          </a:xfrm>
          <a:prstGeom prst="rect">
            <a:avLst/>
          </a:prstGeom>
          <a:solidFill>
            <a:srgbClr val="12203F"/>
          </a:solidFill>
          <a:ln/>
        </p:spPr>
      </p:sp>
      <p:sp>
        <p:nvSpPr>
          <p:cNvPr id="30" name="Shape 23"/>
          <p:cNvSpPr/>
          <p:nvPr/>
        </p:nvSpPr>
        <p:spPr>
          <a:xfrm>
            <a:off x="5733288" y="2468880"/>
            <a:ext cx="694944" cy="694944"/>
          </a:xfrm>
          <a:prstGeom prst="ellipse">
            <a:avLst/>
          </a:prstGeom>
          <a:solidFill>
            <a:srgbClr val="12203F"/>
          </a:solidFill>
          <a:ln/>
        </p:spPr>
      </p:sp>
      <p:sp>
        <p:nvSpPr>
          <p:cNvPr id="31" name="Text 24"/>
          <p:cNvSpPr/>
          <p:nvPr/>
        </p:nvSpPr>
        <p:spPr>
          <a:xfrm>
            <a:off x="5733288" y="2468880"/>
            <a:ext cx="694944" cy="694944"/>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4</a:t>
            </a:r>
            <a:endParaRPr lang="en-US" sz="2400" dirty="0"/>
          </a:p>
        </p:txBody>
      </p:sp>
      <p:sp>
        <p:nvSpPr>
          <p:cNvPr id="32" name="Text 25"/>
          <p:cNvSpPr/>
          <p:nvPr/>
        </p:nvSpPr>
        <p:spPr>
          <a:xfrm>
            <a:off x="5312664" y="3300984"/>
            <a:ext cx="1536192" cy="402336"/>
          </a:xfrm>
          <a:prstGeom prst="rect">
            <a:avLst/>
          </a:prstGeom>
          <a:noFill/>
          <a:ln/>
        </p:spPr>
        <p:txBody>
          <a:bodyPr wrap="square" lIns="0" tIns="0" rIns="0" bIns="0" rtlCol="0" anchor="ctr"/>
          <a:lstStyle/>
          <a:p>
            <a:pPr algn="ctr" indent="0" marL="0">
              <a:buNone/>
            </a:pPr>
            <a:r>
              <a:rPr lang="en-US" sz="1450" b="1" dirty="0">
                <a:solidFill>
                  <a:srgbClr val="1A2333"/>
                </a:solidFill>
                <a:latin typeface="Georgia" pitchFamily="34" charset="0"/>
                <a:ea typeface="Georgia" pitchFamily="34" charset="-122"/>
                <a:cs typeface="Georgia" pitchFamily="34" charset="-120"/>
              </a:rPr>
              <a:t>Plan</a:t>
            </a:r>
            <a:endParaRPr lang="en-US" sz="1450" dirty="0"/>
          </a:p>
        </p:txBody>
      </p:sp>
      <p:sp>
        <p:nvSpPr>
          <p:cNvPr id="33" name="Text 26"/>
          <p:cNvSpPr/>
          <p:nvPr/>
        </p:nvSpPr>
        <p:spPr>
          <a:xfrm>
            <a:off x="5385816" y="3703320"/>
            <a:ext cx="1389888" cy="1234440"/>
          </a:xfrm>
          <a:prstGeom prst="rect">
            <a:avLst/>
          </a:prstGeom>
          <a:noFill/>
          <a:ln/>
        </p:spPr>
        <p:txBody>
          <a:bodyPr wrap="square" lIns="0" tIns="0" rIns="0" bIns="0" rtlCol="0" anchor="ctr"/>
          <a:lstStyle/>
          <a:p>
            <a:pPr algn="ctr" indent="0" marL="0">
              <a:buNone/>
            </a:pPr>
            <a:r>
              <a:rPr lang="en-US" sz="1050" dirty="0">
                <a:solidFill>
                  <a:srgbClr val="5A6478"/>
                </a:solidFill>
                <a:latin typeface="Calibri" pitchFamily="34" charset="0"/>
                <a:ea typeface="Calibri" pitchFamily="34" charset="-122"/>
                <a:cs typeface="Calibri" pitchFamily="34" charset="-120"/>
              </a:rPr>
              <a:t>Engineering designs</a:t>
            </a:r>
            <a:endParaRPr lang="en-US" sz="1050" dirty="0"/>
          </a:p>
          <a:p>
            <a:pPr algn="ctr" indent="0" marL="0">
              <a:buNone/>
            </a:pPr>
            <a:r>
              <a:rPr lang="en-US" sz="1050" dirty="0">
                <a:solidFill>
                  <a:srgbClr val="5A6478"/>
                </a:solidFill>
                <a:latin typeface="Calibri" pitchFamily="34" charset="0"/>
                <a:ea typeface="Calibri" pitchFamily="34" charset="-122"/>
                <a:cs typeface="Calibri" pitchFamily="34" charset="-120"/>
              </a:rPr>
              <a:t>how it will be built.</a:t>
            </a:r>
            <a:endParaRPr lang="en-US" sz="1050" dirty="0"/>
          </a:p>
        </p:txBody>
      </p:sp>
      <p:pic>
        <p:nvPicPr>
          <p:cNvPr id="34" name="Image 5" descr="preencoded.png">    </p:cNvPr>
          <p:cNvPicPr>
            <a:picLocks noChangeAspect="1"/>
          </p:cNvPicPr>
          <p:nvPr/>
        </p:nvPicPr>
        <p:blipFill>
          <a:blip r:embed="rId6"/>
          <a:stretch>
            <a:fillRect/>
          </a:stretch>
        </p:blipFill>
        <p:spPr>
          <a:xfrm>
            <a:off x="5961888" y="5276088"/>
            <a:ext cx="237744" cy="237744"/>
          </a:xfrm>
          <a:prstGeom prst="rect">
            <a:avLst/>
          </a:prstGeom>
        </p:spPr>
      </p:pic>
      <p:pic>
        <p:nvPicPr>
          <p:cNvPr id="35" name="Image 6" descr="preencoded.png">    </p:cNvPr>
          <p:cNvPicPr>
            <a:picLocks noChangeAspect="1"/>
          </p:cNvPicPr>
          <p:nvPr/>
        </p:nvPicPr>
        <p:blipFill>
          <a:blip r:embed="rId7"/>
          <a:stretch>
            <a:fillRect/>
          </a:stretch>
        </p:blipFill>
        <p:spPr>
          <a:xfrm>
            <a:off x="6793992" y="2788920"/>
            <a:ext cx="219456" cy="219456"/>
          </a:xfrm>
          <a:prstGeom prst="rect">
            <a:avLst/>
          </a:prstGeom>
        </p:spPr>
      </p:pic>
      <p:sp>
        <p:nvSpPr>
          <p:cNvPr id="36" name="Shape 27"/>
          <p:cNvSpPr/>
          <p:nvPr/>
        </p:nvSpPr>
        <p:spPr>
          <a:xfrm>
            <a:off x="6958584" y="2240280"/>
            <a:ext cx="1536192" cy="2926080"/>
          </a:xfrm>
          <a:prstGeom prst="rect">
            <a:avLst/>
          </a:prstGeom>
          <a:solidFill>
            <a:srgbClr val="FFFFFF"/>
          </a:solidFill>
          <a:ln w="12700">
            <a:solidFill>
              <a:srgbClr val="D8E2F0"/>
            </a:solidFill>
            <a:prstDash val="solid"/>
          </a:ln>
          <a:effectLst>
            <a:outerShdw sx="100000" sy="100000" kx="0" ky="0" algn="bl" rotWithShape="0" blurRad="127000" dist="38100" dir="8100000">
              <a:srgbClr val="000000">
                <a:alpha val="14000"/>
              </a:srgbClr>
            </a:outerShdw>
          </a:effectLst>
        </p:spPr>
      </p:sp>
      <p:sp>
        <p:nvSpPr>
          <p:cNvPr id="37" name="Shape 28"/>
          <p:cNvSpPr/>
          <p:nvPr/>
        </p:nvSpPr>
        <p:spPr>
          <a:xfrm>
            <a:off x="6958584" y="2240280"/>
            <a:ext cx="1536192" cy="109728"/>
          </a:xfrm>
          <a:prstGeom prst="rect">
            <a:avLst/>
          </a:prstGeom>
          <a:solidFill>
            <a:srgbClr val="12203F"/>
          </a:solidFill>
          <a:ln/>
        </p:spPr>
      </p:sp>
      <p:sp>
        <p:nvSpPr>
          <p:cNvPr id="38" name="Shape 29"/>
          <p:cNvSpPr/>
          <p:nvPr/>
        </p:nvSpPr>
        <p:spPr>
          <a:xfrm>
            <a:off x="7379208" y="2468880"/>
            <a:ext cx="694944" cy="694944"/>
          </a:xfrm>
          <a:prstGeom prst="ellipse">
            <a:avLst/>
          </a:prstGeom>
          <a:solidFill>
            <a:srgbClr val="12203F"/>
          </a:solidFill>
          <a:ln/>
        </p:spPr>
      </p:sp>
      <p:sp>
        <p:nvSpPr>
          <p:cNvPr id="39" name="Text 30"/>
          <p:cNvSpPr/>
          <p:nvPr/>
        </p:nvSpPr>
        <p:spPr>
          <a:xfrm>
            <a:off x="7379208" y="2468880"/>
            <a:ext cx="694944" cy="694944"/>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5</a:t>
            </a:r>
            <a:endParaRPr lang="en-US" sz="2400" dirty="0"/>
          </a:p>
        </p:txBody>
      </p:sp>
      <p:sp>
        <p:nvSpPr>
          <p:cNvPr id="40" name="Text 31"/>
          <p:cNvSpPr/>
          <p:nvPr/>
        </p:nvSpPr>
        <p:spPr>
          <a:xfrm>
            <a:off x="6958584" y="3300984"/>
            <a:ext cx="1536192" cy="402336"/>
          </a:xfrm>
          <a:prstGeom prst="rect">
            <a:avLst/>
          </a:prstGeom>
          <a:noFill/>
          <a:ln/>
        </p:spPr>
        <p:txBody>
          <a:bodyPr wrap="square" lIns="0" tIns="0" rIns="0" bIns="0" rtlCol="0" anchor="ctr"/>
          <a:lstStyle/>
          <a:p>
            <a:pPr algn="ctr" indent="0" marL="0">
              <a:buNone/>
            </a:pPr>
            <a:r>
              <a:rPr lang="en-US" sz="1450" b="1" dirty="0">
                <a:solidFill>
                  <a:srgbClr val="1A2333"/>
                </a:solidFill>
                <a:latin typeface="Georgia" pitchFamily="34" charset="0"/>
                <a:ea typeface="Georgia" pitchFamily="34" charset="-122"/>
                <a:cs typeface="Georgia" pitchFamily="34" charset="-120"/>
              </a:rPr>
              <a:t>Tasks</a:t>
            </a:r>
            <a:endParaRPr lang="en-US" sz="1450" dirty="0"/>
          </a:p>
        </p:txBody>
      </p:sp>
      <p:sp>
        <p:nvSpPr>
          <p:cNvPr id="41" name="Text 32"/>
          <p:cNvSpPr/>
          <p:nvPr/>
        </p:nvSpPr>
        <p:spPr>
          <a:xfrm>
            <a:off x="7031736" y="3703320"/>
            <a:ext cx="1389888" cy="1234440"/>
          </a:xfrm>
          <a:prstGeom prst="rect">
            <a:avLst/>
          </a:prstGeom>
          <a:noFill/>
          <a:ln/>
        </p:spPr>
        <p:txBody>
          <a:bodyPr wrap="square" lIns="0" tIns="0" rIns="0" bIns="0" rtlCol="0" anchor="ctr"/>
          <a:lstStyle/>
          <a:p>
            <a:pPr algn="ctr" indent="0" marL="0">
              <a:buNone/>
            </a:pPr>
            <a:r>
              <a:rPr lang="en-US" sz="1050" dirty="0">
                <a:solidFill>
                  <a:srgbClr val="5A6478"/>
                </a:solidFill>
                <a:latin typeface="Calibri" pitchFamily="34" charset="0"/>
                <a:ea typeface="Calibri" pitchFamily="34" charset="-122"/>
                <a:cs typeface="Calibri" pitchFamily="34" charset="-120"/>
              </a:rPr>
              <a:t>Break the plan into</a:t>
            </a:r>
            <a:endParaRPr lang="en-US" sz="1050" dirty="0"/>
          </a:p>
          <a:p>
            <a:pPr algn="ctr" indent="0" marL="0">
              <a:buNone/>
            </a:pPr>
            <a:r>
              <a:rPr lang="en-US" sz="1050" dirty="0">
                <a:solidFill>
                  <a:srgbClr val="5A6478"/>
                </a:solidFill>
                <a:latin typeface="Calibri" pitchFamily="34" charset="0"/>
                <a:ea typeface="Calibri" pitchFamily="34" charset="-122"/>
                <a:cs typeface="Calibri" pitchFamily="34" charset="-120"/>
              </a:rPr>
              <a:t>tracked, verifiable steps.</a:t>
            </a:r>
            <a:endParaRPr lang="en-US" sz="1050" dirty="0"/>
          </a:p>
        </p:txBody>
      </p:sp>
      <p:pic>
        <p:nvPicPr>
          <p:cNvPr id="42" name="Image 7" descr="preencoded.png">    </p:cNvPr>
          <p:cNvPicPr>
            <a:picLocks noChangeAspect="1"/>
          </p:cNvPicPr>
          <p:nvPr/>
        </p:nvPicPr>
        <p:blipFill>
          <a:blip r:embed="rId8"/>
          <a:stretch>
            <a:fillRect/>
          </a:stretch>
        </p:blipFill>
        <p:spPr>
          <a:xfrm>
            <a:off x="8439912" y="2788920"/>
            <a:ext cx="219456" cy="219456"/>
          </a:xfrm>
          <a:prstGeom prst="rect">
            <a:avLst/>
          </a:prstGeom>
        </p:spPr>
      </p:pic>
      <p:sp>
        <p:nvSpPr>
          <p:cNvPr id="43" name="Shape 33"/>
          <p:cNvSpPr/>
          <p:nvPr/>
        </p:nvSpPr>
        <p:spPr>
          <a:xfrm>
            <a:off x="8604504" y="2240280"/>
            <a:ext cx="1536192" cy="2926080"/>
          </a:xfrm>
          <a:prstGeom prst="rect">
            <a:avLst/>
          </a:prstGeom>
          <a:solidFill>
            <a:srgbClr val="FFFFFF"/>
          </a:solidFill>
          <a:ln w="12700">
            <a:solidFill>
              <a:srgbClr val="D8E2F0"/>
            </a:solidFill>
            <a:prstDash val="solid"/>
          </a:ln>
          <a:effectLst>
            <a:outerShdw sx="100000" sy="100000" kx="0" ky="0" algn="bl" rotWithShape="0" blurRad="127000" dist="38100" dir="8100000">
              <a:srgbClr val="000000">
                <a:alpha val="14000"/>
              </a:srgbClr>
            </a:outerShdw>
          </a:effectLst>
        </p:spPr>
      </p:sp>
      <p:sp>
        <p:nvSpPr>
          <p:cNvPr id="44" name="Shape 34"/>
          <p:cNvSpPr/>
          <p:nvPr/>
        </p:nvSpPr>
        <p:spPr>
          <a:xfrm>
            <a:off x="8604504" y="2240280"/>
            <a:ext cx="1536192" cy="109728"/>
          </a:xfrm>
          <a:prstGeom prst="rect">
            <a:avLst/>
          </a:prstGeom>
          <a:solidFill>
            <a:srgbClr val="12203F"/>
          </a:solidFill>
          <a:ln/>
        </p:spPr>
      </p:sp>
      <p:sp>
        <p:nvSpPr>
          <p:cNvPr id="45" name="Shape 35"/>
          <p:cNvSpPr/>
          <p:nvPr/>
        </p:nvSpPr>
        <p:spPr>
          <a:xfrm>
            <a:off x="9025128" y="2468880"/>
            <a:ext cx="694944" cy="694944"/>
          </a:xfrm>
          <a:prstGeom prst="ellipse">
            <a:avLst/>
          </a:prstGeom>
          <a:solidFill>
            <a:srgbClr val="12203F"/>
          </a:solidFill>
          <a:ln/>
        </p:spPr>
      </p:sp>
      <p:sp>
        <p:nvSpPr>
          <p:cNvPr id="46" name="Text 36"/>
          <p:cNvSpPr/>
          <p:nvPr/>
        </p:nvSpPr>
        <p:spPr>
          <a:xfrm>
            <a:off x="9025128" y="2468880"/>
            <a:ext cx="694944" cy="694944"/>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6</a:t>
            </a:r>
            <a:endParaRPr lang="en-US" sz="2400" dirty="0"/>
          </a:p>
        </p:txBody>
      </p:sp>
      <p:sp>
        <p:nvSpPr>
          <p:cNvPr id="47" name="Text 37"/>
          <p:cNvSpPr/>
          <p:nvPr/>
        </p:nvSpPr>
        <p:spPr>
          <a:xfrm>
            <a:off x="8604504" y="3300984"/>
            <a:ext cx="1536192" cy="402336"/>
          </a:xfrm>
          <a:prstGeom prst="rect">
            <a:avLst/>
          </a:prstGeom>
          <a:noFill/>
          <a:ln/>
        </p:spPr>
        <p:txBody>
          <a:bodyPr wrap="square" lIns="0" tIns="0" rIns="0" bIns="0" rtlCol="0" anchor="ctr"/>
          <a:lstStyle/>
          <a:p>
            <a:pPr algn="ctr" indent="0" marL="0">
              <a:buNone/>
            </a:pPr>
            <a:r>
              <a:rPr lang="en-US" sz="1450" b="1" dirty="0">
                <a:solidFill>
                  <a:srgbClr val="1A2333"/>
                </a:solidFill>
                <a:latin typeface="Georgia" pitchFamily="34" charset="0"/>
                <a:ea typeface="Georgia" pitchFamily="34" charset="-122"/>
                <a:cs typeface="Georgia" pitchFamily="34" charset="-120"/>
              </a:rPr>
              <a:t>Analyze</a:t>
            </a:r>
            <a:endParaRPr lang="en-US" sz="1450" dirty="0"/>
          </a:p>
        </p:txBody>
      </p:sp>
      <p:sp>
        <p:nvSpPr>
          <p:cNvPr id="48" name="Text 38"/>
          <p:cNvSpPr/>
          <p:nvPr/>
        </p:nvSpPr>
        <p:spPr>
          <a:xfrm>
            <a:off x="8677656" y="3703320"/>
            <a:ext cx="1389888" cy="1234440"/>
          </a:xfrm>
          <a:prstGeom prst="rect">
            <a:avLst/>
          </a:prstGeom>
          <a:noFill/>
          <a:ln/>
        </p:spPr>
        <p:txBody>
          <a:bodyPr wrap="square" lIns="0" tIns="0" rIns="0" bIns="0" rtlCol="0" anchor="ctr"/>
          <a:lstStyle/>
          <a:p>
            <a:pPr algn="ctr" indent="0" marL="0">
              <a:buNone/>
            </a:pPr>
            <a:r>
              <a:rPr lang="en-US" sz="1050" dirty="0">
                <a:solidFill>
                  <a:srgbClr val="5A6478"/>
                </a:solidFill>
                <a:latin typeface="Calibri" pitchFamily="34" charset="0"/>
                <a:ea typeface="Calibri" pitchFamily="34" charset="-122"/>
                <a:cs typeface="Calibri" pitchFamily="34" charset="-120"/>
              </a:rPr>
              <a:t>Cross-check: spec vs</a:t>
            </a:r>
            <a:endParaRPr lang="en-US" sz="1050" dirty="0"/>
          </a:p>
          <a:p>
            <a:pPr algn="ctr" indent="0" marL="0">
              <a:buNone/>
            </a:pPr>
            <a:r>
              <a:rPr lang="en-US" sz="1050" dirty="0">
                <a:solidFill>
                  <a:srgbClr val="5A6478"/>
                </a:solidFill>
                <a:latin typeface="Calibri" pitchFamily="34" charset="0"/>
                <a:ea typeface="Calibri" pitchFamily="34" charset="-122"/>
                <a:cs typeface="Calibri" pitchFamily="34" charset="-120"/>
              </a:rPr>
              <a:t>plan vs tasks — no gaps.</a:t>
            </a:r>
            <a:endParaRPr lang="en-US" sz="1050" dirty="0"/>
          </a:p>
        </p:txBody>
      </p:sp>
      <p:pic>
        <p:nvPicPr>
          <p:cNvPr id="49" name="Image 8" descr="preencoded.png">    </p:cNvPr>
          <p:cNvPicPr>
            <a:picLocks noChangeAspect="1"/>
          </p:cNvPicPr>
          <p:nvPr/>
        </p:nvPicPr>
        <p:blipFill>
          <a:blip r:embed="rId9"/>
          <a:stretch>
            <a:fillRect/>
          </a:stretch>
        </p:blipFill>
        <p:spPr>
          <a:xfrm>
            <a:off x="10085832" y="2788920"/>
            <a:ext cx="219456" cy="219456"/>
          </a:xfrm>
          <a:prstGeom prst="rect">
            <a:avLst/>
          </a:prstGeom>
        </p:spPr>
      </p:pic>
      <p:sp>
        <p:nvSpPr>
          <p:cNvPr id="50" name="Shape 39"/>
          <p:cNvSpPr/>
          <p:nvPr/>
        </p:nvSpPr>
        <p:spPr>
          <a:xfrm>
            <a:off x="10250424" y="2240280"/>
            <a:ext cx="1536192" cy="2926080"/>
          </a:xfrm>
          <a:prstGeom prst="rect">
            <a:avLst/>
          </a:prstGeom>
          <a:solidFill>
            <a:srgbClr val="FFFFFF"/>
          </a:solidFill>
          <a:ln w="12700">
            <a:solidFill>
              <a:srgbClr val="D8E2F0"/>
            </a:solidFill>
            <a:prstDash val="solid"/>
          </a:ln>
          <a:effectLst>
            <a:outerShdw sx="100000" sy="100000" kx="0" ky="0" algn="bl" rotWithShape="0" blurRad="127000" dist="38100" dir="8100000">
              <a:srgbClr val="000000">
                <a:alpha val="14000"/>
              </a:srgbClr>
            </a:outerShdw>
          </a:effectLst>
        </p:spPr>
      </p:sp>
      <p:sp>
        <p:nvSpPr>
          <p:cNvPr id="51" name="Shape 40"/>
          <p:cNvSpPr/>
          <p:nvPr/>
        </p:nvSpPr>
        <p:spPr>
          <a:xfrm>
            <a:off x="10250424" y="2240280"/>
            <a:ext cx="1536192" cy="109728"/>
          </a:xfrm>
          <a:prstGeom prst="rect">
            <a:avLst/>
          </a:prstGeom>
          <a:solidFill>
            <a:srgbClr val="12203F"/>
          </a:solidFill>
          <a:ln/>
        </p:spPr>
      </p:sp>
      <p:sp>
        <p:nvSpPr>
          <p:cNvPr id="52" name="Shape 41"/>
          <p:cNvSpPr/>
          <p:nvPr/>
        </p:nvSpPr>
        <p:spPr>
          <a:xfrm>
            <a:off x="10671048" y="2468880"/>
            <a:ext cx="694944" cy="694944"/>
          </a:xfrm>
          <a:prstGeom prst="ellipse">
            <a:avLst/>
          </a:prstGeom>
          <a:solidFill>
            <a:srgbClr val="12203F"/>
          </a:solidFill>
          <a:ln/>
        </p:spPr>
      </p:sp>
      <p:sp>
        <p:nvSpPr>
          <p:cNvPr id="53" name="Text 42"/>
          <p:cNvSpPr/>
          <p:nvPr/>
        </p:nvSpPr>
        <p:spPr>
          <a:xfrm>
            <a:off x="10671048" y="2468880"/>
            <a:ext cx="694944" cy="694944"/>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7</a:t>
            </a:r>
            <a:endParaRPr lang="en-US" sz="2400" dirty="0"/>
          </a:p>
        </p:txBody>
      </p:sp>
      <p:sp>
        <p:nvSpPr>
          <p:cNvPr id="54" name="Text 43"/>
          <p:cNvSpPr/>
          <p:nvPr/>
        </p:nvSpPr>
        <p:spPr>
          <a:xfrm>
            <a:off x="10250424" y="3300984"/>
            <a:ext cx="1536192" cy="402336"/>
          </a:xfrm>
          <a:prstGeom prst="rect">
            <a:avLst/>
          </a:prstGeom>
          <a:noFill/>
          <a:ln/>
        </p:spPr>
        <p:txBody>
          <a:bodyPr wrap="square" lIns="0" tIns="0" rIns="0" bIns="0" rtlCol="0" anchor="ctr"/>
          <a:lstStyle/>
          <a:p>
            <a:pPr algn="ctr" indent="0" marL="0">
              <a:buNone/>
            </a:pPr>
            <a:r>
              <a:rPr lang="en-US" sz="1450" b="1" dirty="0">
                <a:solidFill>
                  <a:srgbClr val="1A2333"/>
                </a:solidFill>
                <a:latin typeface="Georgia" pitchFamily="34" charset="0"/>
                <a:ea typeface="Georgia" pitchFamily="34" charset="-122"/>
                <a:cs typeface="Georgia" pitchFamily="34" charset="-120"/>
              </a:rPr>
              <a:t>Implement</a:t>
            </a:r>
            <a:endParaRPr lang="en-US" sz="1450" dirty="0"/>
          </a:p>
        </p:txBody>
      </p:sp>
      <p:sp>
        <p:nvSpPr>
          <p:cNvPr id="55" name="Text 44"/>
          <p:cNvSpPr/>
          <p:nvPr/>
        </p:nvSpPr>
        <p:spPr>
          <a:xfrm>
            <a:off x="10323576" y="3703320"/>
            <a:ext cx="1389888" cy="1234440"/>
          </a:xfrm>
          <a:prstGeom prst="rect">
            <a:avLst/>
          </a:prstGeom>
          <a:noFill/>
          <a:ln/>
        </p:spPr>
        <p:txBody>
          <a:bodyPr wrap="square" lIns="0" tIns="0" rIns="0" bIns="0" rtlCol="0" anchor="ctr"/>
          <a:lstStyle/>
          <a:p>
            <a:pPr algn="ctr" indent="0" marL="0">
              <a:buNone/>
            </a:pPr>
            <a:r>
              <a:rPr lang="en-US" sz="1050" dirty="0">
                <a:solidFill>
                  <a:srgbClr val="5A6478"/>
                </a:solidFill>
                <a:latin typeface="Calibri" pitchFamily="34" charset="0"/>
                <a:ea typeface="Calibri" pitchFamily="34" charset="-122"/>
                <a:cs typeface="Calibri" pitchFamily="34" charset="-120"/>
              </a:rPr>
              <a:t>Build, test, and ship</a:t>
            </a:r>
            <a:endParaRPr lang="en-US" sz="1050" dirty="0"/>
          </a:p>
          <a:p>
            <a:pPr algn="ctr" indent="0" marL="0">
              <a:buNone/>
            </a:pPr>
            <a:r>
              <a:rPr lang="en-US" sz="1050" dirty="0">
                <a:solidFill>
                  <a:srgbClr val="5A6478"/>
                </a:solidFill>
                <a:latin typeface="Calibri" pitchFamily="34" charset="0"/>
                <a:ea typeface="Calibri" pitchFamily="34" charset="-122"/>
                <a:cs typeface="Calibri" pitchFamily="34" charset="-120"/>
              </a:rPr>
              <a:t>against the approved spec.</a:t>
            </a:r>
            <a:endParaRPr lang="en-US" sz="1050" dirty="0"/>
          </a:p>
        </p:txBody>
      </p:sp>
      <p:pic>
        <p:nvPicPr>
          <p:cNvPr id="56" name="Image 9" descr="preencoded.png">    </p:cNvPr>
          <p:cNvPicPr>
            <a:picLocks noChangeAspect="1"/>
          </p:cNvPicPr>
          <p:nvPr/>
        </p:nvPicPr>
        <p:blipFill>
          <a:blip r:embed="rId10"/>
          <a:stretch>
            <a:fillRect/>
          </a:stretch>
        </p:blipFill>
        <p:spPr>
          <a:xfrm>
            <a:off x="10899648" y="5276088"/>
            <a:ext cx="237744" cy="237744"/>
          </a:xfrm>
          <a:prstGeom prst="rect">
            <a:avLst/>
          </a:prstGeom>
        </p:spPr>
      </p:pic>
      <p:sp>
        <p:nvSpPr>
          <p:cNvPr id="57" name="Shape 45"/>
          <p:cNvSpPr/>
          <p:nvPr/>
        </p:nvSpPr>
        <p:spPr>
          <a:xfrm>
            <a:off x="374904" y="5806440"/>
            <a:ext cx="201168" cy="201168"/>
          </a:xfrm>
          <a:prstGeom prst="ellipse">
            <a:avLst/>
          </a:prstGeom>
          <a:solidFill>
            <a:srgbClr val="2EC4B6"/>
          </a:solidFill>
          <a:ln/>
        </p:spPr>
      </p:sp>
      <p:sp>
        <p:nvSpPr>
          <p:cNvPr id="58" name="Text 46"/>
          <p:cNvSpPr/>
          <p:nvPr/>
        </p:nvSpPr>
        <p:spPr>
          <a:xfrm>
            <a:off x="667512" y="5760720"/>
            <a:ext cx="4114800" cy="292608"/>
          </a:xfrm>
          <a:prstGeom prst="rect">
            <a:avLst/>
          </a:prstGeom>
          <a:noFill/>
          <a:ln/>
        </p:spPr>
        <p:txBody>
          <a:bodyPr wrap="square" lIns="0" tIns="0" rIns="0" bIns="0" rtlCol="0" anchor="ctr"/>
          <a:lstStyle/>
          <a:p>
            <a:pPr indent="0" marL="0">
              <a:buNone/>
            </a:pPr>
            <a:r>
              <a:rPr lang="en-US" sz="1150" b="1" dirty="0">
                <a:solidFill>
                  <a:srgbClr val="1A2333"/>
                </a:solidFill>
                <a:latin typeface="Calibri" pitchFamily="34" charset="0"/>
                <a:ea typeface="Calibri" pitchFamily="34" charset="-122"/>
                <a:cs typeface="Calibri" pitchFamily="34" charset="-120"/>
              </a:rPr>
              <a:t>Business owner is directly involved</a:t>
            </a:r>
            <a:endParaRPr lang="en-US" sz="1150" dirty="0"/>
          </a:p>
        </p:txBody>
      </p:sp>
      <p:sp>
        <p:nvSpPr>
          <p:cNvPr id="59" name="Shape 47"/>
          <p:cNvSpPr/>
          <p:nvPr/>
        </p:nvSpPr>
        <p:spPr>
          <a:xfrm>
            <a:off x="5129784" y="5806440"/>
            <a:ext cx="201168" cy="201168"/>
          </a:xfrm>
          <a:prstGeom prst="ellipse">
            <a:avLst/>
          </a:prstGeom>
          <a:solidFill>
            <a:srgbClr val="12203F"/>
          </a:solidFill>
          <a:ln/>
        </p:spPr>
      </p:sp>
      <p:sp>
        <p:nvSpPr>
          <p:cNvPr id="60" name="Text 48"/>
          <p:cNvSpPr/>
          <p:nvPr/>
        </p:nvSpPr>
        <p:spPr>
          <a:xfrm>
            <a:off x="5404104" y="5760720"/>
            <a:ext cx="3200400" cy="292608"/>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Engineering executes</a:t>
            </a:r>
            <a:endParaRPr lang="en-US" sz="1150" dirty="0"/>
          </a:p>
        </p:txBody>
      </p:sp>
      <p:pic>
        <p:nvPicPr>
          <p:cNvPr id="61" name="Image 10" descr="preencoded.png">    </p:cNvPr>
          <p:cNvPicPr>
            <a:picLocks noChangeAspect="1"/>
          </p:cNvPicPr>
          <p:nvPr/>
        </p:nvPicPr>
        <p:blipFill>
          <a:blip r:embed="rId11"/>
          <a:stretch>
            <a:fillRect/>
          </a:stretch>
        </p:blipFill>
        <p:spPr>
          <a:xfrm>
            <a:off x="8787384" y="5779008"/>
            <a:ext cx="219456" cy="219456"/>
          </a:xfrm>
          <a:prstGeom prst="rect">
            <a:avLst/>
          </a:prstGeom>
        </p:spPr>
      </p:pic>
      <p:sp>
        <p:nvSpPr>
          <p:cNvPr id="62" name="Text 49"/>
          <p:cNvSpPr/>
          <p:nvPr/>
        </p:nvSpPr>
        <p:spPr>
          <a:xfrm>
            <a:off x="9107424" y="5760720"/>
            <a:ext cx="3200400" cy="292608"/>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Approval gate — work blocks here</a:t>
            </a:r>
            <a:endParaRPr lang="en-US" sz="1150" dirty="0"/>
          </a:p>
        </p:txBody>
      </p:sp>
      <p:sp>
        <p:nvSpPr>
          <p:cNvPr id="63" name="Text 50"/>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5A6478"/>
                </a:solidFill>
                <a:latin typeface="Calibri" pitchFamily="34" charset="0"/>
                <a:ea typeface="Calibri" pitchFamily="34" charset="-122"/>
                <a:cs typeface="Calibri" pitchFamily="34" charset="-120"/>
              </a:rPr>
              <a:t>Spec-Driven Development</a:t>
            </a:r>
            <a:endParaRPr lang="en-US" sz="900" dirty="0"/>
          </a:p>
        </p:txBody>
      </p:sp>
      <p:sp>
        <p:nvSpPr>
          <p:cNvPr id="64" name="Text 51"/>
          <p:cNvSpPr/>
          <p:nvPr/>
        </p:nvSpPr>
        <p:spPr>
          <a:xfrm>
            <a:off x="11247120" y="6473952"/>
            <a:ext cx="365760" cy="274320"/>
          </a:xfrm>
          <a:prstGeom prst="rect">
            <a:avLst/>
          </a:prstGeom>
          <a:noFill/>
          <a:ln/>
        </p:spPr>
        <p:txBody>
          <a:bodyPr wrap="square" lIns="0" tIns="0" rIns="0" bIns="0" rtlCol="0" anchor="ctr"/>
          <a:lstStyle/>
          <a:p>
            <a:pPr algn="r" indent="0" marL="0">
              <a:buNone/>
            </a:pPr>
            <a:r>
              <a:rPr lang="en-US" sz="900" dirty="0">
                <a:solidFill>
                  <a:srgbClr val="5A64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94360" y="438912"/>
            <a:ext cx="10972800" cy="292608"/>
          </a:xfrm>
          <a:prstGeom prst="rect">
            <a:avLst/>
          </a:prstGeom>
          <a:noFill/>
          <a:ln/>
        </p:spPr>
        <p:txBody>
          <a:bodyPr wrap="square" lIns="0" tIns="0" rIns="0" bIns="0" rtlCol="0" anchor="ctr"/>
          <a:lstStyle/>
          <a:p>
            <a:pPr indent="0" marL="0">
              <a:buNone/>
            </a:pPr>
            <a:r>
              <a:rPr lang="en-US" sz="1150" b="1" spc="350" kern="0" dirty="0">
                <a:solidFill>
                  <a:srgbClr val="2EC4B6"/>
                </a:solidFill>
                <a:latin typeface="Calibri" pitchFamily="34" charset="0"/>
                <a:ea typeface="Calibri" pitchFamily="34" charset="-122"/>
                <a:cs typeface="Calibri" pitchFamily="34" charset="-120"/>
              </a:rPr>
              <a:t>THE STEPS YOU'RE DIRECTLY INVOLVED IN</a:t>
            </a:r>
            <a:endParaRPr lang="en-US" sz="1150" dirty="0"/>
          </a:p>
        </p:txBody>
      </p:sp>
      <p:sp>
        <p:nvSpPr>
          <p:cNvPr id="3" name="Text 1"/>
          <p:cNvSpPr/>
          <p:nvPr/>
        </p:nvSpPr>
        <p:spPr>
          <a:xfrm>
            <a:off x="594360" y="749808"/>
            <a:ext cx="10972800" cy="868680"/>
          </a:xfrm>
          <a:prstGeom prst="rect">
            <a:avLst/>
          </a:prstGeom>
          <a:noFill/>
          <a:ln/>
        </p:spPr>
        <p:txBody>
          <a:bodyPr wrap="square" lIns="0" tIns="0" rIns="0" bIns="0" rtlCol="0" anchor="ctr"/>
          <a:lstStyle/>
          <a:p>
            <a:pPr indent="0" marL="0">
              <a:buNone/>
            </a:pPr>
            <a:r>
              <a:rPr lang="en-US" sz="3400" b="1" dirty="0">
                <a:solidFill>
                  <a:srgbClr val="1A2333"/>
                </a:solidFill>
                <a:latin typeface="Georgia" pitchFamily="34" charset="0"/>
                <a:ea typeface="Georgia" pitchFamily="34" charset="-122"/>
                <a:cs typeface="Georgia" pitchFamily="34" charset="-120"/>
              </a:rPr>
              <a:t>Phases 1–3: where business strategy meets the process</a:t>
            </a:r>
            <a:endParaRPr lang="en-US" sz="3400" dirty="0"/>
          </a:p>
        </p:txBody>
      </p:sp>
      <p:sp>
        <p:nvSpPr>
          <p:cNvPr id="4" name="Text 2"/>
          <p:cNvSpPr/>
          <p:nvPr/>
        </p:nvSpPr>
        <p:spPr>
          <a:xfrm>
            <a:off x="594360" y="1572768"/>
            <a:ext cx="10972800" cy="347472"/>
          </a:xfrm>
          <a:prstGeom prst="rect">
            <a:avLst/>
          </a:prstGeom>
          <a:noFill/>
          <a:ln/>
        </p:spPr>
        <p:txBody>
          <a:bodyPr wrap="square" lIns="0" tIns="0" rIns="0" bIns="0" rtlCol="0" anchor="ctr"/>
          <a:lstStyle/>
          <a:p>
            <a:pPr indent="0" marL="0">
              <a:buNone/>
            </a:pPr>
            <a:r>
              <a:rPr lang="en-US" sz="1400" dirty="0">
                <a:solidFill>
                  <a:srgbClr val="5A6478"/>
                </a:solidFill>
                <a:latin typeface="Calibri" pitchFamily="34" charset="0"/>
                <a:ea typeface="Calibri" pitchFamily="34" charset="-122"/>
                <a:cs typeface="Calibri" pitchFamily="34" charset="-120"/>
              </a:rPr>
              <a:t>These three steps happen before any engineering work begins. Your involvement here prevents every costly surprise later.</a:t>
            </a:r>
            <a:endParaRPr lang="en-US" sz="1400" dirty="0"/>
          </a:p>
        </p:txBody>
      </p:sp>
      <p:sp>
        <p:nvSpPr>
          <p:cNvPr id="5" name="Shape 3"/>
          <p:cNvSpPr/>
          <p:nvPr/>
        </p:nvSpPr>
        <p:spPr>
          <a:xfrm>
            <a:off x="525780" y="2103120"/>
            <a:ext cx="3520440" cy="4343400"/>
          </a:xfrm>
          <a:prstGeom prst="rect">
            <a:avLst/>
          </a:prstGeom>
          <a:solidFill>
            <a:srgbClr val="FFFFFF"/>
          </a:solidFill>
          <a:ln w="12700">
            <a:solidFill>
              <a:srgbClr val="D8E2F0"/>
            </a:solidFill>
            <a:prstDash val="solid"/>
          </a:ln>
          <a:effectLst>
            <a:outerShdw sx="100000" sy="100000" kx="0" ky="0" algn="bl" rotWithShape="0" blurRad="127000" dist="38100" dir="8100000">
              <a:srgbClr val="000000">
                <a:alpha val="14000"/>
              </a:srgbClr>
            </a:outerShdw>
          </a:effectLst>
        </p:spPr>
      </p:sp>
      <p:sp>
        <p:nvSpPr>
          <p:cNvPr id="6" name="Shape 4"/>
          <p:cNvSpPr/>
          <p:nvPr/>
        </p:nvSpPr>
        <p:spPr>
          <a:xfrm>
            <a:off x="525780" y="2103120"/>
            <a:ext cx="3520440" cy="960120"/>
          </a:xfrm>
          <a:prstGeom prst="rect">
            <a:avLst/>
          </a:prstGeom>
          <a:solidFill>
            <a:srgbClr val="12203F"/>
          </a:solidFill>
          <a:ln/>
        </p:spPr>
      </p:sp>
      <p:sp>
        <p:nvSpPr>
          <p:cNvPr id="7" name="Shape 5"/>
          <p:cNvSpPr/>
          <p:nvPr/>
        </p:nvSpPr>
        <p:spPr>
          <a:xfrm>
            <a:off x="845820" y="2304288"/>
            <a:ext cx="566928" cy="566928"/>
          </a:xfrm>
          <a:prstGeom prst="ellipse">
            <a:avLst/>
          </a:prstGeom>
          <a:solidFill>
            <a:srgbClr val="1B2E54"/>
          </a:solidFill>
          <a:ln/>
        </p:spPr>
      </p:sp>
      <p:pic>
        <p:nvPicPr>
          <p:cNvPr id="8" name="Image 0" descr="preencoded.png">    </p:cNvPr>
          <p:cNvPicPr>
            <a:picLocks noChangeAspect="1"/>
          </p:cNvPicPr>
          <p:nvPr/>
        </p:nvPicPr>
        <p:blipFill>
          <a:blip r:embed="rId1"/>
          <a:stretch>
            <a:fillRect/>
          </a:stretch>
        </p:blipFill>
        <p:spPr>
          <a:xfrm>
            <a:off x="970544" y="2429012"/>
            <a:ext cx="317480" cy="317480"/>
          </a:xfrm>
          <a:prstGeom prst="rect">
            <a:avLst/>
          </a:prstGeom>
        </p:spPr>
      </p:pic>
      <p:sp>
        <p:nvSpPr>
          <p:cNvPr id="9" name="Text 6"/>
          <p:cNvSpPr/>
          <p:nvPr/>
        </p:nvSpPr>
        <p:spPr>
          <a:xfrm>
            <a:off x="1577340" y="2286000"/>
            <a:ext cx="2377440" cy="256032"/>
          </a:xfrm>
          <a:prstGeom prst="rect">
            <a:avLst/>
          </a:prstGeom>
          <a:noFill/>
          <a:ln/>
        </p:spPr>
        <p:txBody>
          <a:bodyPr wrap="square" lIns="0" tIns="0" rIns="0" bIns="0"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PHASE 1</a:t>
            </a:r>
            <a:endParaRPr lang="en-US" sz="1000" dirty="0"/>
          </a:p>
        </p:txBody>
      </p:sp>
      <p:sp>
        <p:nvSpPr>
          <p:cNvPr id="10" name="Text 7"/>
          <p:cNvSpPr/>
          <p:nvPr/>
        </p:nvSpPr>
        <p:spPr>
          <a:xfrm>
            <a:off x="1577340" y="2560320"/>
            <a:ext cx="2377440" cy="438912"/>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Constitution</a:t>
            </a:r>
            <a:endParaRPr lang="en-US" sz="2000" dirty="0"/>
          </a:p>
        </p:txBody>
      </p:sp>
      <p:sp>
        <p:nvSpPr>
          <p:cNvPr id="11" name="Text 8"/>
          <p:cNvSpPr/>
          <p:nvPr/>
        </p:nvSpPr>
        <p:spPr>
          <a:xfrm>
            <a:off x="800100" y="3200400"/>
            <a:ext cx="3063240" cy="1572768"/>
          </a:xfrm>
          <a:prstGeom prst="rect">
            <a:avLst/>
          </a:prstGeom>
          <a:noFill/>
          <a:ln/>
        </p:spPr>
        <p:txBody>
          <a:bodyPr wrap="square" lIns="0" tIns="0" rIns="0" bIns="0" rtlCol="0" anchor="ctr"/>
          <a:lstStyle/>
          <a:p>
            <a:pPr indent="0" marL="0">
              <a:buNone/>
            </a:pPr>
            <a:r>
              <a:rPr lang="en-US" sz="1200" dirty="0">
                <a:solidFill>
                  <a:srgbClr val="1A2333"/>
                </a:solidFill>
                <a:latin typeface="Calibri" pitchFamily="34" charset="0"/>
                <a:ea typeface="Calibri" pitchFamily="34" charset="-122"/>
                <a:cs typeface="Calibri" pitchFamily="34" charset="-120"/>
              </a:rPr>
              <a:t>Before any feature begins, the team documents the principles that govern the entire product: design standards, technical constraints, compliance rules, what we will and won't do. This document is written once and applies to every feature that follows.</a:t>
            </a:r>
            <a:endParaRPr lang="en-US" sz="1200" dirty="0"/>
          </a:p>
        </p:txBody>
      </p:sp>
      <p:sp>
        <p:nvSpPr>
          <p:cNvPr id="12" name="Shape 9"/>
          <p:cNvSpPr/>
          <p:nvPr/>
        </p:nvSpPr>
        <p:spPr>
          <a:xfrm>
            <a:off x="800100" y="4828032"/>
            <a:ext cx="3108960" cy="0"/>
          </a:xfrm>
          <a:prstGeom prst="line">
            <a:avLst/>
          </a:prstGeom>
          <a:noFill/>
          <a:ln w="9525">
            <a:solidFill>
              <a:srgbClr val="D8E2F0"/>
            </a:solidFill>
            <a:prstDash val="solid"/>
          </a:ln>
        </p:spPr>
      </p:sp>
      <p:sp>
        <p:nvSpPr>
          <p:cNvPr id="13" name="Text 10"/>
          <p:cNvSpPr/>
          <p:nvPr/>
        </p:nvSpPr>
        <p:spPr>
          <a:xfrm>
            <a:off x="800100" y="4892040"/>
            <a:ext cx="1005840" cy="219456"/>
          </a:xfrm>
          <a:prstGeom prst="rect">
            <a:avLst/>
          </a:prstGeom>
          <a:noFill/>
          <a:ln/>
        </p:spPr>
        <p:txBody>
          <a:bodyPr wrap="square" lIns="0" tIns="0" rIns="0" bIns="0" rtlCol="0" anchor="ctr"/>
          <a:lstStyle/>
          <a:p>
            <a:pPr indent="0" marL="0">
              <a:buNone/>
            </a:pPr>
            <a:r>
              <a:rPr lang="en-US" sz="800" b="1" spc="150" kern="0" dirty="0">
                <a:solidFill>
                  <a:srgbClr val="5A6478"/>
                </a:solidFill>
                <a:latin typeface="Calibri" pitchFamily="34" charset="0"/>
                <a:ea typeface="Calibri" pitchFamily="34" charset="-122"/>
                <a:cs typeface="Calibri" pitchFamily="34" charset="-120"/>
              </a:rPr>
              <a:t>PRODUCES</a:t>
            </a:r>
            <a:endParaRPr lang="en-US" sz="800" dirty="0"/>
          </a:p>
        </p:txBody>
      </p:sp>
      <p:pic>
        <p:nvPicPr>
          <p:cNvPr id="14" name="Image 1" descr="preencoded.png">    </p:cNvPr>
          <p:cNvPicPr>
            <a:picLocks noChangeAspect="1"/>
          </p:cNvPicPr>
          <p:nvPr/>
        </p:nvPicPr>
        <p:blipFill>
          <a:blip r:embed="rId2"/>
          <a:stretch>
            <a:fillRect/>
          </a:stretch>
        </p:blipFill>
        <p:spPr>
          <a:xfrm>
            <a:off x="1824228" y="4882896"/>
            <a:ext cx="182880" cy="182880"/>
          </a:xfrm>
          <a:prstGeom prst="rect">
            <a:avLst/>
          </a:prstGeom>
        </p:spPr>
      </p:pic>
      <p:sp>
        <p:nvSpPr>
          <p:cNvPr id="15" name="Text 11"/>
          <p:cNvSpPr/>
          <p:nvPr/>
        </p:nvSpPr>
        <p:spPr>
          <a:xfrm>
            <a:off x="2061972" y="4873752"/>
            <a:ext cx="1783080" cy="237744"/>
          </a:xfrm>
          <a:prstGeom prst="rect">
            <a:avLst/>
          </a:prstGeom>
          <a:noFill/>
          <a:ln/>
        </p:spPr>
        <p:txBody>
          <a:bodyPr wrap="square" lIns="0" tIns="0" rIns="0" bIns="0" rtlCol="0" anchor="ctr"/>
          <a:lstStyle/>
          <a:p>
            <a:pPr indent="0" marL="0">
              <a:buNone/>
            </a:pPr>
            <a:r>
              <a:rPr lang="en-US" sz="1100" b="1" dirty="0">
                <a:solidFill>
                  <a:srgbClr val="1A2333"/>
                </a:solidFill>
                <a:latin typeface="Calibri" pitchFamily="34" charset="0"/>
                <a:ea typeface="Calibri" pitchFamily="34" charset="-122"/>
                <a:cs typeface="Calibri" pitchFamily="34" charset="-120"/>
              </a:rPr>
              <a:t>constitution.md</a:t>
            </a:r>
            <a:endParaRPr lang="en-US" sz="1100" dirty="0"/>
          </a:p>
        </p:txBody>
      </p:sp>
      <p:sp>
        <p:nvSpPr>
          <p:cNvPr id="16" name="Text 12"/>
          <p:cNvSpPr/>
          <p:nvPr/>
        </p:nvSpPr>
        <p:spPr>
          <a:xfrm>
            <a:off x="800100" y="5138928"/>
            <a:ext cx="914400" cy="219456"/>
          </a:xfrm>
          <a:prstGeom prst="rect">
            <a:avLst/>
          </a:prstGeom>
          <a:noFill/>
          <a:ln/>
        </p:spPr>
        <p:txBody>
          <a:bodyPr wrap="square" lIns="0" tIns="0" rIns="0" bIns="0" rtlCol="0" anchor="ctr"/>
          <a:lstStyle/>
          <a:p>
            <a:pPr indent="0" marL="0">
              <a:buNone/>
            </a:pPr>
            <a:r>
              <a:rPr lang="en-US" sz="800" b="1" spc="150" kern="0" dirty="0">
                <a:solidFill>
                  <a:srgbClr val="5A6478"/>
                </a:solidFill>
                <a:latin typeface="Calibri" pitchFamily="34" charset="0"/>
                <a:ea typeface="Calibri" pitchFamily="34" charset="-122"/>
                <a:cs typeface="Calibri" pitchFamily="34" charset="-120"/>
              </a:rPr>
              <a:t>OWNER</a:t>
            </a:r>
            <a:endParaRPr lang="en-US" sz="800" dirty="0"/>
          </a:p>
        </p:txBody>
      </p:sp>
      <p:sp>
        <p:nvSpPr>
          <p:cNvPr id="17" name="Text 13"/>
          <p:cNvSpPr/>
          <p:nvPr/>
        </p:nvSpPr>
        <p:spPr>
          <a:xfrm>
            <a:off x="1824228" y="5120640"/>
            <a:ext cx="2057400" cy="237744"/>
          </a:xfrm>
          <a:prstGeom prst="rect">
            <a:avLst/>
          </a:prstGeom>
          <a:noFill/>
          <a:ln/>
        </p:spPr>
        <p:txBody>
          <a:bodyPr wrap="square" lIns="0" tIns="0" rIns="0" bIns="0" rtlCol="0" anchor="ctr"/>
          <a:lstStyle/>
          <a:p>
            <a:pPr indent="0" marL="0">
              <a:buNone/>
            </a:pPr>
            <a:r>
              <a:rPr lang="en-US" sz="1100" dirty="0">
                <a:solidFill>
                  <a:srgbClr val="1A2333"/>
                </a:solidFill>
                <a:latin typeface="Calibri" pitchFamily="34" charset="0"/>
                <a:ea typeface="Calibri" pitchFamily="34" charset="-122"/>
                <a:cs typeface="Calibri" pitchFamily="34" charset="-120"/>
              </a:rPr>
              <a:t>PM + Tech Lead</a:t>
            </a:r>
            <a:endParaRPr lang="en-US" sz="1100" dirty="0"/>
          </a:p>
        </p:txBody>
      </p:sp>
      <p:sp>
        <p:nvSpPr>
          <p:cNvPr id="18" name="Shape 14"/>
          <p:cNvSpPr/>
          <p:nvPr/>
        </p:nvSpPr>
        <p:spPr>
          <a:xfrm>
            <a:off x="800100" y="5440680"/>
            <a:ext cx="3108960" cy="868680"/>
          </a:xfrm>
          <a:prstGeom prst="rect">
            <a:avLst/>
          </a:prstGeom>
          <a:solidFill>
            <a:srgbClr val="F4F6FB"/>
          </a:solidFill>
          <a:ln w="6350">
            <a:solidFill>
              <a:srgbClr val="D8E2F0"/>
            </a:solidFill>
            <a:prstDash val="solid"/>
          </a:ln>
        </p:spPr>
      </p:sp>
      <p:sp>
        <p:nvSpPr>
          <p:cNvPr id="19" name="Text 15"/>
          <p:cNvSpPr/>
          <p:nvPr/>
        </p:nvSpPr>
        <p:spPr>
          <a:xfrm>
            <a:off x="909828" y="5504688"/>
            <a:ext cx="2953512" cy="713232"/>
          </a:xfrm>
          <a:prstGeom prst="rect">
            <a:avLst/>
          </a:prstGeom>
          <a:noFill/>
          <a:ln/>
        </p:spPr>
        <p:txBody>
          <a:bodyPr wrap="square" lIns="0" tIns="0" rIns="0" bIns="0" rtlCol="0" anchor="ctr"/>
          <a:lstStyle/>
          <a:p>
            <a:pPr indent="0" marL="0">
              <a:buNone/>
            </a:pPr>
            <a:r>
              <a:rPr lang="en-US" sz="1050" i="1" dirty="0">
                <a:solidFill>
                  <a:srgbClr val="5A6478"/>
                </a:solidFill>
                <a:latin typeface="Calibri" pitchFamily="34" charset="0"/>
                <a:ea typeface="Calibri" pitchFamily="34" charset="-122"/>
                <a:cs typeface="Calibri" pitchFamily="34" charset="-120"/>
              </a:rPr>
              <a:t>Without this, every team member makes their own judgment calls. Inconsistency builds up silently across features.</a:t>
            </a:r>
            <a:endParaRPr lang="en-US" sz="1050" dirty="0"/>
          </a:p>
        </p:txBody>
      </p:sp>
      <p:sp>
        <p:nvSpPr>
          <p:cNvPr id="20" name="Shape 16"/>
          <p:cNvSpPr/>
          <p:nvPr/>
        </p:nvSpPr>
        <p:spPr>
          <a:xfrm>
            <a:off x="4320540" y="2103120"/>
            <a:ext cx="3520440" cy="4343400"/>
          </a:xfrm>
          <a:prstGeom prst="rect">
            <a:avLst/>
          </a:prstGeom>
          <a:solidFill>
            <a:srgbClr val="FFFFFF"/>
          </a:solidFill>
          <a:ln w="12700">
            <a:solidFill>
              <a:srgbClr val="D8E2F0"/>
            </a:solidFill>
            <a:prstDash val="solid"/>
          </a:ln>
          <a:effectLst>
            <a:outerShdw sx="100000" sy="100000" kx="0" ky="0" algn="bl" rotWithShape="0" blurRad="127000" dist="38100" dir="8100000">
              <a:srgbClr val="000000">
                <a:alpha val="14000"/>
              </a:srgbClr>
            </a:outerShdw>
          </a:effectLst>
        </p:spPr>
      </p:sp>
      <p:sp>
        <p:nvSpPr>
          <p:cNvPr id="21" name="Shape 17"/>
          <p:cNvSpPr/>
          <p:nvPr/>
        </p:nvSpPr>
        <p:spPr>
          <a:xfrm>
            <a:off x="4320540" y="2103120"/>
            <a:ext cx="3520440" cy="960120"/>
          </a:xfrm>
          <a:prstGeom prst="rect">
            <a:avLst/>
          </a:prstGeom>
          <a:solidFill>
            <a:srgbClr val="2EC4B6"/>
          </a:solidFill>
          <a:ln/>
        </p:spPr>
      </p:sp>
      <p:sp>
        <p:nvSpPr>
          <p:cNvPr id="22" name="Shape 18"/>
          <p:cNvSpPr/>
          <p:nvPr/>
        </p:nvSpPr>
        <p:spPr>
          <a:xfrm>
            <a:off x="4640580" y="2304288"/>
            <a:ext cx="566928" cy="566928"/>
          </a:xfrm>
          <a:prstGeom prst="ellipse">
            <a:avLst/>
          </a:prstGeom>
          <a:solidFill>
            <a:srgbClr val="227F79"/>
          </a:solidFill>
          <a:ln/>
        </p:spPr>
      </p:sp>
      <p:pic>
        <p:nvPicPr>
          <p:cNvPr id="23" name="Image 2" descr="preencoded.png">    </p:cNvPr>
          <p:cNvPicPr>
            <a:picLocks noChangeAspect="1"/>
          </p:cNvPicPr>
          <p:nvPr/>
        </p:nvPicPr>
        <p:blipFill>
          <a:blip r:embed="rId3"/>
          <a:stretch>
            <a:fillRect/>
          </a:stretch>
        </p:blipFill>
        <p:spPr>
          <a:xfrm>
            <a:off x="4765304" y="2429012"/>
            <a:ext cx="317480" cy="317480"/>
          </a:xfrm>
          <a:prstGeom prst="rect">
            <a:avLst/>
          </a:prstGeom>
        </p:spPr>
      </p:pic>
      <p:sp>
        <p:nvSpPr>
          <p:cNvPr id="24" name="Text 19"/>
          <p:cNvSpPr/>
          <p:nvPr/>
        </p:nvSpPr>
        <p:spPr>
          <a:xfrm>
            <a:off x="5372100" y="2286000"/>
            <a:ext cx="2377440" cy="256032"/>
          </a:xfrm>
          <a:prstGeom prst="rect">
            <a:avLst/>
          </a:prstGeom>
          <a:noFill/>
          <a:ln/>
        </p:spPr>
        <p:txBody>
          <a:bodyPr wrap="square" lIns="0" tIns="0" rIns="0" bIns="0"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PHASE 2</a:t>
            </a:r>
            <a:endParaRPr lang="en-US" sz="1000" dirty="0"/>
          </a:p>
        </p:txBody>
      </p:sp>
      <p:sp>
        <p:nvSpPr>
          <p:cNvPr id="25" name="Text 20"/>
          <p:cNvSpPr/>
          <p:nvPr/>
        </p:nvSpPr>
        <p:spPr>
          <a:xfrm>
            <a:off x="5372100" y="2560320"/>
            <a:ext cx="2377440" cy="438912"/>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Specify</a:t>
            </a:r>
            <a:endParaRPr lang="en-US" sz="2000" dirty="0"/>
          </a:p>
        </p:txBody>
      </p:sp>
      <p:sp>
        <p:nvSpPr>
          <p:cNvPr id="26" name="Text 21"/>
          <p:cNvSpPr/>
          <p:nvPr/>
        </p:nvSpPr>
        <p:spPr>
          <a:xfrm>
            <a:off x="4594860" y="3200400"/>
            <a:ext cx="3063240" cy="1572768"/>
          </a:xfrm>
          <a:prstGeom prst="rect">
            <a:avLst/>
          </a:prstGeom>
          <a:noFill/>
          <a:ln/>
        </p:spPr>
        <p:txBody>
          <a:bodyPr wrap="square" lIns="0" tIns="0" rIns="0" bIns="0" rtlCol="0" anchor="ctr"/>
          <a:lstStyle/>
          <a:p>
            <a:pPr indent="0" marL="0">
              <a:buNone/>
            </a:pPr>
            <a:r>
              <a:rPr lang="en-US" sz="1200" dirty="0">
                <a:solidFill>
                  <a:srgbClr val="1A2333"/>
                </a:solidFill>
                <a:latin typeface="Calibri" pitchFamily="34" charset="0"/>
                <a:ea typeface="Calibri" pitchFamily="34" charset="-122"/>
                <a:cs typeface="Calibri" pitchFamily="34" charset="-120"/>
              </a:rPr>
              <a:t>The business owner (or PM) writes — in plain English — what the feature should do, why it matters to the user, and how you'll know it's done. No technical language. This spec is the source of truth for everything that follows.</a:t>
            </a:r>
            <a:endParaRPr lang="en-US" sz="1200" dirty="0"/>
          </a:p>
        </p:txBody>
      </p:sp>
      <p:sp>
        <p:nvSpPr>
          <p:cNvPr id="27" name="Shape 22"/>
          <p:cNvSpPr/>
          <p:nvPr/>
        </p:nvSpPr>
        <p:spPr>
          <a:xfrm>
            <a:off x="4594860" y="4828032"/>
            <a:ext cx="3108960" cy="0"/>
          </a:xfrm>
          <a:prstGeom prst="line">
            <a:avLst/>
          </a:prstGeom>
          <a:noFill/>
          <a:ln w="9525">
            <a:solidFill>
              <a:srgbClr val="D8E2F0"/>
            </a:solidFill>
            <a:prstDash val="solid"/>
          </a:ln>
        </p:spPr>
      </p:sp>
      <p:sp>
        <p:nvSpPr>
          <p:cNvPr id="28" name="Text 23"/>
          <p:cNvSpPr/>
          <p:nvPr/>
        </p:nvSpPr>
        <p:spPr>
          <a:xfrm>
            <a:off x="4594860" y="4892040"/>
            <a:ext cx="1005840" cy="219456"/>
          </a:xfrm>
          <a:prstGeom prst="rect">
            <a:avLst/>
          </a:prstGeom>
          <a:noFill/>
          <a:ln/>
        </p:spPr>
        <p:txBody>
          <a:bodyPr wrap="square" lIns="0" tIns="0" rIns="0" bIns="0" rtlCol="0" anchor="ctr"/>
          <a:lstStyle/>
          <a:p>
            <a:pPr indent="0" marL="0">
              <a:buNone/>
            </a:pPr>
            <a:r>
              <a:rPr lang="en-US" sz="800" b="1" spc="150" kern="0" dirty="0">
                <a:solidFill>
                  <a:srgbClr val="5A6478"/>
                </a:solidFill>
                <a:latin typeface="Calibri" pitchFamily="34" charset="0"/>
                <a:ea typeface="Calibri" pitchFamily="34" charset="-122"/>
                <a:cs typeface="Calibri" pitchFamily="34" charset="-120"/>
              </a:rPr>
              <a:t>PRODUCES</a:t>
            </a:r>
            <a:endParaRPr lang="en-US" sz="800" dirty="0"/>
          </a:p>
        </p:txBody>
      </p:sp>
      <p:pic>
        <p:nvPicPr>
          <p:cNvPr id="29" name="Image 3" descr="preencoded.png">    </p:cNvPr>
          <p:cNvPicPr>
            <a:picLocks noChangeAspect="1"/>
          </p:cNvPicPr>
          <p:nvPr/>
        </p:nvPicPr>
        <p:blipFill>
          <a:blip r:embed="rId4"/>
          <a:stretch>
            <a:fillRect/>
          </a:stretch>
        </p:blipFill>
        <p:spPr>
          <a:xfrm>
            <a:off x="5618988" y="4882896"/>
            <a:ext cx="182880" cy="182880"/>
          </a:xfrm>
          <a:prstGeom prst="rect">
            <a:avLst/>
          </a:prstGeom>
        </p:spPr>
      </p:pic>
      <p:sp>
        <p:nvSpPr>
          <p:cNvPr id="30" name="Text 24"/>
          <p:cNvSpPr/>
          <p:nvPr/>
        </p:nvSpPr>
        <p:spPr>
          <a:xfrm>
            <a:off x="5856732" y="4873752"/>
            <a:ext cx="1783080" cy="237744"/>
          </a:xfrm>
          <a:prstGeom prst="rect">
            <a:avLst/>
          </a:prstGeom>
          <a:noFill/>
          <a:ln/>
        </p:spPr>
        <p:txBody>
          <a:bodyPr wrap="square" lIns="0" tIns="0" rIns="0" bIns="0" rtlCol="0" anchor="ctr"/>
          <a:lstStyle/>
          <a:p>
            <a:pPr indent="0" marL="0">
              <a:buNone/>
            </a:pPr>
            <a:r>
              <a:rPr lang="en-US" sz="1100" b="1" dirty="0">
                <a:solidFill>
                  <a:srgbClr val="1A2333"/>
                </a:solidFill>
                <a:latin typeface="Calibri" pitchFamily="34" charset="0"/>
                <a:ea typeface="Calibri" pitchFamily="34" charset="-122"/>
                <a:cs typeface="Calibri" pitchFamily="34" charset="-120"/>
              </a:rPr>
              <a:t>spec.md</a:t>
            </a:r>
            <a:endParaRPr lang="en-US" sz="1100" dirty="0"/>
          </a:p>
        </p:txBody>
      </p:sp>
      <p:sp>
        <p:nvSpPr>
          <p:cNvPr id="31" name="Text 25"/>
          <p:cNvSpPr/>
          <p:nvPr/>
        </p:nvSpPr>
        <p:spPr>
          <a:xfrm>
            <a:off x="4594860" y="5138928"/>
            <a:ext cx="914400" cy="219456"/>
          </a:xfrm>
          <a:prstGeom prst="rect">
            <a:avLst/>
          </a:prstGeom>
          <a:noFill/>
          <a:ln/>
        </p:spPr>
        <p:txBody>
          <a:bodyPr wrap="square" lIns="0" tIns="0" rIns="0" bIns="0" rtlCol="0" anchor="ctr"/>
          <a:lstStyle/>
          <a:p>
            <a:pPr indent="0" marL="0">
              <a:buNone/>
            </a:pPr>
            <a:r>
              <a:rPr lang="en-US" sz="800" b="1" spc="150" kern="0" dirty="0">
                <a:solidFill>
                  <a:srgbClr val="5A6478"/>
                </a:solidFill>
                <a:latin typeface="Calibri" pitchFamily="34" charset="0"/>
                <a:ea typeface="Calibri" pitchFamily="34" charset="-122"/>
                <a:cs typeface="Calibri" pitchFamily="34" charset="-120"/>
              </a:rPr>
              <a:t>OWNER</a:t>
            </a:r>
            <a:endParaRPr lang="en-US" sz="800" dirty="0"/>
          </a:p>
        </p:txBody>
      </p:sp>
      <p:sp>
        <p:nvSpPr>
          <p:cNvPr id="32" name="Text 26"/>
          <p:cNvSpPr/>
          <p:nvPr/>
        </p:nvSpPr>
        <p:spPr>
          <a:xfrm>
            <a:off x="5618988" y="5120640"/>
            <a:ext cx="2057400" cy="237744"/>
          </a:xfrm>
          <a:prstGeom prst="rect">
            <a:avLst/>
          </a:prstGeom>
          <a:noFill/>
          <a:ln/>
        </p:spPr>
        <p:txBody>
          <a:bodyPr wrap="square" lIns="0" tIns="0" rIns="0" bIns="0" rtlCol="0" anchor="ctr"/>
          <a:lstStyle/>
          <a:p>
            <a:pPr indent="0" marL="0">
              <a:buNone/>
            </a:pPr>
            <a:r>
              <a:rPr lang="en-US" sz="1100" dirty="0">
                <a:solidFill>
                  <a:srgbClr val="1A2333"/>
                </a:solidFill>
                <a:latin typeface="Calibri" pitchFamily="34" charset="0"/>
                <a:ea typeface="Calibri" pitchFamily="34" charset="-122"/>
                <a:cs typeface="Calibri" pitchFamily="34" charset="-120"/>
              </a:rPr>
              <a:t>Business Owner / PM</a:t>
            </a:r>
            <a:endParaRPr lang="en-US" sz="1100" dirty="0"/>
          </a:p>
        </p:txBody>
      </p:sp>
      <p:sp>
        <p:nvSpPr>
          <p:cNvPr id="33" name="Shape 27"/>
          <p:cNvSpPr/>
          <p:nvPr/>
        </p:nvSpPr>
        <p:spPr>
          <a:xfrm>
            <a:off x="4594860" y="5440680"/>
            <a:ext cx="3108960" cy="868680"/>
          </a:xfrm>
          <a:prstGeom prst="rect">
            <a:avLst/>
          </a:prstGeom>
          <a:solidFill>
            <a:srgbClr val="E4F8F7"/>
          </a:solidFill>
          <a:ln w="12700">
            <a:solidFill>
              <a:srgbClr val="2EC4B6"/>
            </a:solidFill>
            <a:prstDash val="solid"/>
          </a:ln>
        </p:spPr>
      </p:sp>
      <p:pic>
        <p:nvPicPr>
          <p:cNvPr id="34" name="Image 4" descr="preencoded.png">    </p:cNvPr>
          <p:cNvPicPr>
            <a:picLocks noChangeAspect="1"/>
          </p:cNvPicPr>
          <p:nvPr/>
        </p:nvPicPr>
        <p:blipFill>
          <a:blip r:embed="rId5"/>
          <a:stretch>
            <a:fillRect/>
          </a:stretch>
        </p:blipFill>
        <p:spPr>
          <a:xfrm>
            <a:off x="4704588" y="5504688"/>
            <a:ext cx="201168" cy="201168"/>
          </a:xfrm>
          <a:prstGeom prst="rect">
            <a:avLst/>
          </a:prstGeom>
        </p:spPr>
      </p:pic>
      <p:sp>
        <p:nvSpPr>
          <p:cNvPr id="35" name="Text 28"/>
          <p:cNvSpPr/>
          <p:nvPr/>
        </p:nvSpPr>
        <p:spPr>
          <a:xfrm>
            <a:off x="4978908" y="5477256"/>
            <a:ext cx="1645920" cy="237744"/>
          </a:xfrm>
          <a:prstGeom prst="rect">
            <a:avLst/>
          </a:prstGeom>
          <a:noFill/>
          <a:ln/>
        </p:spPr>
        <p:txBody>
          <a:bodyPr wrap="square" lIns="0" tIns="0" rIns="0" bIns="0" rtlCol="0" anchor="ctr"/>
          <a:lstStyle/>
          <a:p>
            <a:pPr indent="0" marL="0">
              <a:buNone/>
            </a:pPr>
            <a:r>
              <a:rPr lang="en-US" sz="900" b="1" spc="100" kern="0" dirty="0">
                <a:solidFill>
                  <a:srgbClr val="2EC4B6"/>
                </a:solidFill>
                <a:latin typeface="Calibri" pitchFamily="34" charset="0"/>
                <a:ea typeface="Calibri" pitchFamily="34" charset="-122"/>
                <a:cs typeface="Calibri" pitchFamily="34" charset="-120"/>
              </a:rPr>
              <a:t>APPROVAL GATE</a:t>
            </a:r>
            <a:endParaRPr lang="en-US" sz="900" dirty="0"/>
          </a:p>
        </p:txBody>
      </p:sp>
      <p:sp>
        <p:nvSpPr>
          <p:cNvPr id="36" name="Text 29"/>
          <p:cNvSpPr/>
          <p:nvPr/>
        </p:nvSpPr>
        <p:spPr>
          <a:xfrm>
            <a:off x="4704588" y="5724144"/>
            <a:ext cx="2953512" cy="475488"/>
          </a:xfrm>
          <a:prstGeom prst="rect">
            <a:avLst/>
          </a:prstGeom>
          <a:noFill/>
          <a:ln/>
        </p:spPr>
        <p:txBody>
          <a:bodyPr wrap="square" lIns="0" tIns="0" rIns="0" bIns="0" rtlCol="0" anchor="ctr"/>
          <a:lstStyle/>
          <a:p>
            <a:pPr indent="0" marL="0">
              <a:buNone/>
            </a:pPr>
            <a:r>
              <a:rPr lang="en-US" sz="1000" i="1" dirty="0">
                <a:solidFill>
                  <a:srgbClr val="2EC4B6"/>
                </a:solidFill>
                <a:latin typeface="Calibri" pitchFamily="34" charset="0"/>
                <a:ea typeface="Calibri" pitchFamily="34" charset="-122"/>
                <a:cs typeface="Calibri" pitchFamily="34" charset="-120"/>
              </a:rPr>
              <a:t>Engineering cannot start planning until this spec is formally approved. A vague spec produces a vague product.</a:t>
            </a:r>
            <a:endParaRPr lang="en-US" sz="1000" dirty="0"/>
          </a:p>
        </p:txBody>
      </p:sp>
      <p:sp>
        <p:nvSpPr>
          <p:cNvPr id="37" name="Shape 30"/>
          <p:cNvSpPr/>
          <p:nvPr/>
        </p:nvSpPr>
        <p:spPr>
          <a:xfrm>
            <a:off x="8115300" y="2103120"/>
            <a:ext cx="3520440" cy="4343400"/>
          </a:xfrm>
          <a:prstGeom prst="rect">
            <a:avLst/>
          </a:prstGeom>
          <a:solidFill>
            <a:srgbClr val="FFFFFF"/>
          </a:solidFill>
          <a:ln w="12700">
            <a:solidFill>
              <a:srgbClr val="D8E2F0"/>
            </a:solidFill>
            <a:prstDash val="solid"/>
          </a:ln>
          <a:effectLst>
            <a:outerShdw sx="100000" sy="100000" kx="0" ky="0" algn="bl" rotWithShape="0" blurRad="127000" dist="38100" dir="8100000">
              <a:srgbClr val="000000">
                <a:alpha val="14000"/>
              </a:srgbClr>
            </a:outerShdw>
          </a:effectLst>
        </p:spPr>
      </p:sp>
      <p:sp>
        <p:nvSpPr>
          <p:cNvPr id="38" name="Shape 31"/>
          <p:cNvSpPr/>
          <p:nvPr/>
        </p:nvSpPr>
        <p:spPr>
          <a:xfrm>
            <a:off x="8115300" y="2103120"/>
            <a:ext cx="3520440" cy="960120"/>
          </a:xfrm>
          <a:prstGeom prst="rect">
            <a:avLst/>
          </a:prstGeom>
          <a:solidFill>
            <a:srgbClr val="2EC4B6"/>
          </a:solidFill>
          <a:ln/>
        </p:spPr>
      </p:sp>
      <p:sp>
        <p:nvSpPr>
          <p:cNvPr id="39" name="Shape 32"/>
          <p:cNvSpPr/>
          <p:nvPr/>
        </p:nvSpPr>
        <p:spPr>
          <a:xfrm>
            <a:off x="8435340" y="2304288"/>
            <a:ext cx="566928" cy="566928"/>
          </a:xfrm>
          <a:prstGeom prst="ellipse">
            <a:avLst/>
          </a:prstGeom>
          <a:solidFill>
            <a:srgbClr val="227F79"/>
          </a:solidFill>
          <a:ln/>
        </p:spPr>
      </p:sp>
      <p:pic>
        <p:nvPicPr>
          <p:cNvPr id="40" name="Image 5" descr="preencoded.png">    </p:cNvPr>
          <p:cNvPicPr>
            <a:picLocks noChangeAspect="1"/>
          </p:cNvPicPr>
          <p:nvPr/>
        </p:nvPicPr>
        <p:blipFill>
          <a:blip r:embed="rId6"/>
          <a:stretch>
            <a:fillRect/>
          </a:stretch>
        </p:blipFill>
        <p:spPr>
          <a:xfrm>
            <a:off x="8560064" y="2429012"/>
            <a:ext cx="317480" cy="317480"/>
          </a:xfrm>
          <a:prstGeom prst="rect">
            <a:avLst/>
          </a:prstGeom>
        </p:spPr>
      </p:pic>
      <p:sp>
        <p:nvSpPr>
          <p:cNvPr id="41" name="Text 33"/>
          <p:cNvSpPr/>
          <p:nvPr/>
        </p:nvSpPr>
        <p:spPr>
          <a:xfrm>
            <a:off x="9166860" y="2286000"/>
            <a:ext cx="2377440" cy="256032"/>
          </a:xfrm>
          <a:prstGeom prst="rect">
            <a:avLst/>
          </a:prstGeom>
          <a:noFill/>
          <a:ln/>
        </p:spPr>
        <p:txBody>
          <a:bodyPr wrap="square" lIns="0" tIns="0" rIns="0" bIns="0"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PHASE 3</a:t>
            </a:r>
            <a:endParaRPr lang="en-US" sz="1000" dirty="0"/>
          </a:p>
        </p:txBody>
      </p:sp>
      <p:sp>
        <p:nvSpPr>
          <p:cNvPr id="42" name="Text 34"/>
          <p:cNvSpPr/>
          <p:nvPr/>
        </p:nvSpPr>
        <p:spPr>
          <a:xfrm>
            <a:off x="9166860" y="2560320"/>
            <a:ext cx="2377440" cy="438912"/>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Clarify</a:t>
            </a:r>
            <a:endParaRPr lang="en-US" sz="2000" dirty="0"/>
          </a:p>
        </p:txBody>
      </p:sp>
      <p:sp>
        <p:nvSpPr>
          <p:cNvPr id="43" name="Text 35"/>
          <p:cNvSpPr/>
          <p:nvPr/>
        </p:nvSpPr>
        <p:spPr>
          <a:xfrm>
            <a:off x="8389620" y="3200400"/>
            <a:ext cx="3063240" cy="1572768"/>
          </a:xfrm>
          <a:prstGeom prst="rect">
            <a:avLst/>
          </a:prstGeom>
          <a:noFill/>
          <a:ln/>
        </p:spPr>
        <p:txBody>
          <a:bodyPr wrap="square" lIns="0" tIns="0" rIns="0" bIns="0" rtlCol="0" anchor="ctr"/>
          <a:lstStyle/>
          <a:p>
            <a:pPr indent="0" marL="0">
              <a:buNone/>
            </a:pPr>
            <a:r>
              <a:rPr lang="en-US" sz="1200" dirty="0">
                <a:solidFill>
                  <a:srgbClr val="1A2333"/>
                </a:solidFill>
                <a:latin typeface="Calibri" pitchFamily="34" charset="0"/>
                <a:ea typeface="Calibri" pitchFamily="34" charset="-122"/>
                <a:cs typeface="Calibri" pitchFamily="34" charset="-120"/>
              </a:rPr>
              <a:t>Before engineering plans anything, the team reviews the spec together to surface any ambiguity or unstated assumption. Questions are answered, edge cases are added to the spec. This step typically takes one meeting.</a:t>
            </a:r>
            <a:endParaRPr lang="en-US" sz="1200" dirty="0"/>
          </a:p>
        </p:txBody>
      </p:sp>
      <p:sp>
        <p:nvSpPr>
          <p:cNvPr id="44" name="Shape 36"/>
          <p:cNvSpPr/>
          <p:nvPr/>
        </p:nvSpPr>
        <p:spPr>
          <a:xfrm>
            <a:off x="8389620" y="4828032"/>
            <a:ext cx="3108960" cy="0"/>
          </a:xfrm>
          <a:prstGeom prst="line">
            <a:avLst/>
          </a:prstGeom>
          <a:noFill/>
          <a:ln w="9525">
            <a:solidFill>
              <a:srgbClr val="D8E2F0"/>
            </a:solidFill>
            <a:prstDash val="solid"/>
          </a:ln>
        </p:spPr>
      </p:sp>
      <p:sp>
        <p:nvSpPr>
          <p:cNvPr id="45" name="Text 37"/>
          <p:cNvSpPr/>
          <p:nvPr/>
        </p:nvSpPr>
        <p:spPr>
          <a:xfrm>
            <a:off x="8389620" y="4892040"/>
            <a:ext cx="1005840" cy="219456"/>
          </a:xfrm>
          <a:prstGeom prst="rect">
            <a:avLst/>
          </a:prstGeom>
          <a:noFill/>
          <a:ln/>
        </p:spPr>
        <p:txBody>
          <a:bodyPr wrap="square" lIns="0" tIns="0" rIns="0" bIns="0" rtlCol="0" anchor="ctr"/>
          <a:lstStyle/>
          <a:p>
            <a:pPr indent="0" marL="0">
              <a:buNone/>
            </a:pPr>
            <a:r>
              <a:rPr lang="en-US" sz="800" b="1" spc="150" kern="0" dirty="0">
                <a:solidFill>
                  <a:srgbClr val="5A6478"/>
                </a:solidFill>
                <a:latin typeface="Calibri" pitchFamily="34" charset="0"/>
                <a:ea typeface="Calibri" pitchFamily="34" charset="-122"/>
                <a:cs typeface="Calibri" pitchFamily="34" charset="-120"/>
              </a:rPr>
              <a:t>PRODUCES</a:t>
            </a:r>
            <a:endParaRPr lang="en-US" sz="800" dirty="0"/>
          </a:p>
        </p:txBody>
      </p:sp>
      <p:pic>
        <p:nvPicPr>
          <p:cNvPr id="46" name="Image 6" descr="preencoded.png">    </p:cNvPr>
          <p:cNvPicPr>
            <a:picLocks noChangeAspect="1"/>
          </p:cNvPicPr>
          <p:nvPr/>
        </p:nvPicPr>
        <p:blipFill>
          <a:blip r:embed="rId7"/>
          <a:stretch>
            <a:fillRect/>
          </a:stretch>
        </p:blipFill>
        <p:spPr>
          <a:xfrm>
            <a:off x="9413748" y="4882896"/>
            <a:ext cx="182880" cy="182880"/>
          </a:xfrm>
          <a:prstGeom prst="rect">
            <a:avLst/>
          </a:prstGeom>
        </p:spPr>
      </p:pic>
      <p:sp>
        <p:nvSpPr>
          <p:cNvPr id="47" name="Text 38"/>
          <p:cNvSpPr/>
          <p:nvPr/>
        </p:nvSpPr>
        <p:spPr>
          <a:xfrm>
            <a:off x="9651492" y="4873752"/>
            <a:ext cx="1783080" cy="237744"/>
          </a:xfrm>
          <a:prstGeom prst="rect">
            <a:avLst/>
          </a:prstGeom>
          <a:noFill/>
          <a:ln/>
        </p:spPr>
        <p:txBody>
          <a:bodyPr wrap="square" lIns="0" tIns="0" rIns="0" bIns="0" rtlCol="0" anchor="ctr"/>
          <a:lstStyle/>
          <a:p>
            <a:pPr indent="0" marL="0">
              <a:buNone/>
            </a:pPr>
            <a:r>
              <a:rPr lang="en-US" sz="1100" b="1" dirty="0">
                <a:solidFill>
                  <a:srgbClr val="1A2333"/>
                </a:solidFill>
                <a:latin typeface="Calibri" pitchFamily="34" charset="0"/>
                <a:ea typeface="Calibri" pitchFamily="34" charset="-122"/>
                <a:cs typeface="Calibri" pitchFamily="34" charset="-120"/>
              </a:rPr>
              <a:t>Updated spec.md</a:t>
            </a:r>
            <a:endParaRPr lang="en-US" sz="1100" dirty="0"/>
          </a:p>
        </p:txBody>
      </p:sp>
      <p:sp>
        <p:nvSpPr>
          <p:cNvPr id="48" name="Text 39"/>
          <p:cNvSpPr/>
          <p:nvPr/>
        </p:nvSpPr>
        <p:spPr>
          <a:xfrm>
            <a:off x="8389620" y="5138928"/>
            <a:ext cx="914400" cy="219456"/>
          </a:xfrm>
          <a:prstGeom prst="rect">
            <a:avLst/>
          </a:prstGeom>
          <a:noFill/>
          <a:ln/>
        </p:spPr>
        <p:txBody>
          <a:bodyPr wrap="square" lIns="0" tIns="0" rIns="0" bIns="0" rtlCol="0" anchor="ctr"/>
          <a:lstStyle/>
          <a:p>
            <a:pPr indent="0" marL="0">
              <a:buNone/>
            </a:pPr>
            <a:r>
              <a:rPr lang="en-US" sz="800" b="1" spc="150" kern="0" dirty="0">
                <a:solidFill>
                  <a:srgbClr val="5A6478"/>
                </a:solidFill>
                <a:latin typeface="Calibri" pitchFamily="34" charset="0"/>
                <a:ea typeface="Calibri" pitchFamily="34" charset="-122"/>
                <a:cs typeface="Calibri" pitchFamily="34" charset="-120"/>
              </a:rPr>
              <a:t>OWNER</a:t>
            </a:r>
            <a:endParaRPr lang="en-US" sz="800" dirty="0"/>
          </a:p>
        </p:txBody>
      </p:sp>
      <p:sp>
        <p:nvSpPr>
          <p:cNvPr id="49" name="Text 40"/>
          <p:cNvSpPr/>
          <p:nvPr/>
        </p:nvSpPr>
        <p:spPr>
          <a:xfrm>
            <a:off x="9413748" y="5120640"/>
            <a:ext cx="2057400" cy="237744"/>
          </a:xfrm>
          <a:prstGeom prst="rect">
            <a:avLst/>
          </a:prstGeom>
          <a:noFill/>
          <a:ln/>
        </p:spPr>
        <p:txBody>
          <a:bodyPr wrap="square" lIns="0" tIns="0" rIns="0" bIns="0" rtlCol="0" anchor="ctr"/>
          <a:lstStyle/>
          <a:p>
            <a:pPr indent="0" marL="0">
              <a:buNone/>
            </a:pPr>
            <a:r>
              <a:rPr lang="en-US" sz="1100" dirty="0">
                <a:solidFill>
                  <a:srgbClr val="1A2333"/>
                </a:solidFill>
                <a:latin typeface="Calibri" pitchFamily="34" charset="0"/>
                <a:ea typeface="Calibri" pitchFamily="34" charset="-122"/>
                <a:cs typeface="Calibri" pitchFamily="34" charset="-120"/>
              </a:rPr>
              <a:t>PM + Engineering</a:t>
            </a:r>
            <a:endParaRPr lang="en-US" sz="1100" dirty="0"/>
          </a:p>
        </p:txBody>
      </p:sp>
      <p:sp>
        <p:nvSpPr>
          <p:cNvPr id="50" name="Shape 41"/>
          <p:cNvSpPr/>
          <p:nvPr/>
        </p:nvSpPr>
        <p:spPr>
          <a:xfrm>
            <a:off x="8389620" y="5440680"/>
            <a:ext cx="3108960" cy="868680"/>
          </a:xfrm>
          <a:prstGeom prst="rect">
            <a:avLst/>
          </a:prstGeom>
          <a:solidFill>
            <a:srgbClr val="F4F6FB"/>
          </a:solidFill>
          <a:ln w="6350">
            <a:solidFill>
              <a:srgbClr val="D8E2F0"/>
            </a:solidFill>
            <a:prstDash val="solid"/>
          </a:ln>
        </p:spPr>
      </p:sp>
      <p:sp>
        <p:nvSpPr>
          <p:cNvPr id="51" name="Text 42"/>
          <p:cNvSpPr/>
          <p:nvPr/>
        </p:nvSpPr>
        <p:spPr>
          <a:xfrm>
            <a:off x="8499348" y="5504688"/>
            <a:ext cx="2953512" cy="713232"/>
          </a:xfrm>
          <a:prstGeom prst="rect">
            <a:avLst/>
          </a:prstGeom>
          <a:noFill/>
          <a:ln/>
        </p:spPr>
        <p:txBody>
          <a:bodyPr wrap="square" lIns="0" tIns="0" rIns="0" bIns="0" rtlCol="0" anchor="ctr"/>
          <a:lstStyle/>
          <a:p>
            <a:pPr indent="0" marL="0">
              <a:buNone/>
            </a:pPr>
            <a:r>
              <a:rPr lang="en-US" sz="1050" i="1" dirty="0">
                <a:solidFill>
                  <a:srgbClr val="5A6478"/>
                </a:solidFill>
                <a:latin typeface="Calibri" pitchFamily="34" charset="0"/>
                <a:ea typeface="Calibri" pitchFamily="34" charset="-122"/>
                <a:cs typeface="Calibri" pitchFamily="34" charset="-120"/>
              </a:rPr>
              <a:t>Ambiguity caught here costs 30 minutes. Ambiguity discovered mid-build costs days and rework.</a:t>
            </a:r>
            <a:endParaRPr lang="en-US" sz="1050" dirty="0"/>
          </a:p>
        </p:txBody>
      </p:sp>
      <p:sp>
        <p:nvSpPr>
          <p:cNvPr id="52" name="Text 43"/>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5A6478"/>
                </a:solidFill>
                <a:latin typeface="Calibri" pitchFamily="34" charset="0"/>
                <a:ea typeface="Calibri" pitchFamily="34" charset="-122"/>
                <a:cs typeface="Calibri" pitchFamily="34" charset="-120"/>
              </a:rPr>
              <a:t>Spec-Driven Development</a:t>
            </a:r>
            <a:endParaRPr lang="en-US" sz="900" dirty="0"/>
          </a:p>
        </p:txBody>
      </p:sp>
      <p:sp>
        <p:nvSpPr>
          <p:cNvPr id="53" name="Text 44"/>
          <p:cNvSpPr/>
          <p:nvPr/>
        </p:nvSpPr>
        <p:spPr>
          <a:xfrm>
            <a:off x="11247120" y="6473952"/>
            <a:ext cx="365760" cy="274320"/>
          </a:xfrm>
          <a:prstGeom prst="rect">
            <a:avLst/>
          </a:prstGeom>
          <a:noFill/>
          <a:ln/>
        </p:spPr>
        <p:txBody>
          <a:bodyPr wrap="square" lIns="0" tIns="0" rIns="0" bIns="0" rtlCol="0" anchor="ctr"/>
          <a:lstStyle/>
          <a:p>
            <a:pPr algn="r" indent="0" marL="0">
              <a:buNone/>
            </a:pPr>
            <a:r>
              <a:rPr lang="en-US" sz="900" dirty="0">
                <a:solidFill>
                  <a:srgbClr val="5A64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94360" y="438912"/>
            <a:ext cx="10972800" cy="292608"/>
          </a:xfrm>
          <a:prstGeom prst="rect">
            <a:avLst/>
          </a:prstGeom>
          <a:noFill/>
          <a:ln/>
        </p:spPr>
        <p:txBody>
          <a:bodyPr wrap="square" lIns="0" tIns="0" rIns="0" bIns="0" rtlCol="0" anchor="ctr"/>
          <a:lstStyle/>
          <a:p>
            <a:pPr indent="0" marL="0">
              <a:buNone/>
            </a:pPr>
            <a:r>
              <a:rPr lang="en-US" sz="1150" b="1" spc="350" kern="0" dirty="0">
                <a:solidFill>
                  <a:srgbClr val="2EC4B6"/>
                </a:solidFill>
                <a:latin typeface="Calibri" pitchFamily="34" charset="0"/>
                <a:ea typeface="Calibri" pitchFamily="34" charset="-122"/>
                <a:cs typeface="Calibri" pitchFamily="34" charset="-120"/>
              </a:rPr>
              <a:t>WHAT ENGINEERING DOES WITH YOUR APPROVED SPEC</a:t>
            </a:r>
            <a:endParaRPr lang="en-US" sz="1150" dirty="0"/>
          </a:p>
        </p:txBody>
      </p:sp>
      <p:sp>
        <p:nvSpPr>
          <p:cNvPr id="3" name="Text 1"/>
          <p:cNvSpPr/>
          <p:nvPr/>
        </p:nvSpPr>
        <p:spPr>
          <a:xfrm>
            <a:off x="594360" y="749808"/>
            <a:ext cx="10972800" cy="868680"/>
          </a:xfrm>
          <a:prstGeom prst="rect">
            <a:avLst/>
          </a:prstGeom>
          <a:noFill/>
          <a:ln/>
        </p:spPr>
        <p:txBody>
          <a:bodyPr wrap="square" lIns="0" tIns="0" rIns="0" bIns="0" rtlCol="0" anchor="ctr"/>
          <a:lstStyle/>
          <a:p>
            <a:pPr indent="0" marL="0">
              <a:buNone/>
            </a:pPr>
            <a:r>
              <a:rPr lang="en-US" sz="3400" b="1" dirty="0">
                <a:solidFill>
                  <a:srgbClr val="1A2333"/>
                </a:solidFill>
                <a:latin typeface="Georgia" pitchFamily="34" charset="0"/>
                <a:ea typeface="Georgia" pitchFamily="34" charset="-122"/>
                <a:cs typeface="Georgia" pitchFamily="34" charset="-120"/>
              </a:rPr>
              <a:t>Phases 4–7: approved spec to shipped software</a:t>
            </a:r>
            <a:endParaRPr lang="en-US" sz="3400" dirty="0"/>
          </a:p>
        </p:txBody>
      </p:sp>
      <p:sp>
        <p:nvSpPr>
          <p:cNvPr id="4" name="Text 2"/>
          <p:cNvSpPr/>
          <p:nvPr/>
        </p:nvSpPr>
        <p:spPr>
          <a:xfrm>
            <a:off x="594360" y="1572768"/>
            <a:ext cx="10972800" cy="347472"/>
          </a:xfrm>
          <a:prstGeom prst="rect">
            <a:avLst/>
          </a:prstGeom>
          <a:noFill/>
          <a:ln/>
        </p:spPr>
        <p:txBody>
          <a:bodyPr wrap="square" lIns="0" tIns="0" rIns="0" bIns="0" rtlCol="0" anchor="ctr"/>
          <a:lstStyle/>
          <a:p>
            <a:pPr indent="0" marL="0">
              <a:buNone/>
            </a:pPr>
            <a:r>
              <a:rPr lang="en-US" sz="1400" dirty="0">
                <a:solidFill>
                  <a:srgbClr val="5A6478"/>
                </a:solidFill>
                <a:latin typeface="Calibri" pitchFamily="34" charset="0"/>
                <a:ea typeface="Calibri" pitchFamily="34" charset="-122"/>
                <a:cs typeface="Calibri" pitchFamily="34" charset="-120"/>
              </a:rPr>
              <a:t>Once the spec is approved, engineering takes over. You remain a sign-off at gate 2 (plan) before any build starts.</a:t>
            </a:r>
            <a:endParaRPr lang="en-US" sz="1400" dirty="0"/>
          </a:p>
        </p:txBody>
      </p:sp>
      <p:sp>
        <p:nvSpPr>
          <p:cNvPr id="5" name="Shape 3"/>
          <p:cNvSpPr/>
          <p:nvPr/>
        </p:nvSpPr>
        <p:spPr>
          <a:xfrm>
            <a:off x="457200" y="2240280"/>
            <a:ext cx="2633472" cy="4206240"/>
          </a:xfrm>
          <a:prstGeom prst="rect">
            <a:avLst/>
          </a:prstGeom>
          <a:solidFill>
            <a:srgbClr val="FFFFFF"/>
          </a:solidFill>
          <a:ln w="12700">
            <a:solidFill>
              <a:srgbClr val="D8E2F0"/>
            </a:solidFill>
            <a:prstDash val="solid"/>
          </a:ln>
          <a:effectLst>
            <a:outerShdw sx="100000" sy="100000" kx="0" ky="0" algn="bl" rotWithShape="0" blurRad="127000" dist="38100" dir="8100000">
              <a:srgbClr val="000000">
                <a:alpha val="14000"/>
              </a:srgbClr>
            </a:outerShdw>
          </a:effectLst>
        </p:spPr>
      </p:sp>
      <p:sp>
        <p:nvSpPr>
          <p:cNvPr id="6" name="Shape 4"/>
          <p:cNvSpPr/>
          <p:nvPr/>
        </p:nvSpPr>
        <p:spPr>
          <a:xfrm>
            <a:off x="457200" y="2240280"/>
            <a:ext cx="2633472" cy="960120"/>
          </a:xfrm>
          <a:prstGeom prst="rect">
            <a:avLst/>
          </a:prstGeom>
          <a:solidFill>
            <a:srgbClr val="12203F"/>
          </a:solidFill>
          <a:ln/>
        </p:spPr>
      </p:sp>
      <p:sp>
        <p:nvSpPr>
          <p:cNvPr id="7" name="Shape 5"/>
          <p:cNvSpPr/>
          <p:nvPr/>
        </p:nvSpPr>
        <p:spPr>
          <a:xfrm>
            <a:off x="731520" y="2441448"/>
            <a:ext cx="548640" cy="548640"/>
          </a:xfrm>
          <a:prstGeom prst="ellipse">
            <a:avLst/>
          </a:prstGeom>
          <a:solidFill>
            <a:srgbClr val="1B2E54"/>
          </a:solidFill>
          <a:ln/>
        </p:spPr>
      </p:sp>
      <p:pic>
        <p:nvPicPr>
          <p:cNvPr id="8" name="Image 0" descr="preencoded.png">    </p:cNvPr>
          <p:cNvPicPr>
            <a:picLocks noChangeAspect="1"/>
          </p:cNvPicPr>
          <p:nvPr/>
        </p:nvPicPr>
        <p:blipFill>
          <a:blip r:embed="rId1"/>
          <a:stretch>
            <a:fillRect/>
          </a:stretch>
        </p:blipFill>
        <p:spPr>
          <a:xfrm>
            <a:off x="852221" y="2562149"/>
            <a:ext cx="307238" cy="307238"/>
          </a:xfrm>
          <a:prstGeom prst="rect">
            <a:avLst/>
          </a:prstGeom>
        </p:spPr>
      </p:pic>
      <p:sp>
        <p:nvSpPr>
          <p:cNvPr id="9" name="Text 6"/>
          <p:cNvSpPr/>
          <p:nvPr/>
        </p:nvSpPr>
        <p:spPr>
          <a:xfrm>
            <a:off x="1463040" y="2404872"/>
            <a:ext cx="1536192" cy="256032"/>
          </a:xfrm>
          <a:prstGeom prst="rect">
            <a:avLst/>
          </a:prstGeom>
          <a:noFill/>
          <a:ln/>
        </p:spPr>
        <p:txBody>
          <a:bodyPr wrap="square" lIns="0" tIns="0" rIns="0" bIns="0" rtlCol="0" anchor="ctr"/>
          <a:lstStyle/>
          <a:p>
            <a:pPr indent="0" marL="0">
              <a:buNone/>
            </a:pPr>
            <a:r>
              <a:rPr lang="en-US" sz="950" b="1" spc="200" kern="0" dirty="0">
                <a:solidFill>
                  <a:srgbClr val="FFFFFF"/>
                </a:solidFill>
                <a:latin typeface="Calibri" pitchFamily="34" charset="0"/>
                <a:ea typeface="Calibri" pitchFamily="34" charset="-122"/>
                <a:cs typeface="Calibri" pitchFamily="34" charset="-120"/>
              </a:rPr>
              <a:t>PHASE 4</a:t>
            </a:r>
            <a:endParaRPr lang="en-US" sz="950" dirty="0"/>
          </a:p>
        </p:txBody>
      </p:sp>
      <p:sp>
        <p:nvSpPr>
          <p:cNvPr id="10" name="Text 7"/>
          <p:cNvSpPr/>
          <p:nvPr/>
        </p:nvSpPr>
        <p:spPr>
          <a:xfrm>
            <a:off x="1463040" y="2697480"/>
            <a:ext cx="1536192" cy="420624"/>
          </a:xfrm>
          <a:prstGeom prst="rect">
            <a:avLst/>
          </a:prstGeom>
          <a:noFill/>
          <a:ln/>
        </p:spPr>
        <p:txBody>
          <a:bodyPr wrap="square" lIns="0" tIns="0" rIns="0" bIns="0" rtlCol="0" anchor="ctr"/>
          <a:lstStyle/>
          <a:p>
            <a:pPr indent="0" marL="0">
              <a:buNone/>
            </a:pPr>
            <a:r>
              <a:rPr lang="en-US" sz="1850" b="1" dirty="0">
                <a:solidFill>
                  <a:srgbClr val="FFFFFF"/>
                </a:solidFill>
                <a:latin typeface="Georgia" pitchFamily="34" charset="0"/>
                <a:ea typeface="Georgia" pitchFamily="34" charset="-122"/>
                <a:cs typeface="Georgia" pitchFamily="34" charset="-120"/>
              </a:rPr>
              <a:t>Plan</a:t>
            </a:r>
            <a:endParaRPr lang="en-US" sz="1850" dirty="0"/>
          </a:p>
        </p:txBody>
      </p:sp>
      <p:sp>
        <p:nvSpPr>
          <p:cNvPr id="11" name="Text 8"/>
          <p:cNvSpPr/>
          <p:nvPr/>
        </p:nvSpPr>
        <p:spPr>
          <a:xfrm>
            <a:off x="713232" y="3319272"/>
            <a:ext cx="2231136" cy="1719072"/>
          </a:xfrm>
          <a:prstGeom prst="rect">
            <a:avLst/>
          </a:prstGeom>
          <a:noFill/>
          <a:ln/>
        </p:spPr>
        <p:txBody>
          <a:bodyPr wrap="square" lIns="0" tIns="0" rIns="0" bIns="0" rtlCol="0" anchor="ctr"/>
          <a:lstStyle/>
          <a:p>
            <a:pPr indent="0" marL="0">
              <a:buNone/>
            </a:pPr>
            <a:r>
              <a:rPr lang="en-US" sz="1100" dirty="0">
                <a:solidFill>
                  <a:srgbClr val="1A2333"/>
                </a:solidFill>
                <a:latin typeface="Calibri" pitchFamily="34" charset="0"/>
                <a:ea typeface="Calibri" pitchFamily="34" charset="-122"/>
                <a:cs typeface="Calibri" pitchFamily="34" charset="-120"/>
              </a:rPr>
              <a:t>Engineering translates the approved spec into a technical design: architecture decisions, data model, API contracts, and sequencing. This plan is written for tech leads to review — not for the business owner to approve line by line.</a:t>
            </a:r>
            <a:endParaRPr lang="en-US" sz="1100" dirty="0"/>
          </a:p>
        </p:txBody>
      </p:sp>
      <p:sp>
        <p:nvSpPr>
          <p:cNvPr id="12" name="Shape 9"/>
          <p:cNvSpPr/>
          <p:nvPr/>
        </p:nvSpPr>
        <p:spPr>
          <a:xfrm>
            <a:off x="713232" y="5093208"/>
            <a:ext cx="2286000" cy="0"/>
          </a:xfrm>
          <a:prstGeom prst="line">
            <a:avLst/>
          </a:prstGeom>
          <a:noFill/>
          <a:ln w="9525">
            <a:solidFill>
              <a:srgbClr val="D8E2F0"/>
            </a:solidFill>
            <a:prstDash val="solid"/>
          </a:ln>
        </p:spPr>
      </p:sp>
      <p:sp>
        <p:nvSpPr>
          <p:cNvPr id="13" name="Text 10"/>
          <p:cNvSpPr/>
          <p:nvPr/>
        </p:nvSpPr>
        <p:spPr>
          <a:xfrm>
            <a:off x="713232" y="5148072"/>
            <a:ext cx="914400" cy="219456"/>
          </a:xfrm>
          <a:prstGeom prst="rect">
            <a:avLst/>
          </a:prstGeom>
          <a:noFill/>
          <a:ln/>
        </p:spPr>
        <p:txBody>
          <a:bodyPr wrap="square" lIns="0" tIns="0" rIns="0" bIns="0" rtlCol="0" anchor="ctr"/>
          <a:lstStyle/>
          <a:p>
            <a:pPr indent="0" marL="0">
              <a:buNone/>
            </a:pPr>
            <a:r>
              <a:rPr lang="en-US" sz="750" b="1" spc="150" kern="0" dirty="0">
                <a:solidFill>
                  <a:srgbClr val="5A6478"/>
                </a:solidFill>
                <a:latin typeface="Calibri" pitchFamily="34" charset="0"/>
                <a:ea typeface="Calibri" pitchFamily="34" charset="-122"/>
                <a:cs typeface="Calibri" pitchFamily="34" charset="-120"/>
              </a:rPr>
              <a:t>PRODUCES</a:t>
            </a:r>
            <a:endParaRPr lang="en-US" sz="750" dirty="0"/>
          </a:p>
        </p:txBody>
      </p:sp>
      <p:pic>
        <p:nvPicPr>
          <p:cNvPr id="14" name="Image 1" descr="preencoded.png">    </p:cNvPr>
          <p:cNvPicPr>
            <a:picLocks noChangeAspect="1"/>
          </p:cNvPicPr>
          <p:nvPr/>
        </p:nvPicPr>
        <p:blipFill>
          <a:blip r:embed="rId2"/>
          <a:stretch>
            <a:fillRect/>
          </a:stretch>
        </p:blipFill>
        <p:spPr>
          <a:xfrm>
            <a:off x="1664208" y="5138928"/>
            <a:ext cx="182880" cy="182880"/>
          </a:xfrm>
          <a:prstGeom prst="rect">
            <a:avLst/>
          </a:prstGeom>
        </p:spPr>
      </p:pic>
      <p:sp>
        <p:nvSpPr>
          <p:cNvPr id="15" name="Text 11"/>
          <p:cNvSpPr/>
          <p:nvPr/>
        </p:nvSpPr>
        <p:spPr>
          <a:xfrm>
            <a:off x="1883664" y="5120640"/>
            <a:ext cx="1033272" cy="237744"/>
          </a:xfrm>
          <a:prstGeom prst="rect">
            <a:avLst/>
          </a:prstGeom>
          <a:noFill/>
          <a:ln/>
        </p:spPr>
        <p:txBody>
          <a:bodyPr wrap="square" lIns="0" tIns="0" rIns="0" bIns="0" rtlCol="0" anchor="ctr"/>
          <a:lstStyle/>
          <a:p>
            <a:pPr indent="0" marL="0">
              <a:buNone/>
            </a:pPr>
            <a:r>
              <a:rPr lang="en-US" sz="1050" b="1" dirty="0">
                <a:solidFill>
                  <a:srgbClr val="1A2333"/>
                </a:solidFill>
                <a:latin typeface="Calibri" pitchFamily="34" charset="0"/>
                <a:ea typeface="Calibri" pitchFamily="34" charset="-122"/>
                <a:cs typeface="Calibri" pitchFamily="34" charset="-120"/>
              </a:rPr>
              <a:t>plan.md</a:t>
            </a:r>
            <a:endParaRPr lang="en-US" sz="1050" dirty="0"/>
          </a:p>
        </p:txBody>
      </p:sp>
      <p:sp>
        <p:nvSpPr>
          <p:cNvPr id="16" name="Text 12"/>
          <p:cNvSpPr/>
          <p:nvPr/>
        </p:nvSpPr>
        <p:spPr>
          <a:xfrm>
            <a:off x="713232" y="5385816"/>
            <a:ext cx="914400" cy="219456"/>
          </a:xfrm>
          <a:prstGeom prst="rect">
            <a:avLst/>
          </a:prstGeom>
          <a:noFill/>
          <a:ln/>
        </p:spPr>
        <p:txBody>
          <a:bodyPr wrap="square" lIns="0" tIns="0" rIns="0" bIns="0" rtlCol="0" anchor="ctr"/>
          <a:lstStyle/>
          <a:p>
            <a:pPr indent="0" marL="0">
              <a:buNone/>
            </a:pPr>
            <a:r>
              <a:rPr lang="en-US" sz="750" b="1" spc="150" kern="0" dirty="0">
                <a:solidFill>
                  <a:srgbClr val="5A6478"/>
                </a:solidFill>
                <a:latin typeface="Calibri" pitchFamily="34" charset="0"/>
                <a:ea typeface="Calibri" pitchFamily="34" charset="-122"/>
                <a:cs typeface="Calibri" pitchFamily="34" charset="-120"/>
              </a:rPr>
              <a:t>OWNER</a:t>
            </a:r>
            <a:endParaRPr lang="en-US" sz="750" dirty="0"/>
          </a:p>
        </p:txBody>
      </p:sp>
      <p:sp>
        <p:nvSpPr>
          <p:cNvPr id="17" name="Text 13"/>
          <p:cNvSpPr/>
          <p:nvPr/>
        </p:nvSpPr>
        <p:spPr>
          <a:xfrm>
            <a:off x="1664208" y="5367528"/>
            <a:ext cx="1261872" cy="237744"/>
          </a:xfrm>
          <a:prstGeom prst="rect">
            <a:avLst/>
          </a:prstGeom>
          <a:noFill/>
          <a:ln/>
        </p:spPr>
        <p:txBody>
          <a:bodyPr wrap="square" lIns="0" tIns="0" rIns="0" bIns="0" rtlCol="0" anchor="ctr"/>
          <a:lstStyle/>
          <a:p>
            <a:pPr indent="0" marL="0">
              <a:buNone/>
            </a:pPr>
            <a:r>
              <a:rPr lang="en-US" sz="1050" dirty="0">
                <a:solidFill>
                  <a:srgbClr val="1A2333"/>
                </a:solidFill>
                <a:latin typeface="Calibri" pitchFamily="34" charset="0"/>
                <a:ea typeface="Calibri" pitchFamily="34" charset="-122"/>
                <a:cs typeface="Calibri" pitchFamily="34" charset="-120"/>
              </a:rPr>
              <a:t>Tech Lead</a:t>
            </a:r>
            <a:endParaRPr lang="en-US" sz="1050" dirty="0"/>
          </a:p>
        </p:txBody>
      </p:sp>
      <p:sp>
        <p:nvSpPr>
          <p:cNvPr id="18" name="Shape 14"/>
          <p:cNvSpPr/>
          <p:nvPr/>
        </p:nvSpPr>
        <p:spPr>
          <a:xfrm>
            <a:off x="713232" y="5678424"/>
            <a:ext cx="2286000" cy="658368"/>
          </a:xfrm>
          <a:prstGeom prst="rect">
            <a:avLst/>
          </a:prstGeom>
          <a:solidFill>
            <a:srgbClr val="E4F8F7"/>
          </a:solidFill>
          <a:ln w="12700">
            <a:solidFill>
              <a:srgbClr val="2EC4B6"/>
            </a:solidFill>
            <a:prstDash val="solid"/>
          </a:ln>
        </p:spPr>
      </p:sp>
      <p:pic>
        <p:nvPicPr>
          <p:cNvPr id="19" name="Image 2" descr="preencoded.png">    </p:cNvPr>
          <p:cNvPicPr>
            <a:picLocks noChangeAspect="1"/>
          </p:cNvPicPr>
          <p:nvPr/>
        </p:nvPicPr>
        <p:blipFill>
          <a:blip r:embed="rId3"/>
          <a:stretch>
            <a:fillRect/>
          </a:stretch>
        </p:blipFill>
        <p:spPr>
          <a:xfrm>
            <a:off x="786384" y="5724144"/>
            <a:ext cx="182880" cy="182880"/>
          </a:xfrm>
          <a:prstGeom prst="rect">
            <a:avLst/>
          </a:prstGeom>
        </p:spPr>
      </p:pic>
      <p:sp>
        <p:nvSpPr>
          <p:cNvPr id="20" name="Text 15"/>
          <p:cNvSpPr/>
          <p:nvPr/>
        </p:nvSpPr>
        <p:spPr>
          <a:xfrm>
            <a:off x="1024128" y="5705856"/>
            <a:ext cx="1463040" cy="219456"/>
          </a:xfrm>
          <a:prstGeom prst="rect">
            <a:avLst/>
          </a:prstGeom>
          <a:noFill/>
          <a:ln/>
        </p:spPr>
        <p:txBody>
          <a:bodyPr wrap="square" lIns="0" tIns="0" rIns="0" bIns="0" rtlCol="0" anchor="ctr"/>
          <a:lstStyle/>
          <a:p>
            <a:pPr indent="0" marL="0">
              <a:buNone/>
            </a:pPr>
            <a:r>
              <a:rPr lang="en-US" sz="850" b="1" spc="100" kern="0" dirty="0">
                <a:solidFill>
                  <a:srgbClr val="2EC4B6"/>
                </a:solidFill>
                <a:latin typeface="Calibri" pitchFamily="34" charset="0"/>
                <a:ea typeface="Calibri" pitchFamily="34" charset="-122"/>
                <a:cs typeface="Calibri" pitchFamily="34" charset="-120"/>
              </a:rPr>
              <a:t>APPROVAL GATE</a:t>
            </a:r>
            <a:endParaRPr lang="en-US" sz="850" dirty="0"/>
          </a:p>
        </p:txBody>
      </p:sp>
      <p:sp>
        <p:nvSpPr>
          <p:cNvPr id="21" name="Text 16"/>
          <p:cNvSpPr/>
          <p:nvPr/>
        </p:nvSpPr>
        <p:spPr>
          <a:xfrm>
            <a:off x="786384" y="5897880"/>
            <a:ext cx="2157984" cy="365760"/>
          </a:xfrm>
          <a:prstGeom prst="rect">
            <a:avLst/>
          </a:prstGeom>
          <a:noFill/>
          <a:ln/>
        </p:spPr>
        <p:txBody>
          <a:bodyPr wrap="square" lIns="0" tIns="0" rIns="0" bIns="0" rtlCol="0" anchor="ctr"/>
          <a:lstStyle/>
          <a:p>
            <a:pPr indent="0" marL="0">
              <a:buNone/>
            </a:pPr>
            <a:r>
              <a:rPr lang="en-US" sz="900" i="1" dirty="0">
                <a:solidFill>
                  <a:srgbClr val="2EC4B6"/>
                </a:solidFill>
                <a:latin typeface="Calibri" pitchFamily="34" charset="0"/>
                <a:ea typeface="Calibri" pitchFamily="34" charset="-122"/>
                <a:cs typeface="Calibri" pitchFamily="34" charset="-120"/>
              </a:rPr>
              <a:t>Plan approved before any tasks are created. Prevents building in the wrong technical direction.</a:t>
            </a:r>
            <a:endParaRPr lang="en-US" sz="900" dirty="0"/>
          </a:p>
        </p:txBody>
      </p:sp>
      <p:sp>
        <p:nvSpPr>
          <p:cNvPr id="22" name="Shape 17"/>
          <p:cNvSpPr/>
          <p:nvPr/>
        </p:nvSpPr>
        <p:spPr>
          <a:xfrm>
            <a:off x="3328416" y="2240280"/>
            <a:ext cx="2633472" cy="4206240"/>
          </a:xfrm>
          <a:prstGeom prst="rect">
            <a:avLst/>
          </a:prstGeom>
          <a:solidFill>
            <a:srgbClr val="FFFFFF"/>
          </a:solidFill>
          <a:ln w="12700">
            <a:solidFill>
              <a:srgbClr val="D8E2F0"/>
            </a:solidFill>
            <a:prstDash val="solid"/>
          </a:ln>
          <a:effectLst>
            <a:outerShdw sx="100000" sy="100000" kx="0" ky="0" algn="bl" rotWithShape="0" blurRad="127000" dist="38100" dir="8100000">
              <a:srgbClr val="000000">
                <a:alpha val="14000"/>
              </a:srgbClr>
            </a:outerShdw>
          </a:effectLst>
        </p:spPr>
      </p:sp>
      <p:sp>
        <p:nvSpPr>
          <p:cNvPr id="23" name="Shape 18"/>
          <p:cNvSpPr/>
          <p:nvPr/>
        </p:nvSpPr>
        <p:spPr>
          <a:xfrm>
            <a:off x="3328416" y="2240280"/>
            <a:ext cx="2633472" cy="960120"/>
          </a:xfrm>
          <a:prstGeom prst="rect">
            <a:avLst/>
          </a:prstGeom>
          <a:solidFill>
            <a:srgbClr val="12203F"/>
          </a:solidFill>
          <a:ln/>
        </p:spPr>
      </p:sp>
      <p:sp>
        <p:nvSpPr>
          <p:cNvPr id="24" name="Shape 19"/>
          <p:cNvSpPr/>
          <p:nvPr/>
        </p:nvSpPr>
        <p:spPr>
          <a:xfrm>
            <a:off x="3602736" y="2441448"/>
            <a:ext cx="548640" cy="548640"/>
          </a:xfrm>
          <a:prstGeom prst="ellipse">
            <a:avLst/>
          </a:prstGeom>
          <a:solidFill>
            <a:srgbClr val="1B2E54"/>
          </a:solidFill>
          <a:ln/>
        </p:spPr>
      </p:sp>
      <p:pic>
        <p:nvPicPr>
          <p:cNvPr id="25" name="Image 3" descr="preencoded.png">    </p:cNvPr>
          <p:cNvPicPr>
            <a:picLocks noChangeAspect="1"/>
          </p:cNvPicPr>
          <p:nvPr/>
        </p:nvPicPr>
        <p:blipFill>
          <a:blip r:embed="rId4"/>
          <a:stretch>
            <a:fillRect/>
          </a:stretch>
        </p:blipFill>
        <p:spPr>
          <a:xfrm>
            <a:off x="3723437" y="2562149"/>
            <a:ext cx="307238" cy="307238"/>
          </a:xfrm>
          <a:prstGeom prst="rect">
            <a:avLst/>
          </a:prstGeom>
        </p:spPr>
      </p:pic>
      <p:sp>
        <p:nvSpPr>
          <p:cNvPr id="26" name="Text 20"/>
          <p:cNvSpPr/>
          <p:nvPr/>
        </p:nvSpPr>
        <p:spPr>
          <a:xfrm>
            <a:off x="4334256" y="2404872"/>
            <a:ext cx="1536192" cy="256032"/>
          </a:xfrm>
          <a:prstGeom prst="rect">
            <a:avLst/>
          </a:prstGeom>
          <a:noFill/>
          <a:ln/>
        </p:spPr>
        <p:txBody>
          <a:bodyPr wrap="square" lIns="0" tIns="0" rIns="0" bIns="0" rtlCol="0" anchor="ctr"/>
          <a:lstStyle/>
          <a:p>
            <a:pPr indent="0" marL="0">
              <a:buNone/>
            </a:pPr>
            <a:r>
              <a:rPr lang="en-US" sz="950" b="1" spc="200" kern="0" dirty="0">
                <a:solidFill>
                  <a:srgbClr val="FFFFFF"/>
                </a:solidFill>
                <a:latin typeface="Calibri" pitchFamily="34" charset="0"/>
                <a:ea typeface="Calibri" pitchFamily="34" charset="-122"/>
                <a:cs typeface="Calibri" pitchFamily="34" charset="-120"/>
              </a:rPr>
              <a:t>PHASE 5</a:t>
            </a:r>
            <a:endParaRPr lang="en-US" sz="950" dirty="0"/>
          </a:p>
        </p:txBody>
      </p:sp>
      <p:sp>
        <p:nvSpPr>
          <p:cNvPr id="27" name="Text 21"/>
          <p:cNvSpPr/>
          <p:nvPr/>
        </p:nvSpPr>
        <p:spPr>
          <a:xfrm>
            <a:off x="4334256" y="2697480"/>
            <a:ext cx="1536192" cy="420624"/>
          </a:xfrm>
          <a:prstGeom prst="rect">
            <a:avLst/>
          </a:prstGeom>
          <a:noFill/>
          <a:ln/>
        </p:spPr>
        <p:txBody>
          <a:bodyPr wrap="square" lIns="0" tIns="0" rIns="0" bIns="0" rtlCol="0" anchor="ctr"/>
          <a:lstStyle/>
          <a:p>
            <a:pPr indent="0" marL="0">
              <a:buNone/>
            </a:pPr>
            <a:r>
              <a:rPr lang="en-US" sz="1850" b="1" dirty="0">
                <a:solidFill>
                  <a:srgbClr val="FFFFFF"/>
                </a:solidFill>
                <a:latin typeface="Georgia" pitchFamily="34" charset="0"/>
                <a:ea typeface="Georgia" pitchFamily="34" charset="-122"/>
                <a:cs typeface="Georgia" pitchFamily="34" charset="-120"/>
              </a:rPr>
              <a:t>Tasks</a:t>
            </a:r>
            <a:endParaRPr lang="en-US" sz="1850" dirty="0"/>
          </a:p>
        </p:txBody>
      </p:sp>
      <p:sp>
        <p:nvSpPr>
          <p:cNvPr id="28" name="Text 22"/>
          <p:cNvSpPr/>
          <p:nvPr/>
        </p:nvSpPr>
        <p:spPr>
          <a:xfrm>
            <a:off x="3584448" y="3319272"/>
            <a:ext cx="2231136" cy="1719072"/>
          </a:xfrm>
          <a:prstGeom prst="rect">
            <a:avLst/>
          </a:prstGeom>
          <a:noFill/>
          <a:ln/>
        </p:spPr>
        <p:txBody>
          <a:bodyPr wrap="square" lIns="0" tIns="0" rIns="0" bIns="0" rtlCol="0" anchor="ctr"/>
          <a:lstStyle/>
          <a:p>
            <a:pPr indent="0" marL="0">
              <a:buNone/>
            </a:pPr>
            <a:r>
              <a:rPr lang="en-US" sz="1100" dirty="0">
                <a:solidFill>
                  <a:srgbClr val="1A2333"/>
                </a:solidFill>
                <a:latin typeface="Calibri" pitchFamily="34" charset="0"/>
                <a:ea typeface="Calibri" pitchFamily="34" charset="-122"/>
                <a:cs typeface="Calibri" pitchFamily="34" charset="-120"/>
              </a:rPr>
              <a:t>The plan is broken into small, concrete, independently verifiable tasks. Each task maps to a requirement in the spec. This list becomes the single source of truth for what's done and what remains — visible to anyone.</a:t>
            </a:r>
            <a:endParaRPr lang="en-US" sz="1100" dirty="0"/>
          </a:p>
        </p:txBody>
      </p:sp>
      <p:sp>
        <p:nvSpPr>
          <p:cNvPr id="29" name="Shape 23"/>
          <p:cNvSpPr/>
          <p:nvPr/>
        </p:nvSpPr>
        <p:spPr>
          <a:xfrm>
            <a:off x="3584448" y="5093208"/>
            <a:ext cx="2286000" cy="0"/>
          </a:xfrm>
          <a:prstGeom prst="line">
            <a:avLst/>
          </a:prstGeom>
          <a:noFill/>
          <a:ln w="9525">
            <a:solidFill>
              <a:srgbClr val="D8E2F0"/>
            </a:solidFill>
            <a:prstDash val="solid"/>
          </a:ln>
        </p:spPr>
      </p:sp>
      <p:sp>
        <p:nvSpPr>
          <p:cNvPr id="30" name="Text 24"/>
          <p:cNvSpPr/>
          <p:nvPr/>
        </p:nvSpPr>
        <p:spPr>
          <a:xfrm>
            <a:off x="3584448" y="5148072"/>
            <a:ext cx="914400" cy="219456"/>
          </a:xfrm>
          <a:prstGeom prst="rect">
            <a:avLst/>
          </a:prstGeom>
          <a:noFill/>
          <a:ln/>
        </p:spPr>
        <p:txBody>
          <a:bodyPr wrap="square" lIns="0" tIns="0" rIns="0" bIns="0" rtlCol="0" anchor="ctr"/>
          <a:lstStyle/>
          <a:p>
            <a:pPr indent="0" marL="0">
              <a:buNone/>
            </a:pPr>
            <a:r>
              <a:rPr lang="en-US" sz="750" b="1" spc="150" kern="0" dirty="0">
                <a:solidFill>
                  <a:srgbClr val="5A6478"/>
                </a:solidFill>
                <a:latin typeface="Calibri" pitchFamily="34" charset="0"/>
                <a:ea typeface="Calibri" pitchFamily="34" charset="-122"/>
                <a:cs typeface="Calibri" pitchFamily="34" charset="-120"/>
              </a:rPr>
              <a:t>PRODUCES</a:t>
            </a:r>
            <a:endParaRPr lang="en-US" sz="750" dirty="0"/>
          </a:p>
        </p:txBody>
      </p:sp>
      <p:pic>
        <p:nvPicPr>
          <p:cNvPr id="31" name="Image 4" descr="preencoded.png">    </p:cNvPr>
          <p:cNvPicPr>
            <a:picLocks noChangeAspect="1"/>
          </p:cNvPicPr>
          <p:nvPr/>
        </p:nvPicPr>
        <p:blipFill>
          <a:blip r:embed="rId5"/>
          <a:stretch>
            <a:fillRect/>
          </a:stretch>
        </p:blipFill>
        <p:spPr>
          <a:xfrm>
            <a:off x="4535424" y="5138928"/>
            <a:ext cx="182880" cy="182880"/>
          </a:xfrm>
          <a:prstGeom prst="rect">
            <a:avLst/>
          </a:prstGeom>
        </p:spPr>
      </p:pic>
      <p:sp>
        <p:nvSpPr>
          <p:cNvPr id="32" name="Text 25"/>
          <p:cNvSpPr/>
          <p:nvPr/>
        </p:nvSpPr>
        <p:spPr>
          <a:xfrm>
            <a:off x="4754880" y="5120640"/>
            <a:ext cx="1033272" cy="237744"/>
          </a:xfrm>
          <a:prstGeom prst="rect">
            <a:avLst/>
          </a:prstGeom>
          <a:noFill/>
          <a:ln/>
        </p:spPr>
        <p:txBody>
          <a:bodyPr wrap="square" lIns="0" tIns="0" rIns="0" bIns="0" rtlCol="0" anchor="ctr"/>
          <a:lstStyle/>
          <a:p>
            <a:pPr indent="0" marL="0">
              <a:buNone/>
            </a:pPr>
            <a:r>
              <a:rPr lang="en-US" sz="1050" b="1" dirty="0">
                <a:solidFill>
                  <a:srgbClr val="1A2333"/>
                </a:solidFill>
                <a:latin typeface="Calibri" pitchFamily="34" charset="0"/>
                <a:ea typeface="Calibri" pitchFamily="34" charset="-122"/>
                <a:cs typeface="Calibri" pitchFamily="34" charset="-120"/>
              </a:rPr>
              <a:t>tasks.md</a:t>
            </a:r>
            <a:endParaRPr lang="en-US" sz="1050" dirty="0"/>
          </a:p>
        </p:txBody>
      </p:sp>
      <p:sp>
        <p:nvSpPr>
          <p:cNvPr id="33" name="Text 26"/>
          <p:cNvSpPr/>
          <p:nvPr/>
        </p:nvSpPr>
        <p:spPr>
          <a:xfrm>
            <a:off x="3584448" y="5385816"/>
            <a:ext cx="914400" cy="219456"/>
          </a:xfrm>
          <a:prstGeom prst="rect">
            <a:avLst/>
          </a:prstGeom>
          <a:noFill/>
          <a:ln/>
        </p:spPr>
        <p:txBody>
          <a:bodyPr wrap="square" lIns="0" tIns="0" rIns="0" bIns="0" rtlCol="0" anchor="ctr"/>
          <a:lstStyle/>
          <a:p>
            <a:pPr indent="0" marL="0">
              <a:buNone/>
            </a:pPr>
            <a:r>
              <a:rPr lang="en-US" sz="750" b="1" spc="150" kern="0" dirty="0">
                <a:solidFill>
                  <a:srgbClr val="5A6478"/>
                </a:solidFill>
                <a:latin typeface="Calibri" pitchFamily="34" charset="0"/>
                <a:ea typeface="Calibri" pitchFamily="34" charset="-122"/>
                <a:cs typeface="Calibri" pitchFamily="34" charset="-120"/>
              </a:rPr>
              <a:t>OWNER</a:t>
            </a:r>
            <a:endParaRPr lang="en-US" sz="750" dirty="0"/>
          </a:p>
        </p:txBody>
      </p:sp>
      <p:sp>
        <p:nvSpPr>
          <p:cNvPr id="34" name="Text 27"/>
          <p:cNvSpPr/>
          <p:nvPr/>
        </p:nvSpPr>
        <p:spPr>
          <a:xfrm>
            <a:off x="4535424" y="5367528"/>
            <a:ext cx="1261872" cy="237744"/>
          </a:xfrm>
          <a:prstGeom prst="rect">
            <a:avLst/>
          </a:prstGeom>
          <a:noFill/>
          <a:ln/>
        </p:spPr>
        <p:txBody>
          <a:bodyPr wrap="square" lIns="0" tIns="0" rIns="0" bIns="0" rtlCol="0" anchor="ctr"/>
          <a:lstStyle/>
          <a:p>
            <a:pPr indent="0" marL="0">
              <a:buNone/>
            </a:pPr>
            <a:r>
              <a:rPr lang="en-US" sz="1050" dirty="0">
                <a:solidFill>
                  <a:srgbClr val="1A2333"/>
                </a:solidFill>
                <a:latin typeface="Calibri" pitchFamily="34" charset="0"/>
                <a:ea typeface="Calibri" pitchFamily="34" charset="-122"/>
                <a:cs typeface="Calibri" pitchFamily="34" charset="-120"/>
              </a:rPr>
              <a:t>Engineering</a:t>
            </a:r>
            <a:endParaRPr lang="en-US" sz="1050" dirty="0"/>
          </a:p>
        </p:txBody>
      </p:sp>
      <p:sp>
        <p:nvSpPr>
          <p:cNvPr id="35" name="Shape 28"/>
          <p:cNvSpPr/>
          <p:nvPr/>
        </p:nvSpPr>
        <p:spPr>
          <a:xfrm>
            <a:off x="3584448" y="5678424"/>
            <a:ext cx="2286000" cy="658368"/>
          </a:xfrm>
          <a:prstGeom prst="rect">
            <a:avLst/>
          </a:prstGeom>
          <a:solidFill>
            <a:srgbClr val="F4F6FB"/>
          </a:solidFill>
          <a:ln w="6350">
            <a:solidFill>
              <a:srgbClr val="D8E2F0"/>
            </a:solidFill>
            <a:prstDash val="solid"/>
          </a:ln>
        </p:spPr>
      </p:sp>
      <p:sp>
        <p:nvSpPr>
          <p:cNvPr id="36" name="Text 29"/>
          <p:cNvSpPr/>
          <p:nvPr/>
        </p:nvSpPr>
        <p:spPr>
          <a:xfrm>
            <a:off x="3657600" y="5715000"/>
            <a:ext cx="2157984" cy="566928"/>
          </a:xfrm>
          <a:prstGeom prst="rect">
            <a:avLst/>
          </a:prstGeom>
          <a:noFill/>
          <a:ln/>
        </p:spPr>
        <p:txBody>
          <a:bodyPr wrap="square" lIns="0" tIns="0" rIns="0" bIns="0" rtlCol="0" anchor="ctr"/>
          <a:lstStyle/>
          <a:p>
            <a:pPr indent="0" marL="0">
              <a:buNone/>
            </a:pPr>
            <a:r>
              <a:rPr lang="en-US" sz="950" i="1" dirty="0">
                <a:solidFill>
                  <a:srgbClr val="5A6478"/>
                </a:solidFill>
                <a:latin typeface="Calibri" pitchFamily="34" charset="0"/>
                <a:ea typeface="Calibri" pitchFamily="34" charset="-122"/>
                <a:cs typeface="Calibri" pitchFamily="34" charset="-120"/>
              </a:rPr>
              <a:t>A task list you can track is how 'we're working on it' becomes 'we're 70% done' with evidence.</a:t>
            </a:r>
            <a:endParaRPr lang="en-US" sz="950" dirty="0"/>
          </a:p>
        </p:txBody>
      </p:sp>
      <p:sp>
        <p:nvSpPr>
          <p:cNvPr id="37" name="Shape 30"/>
          <p:cNvSpPr/>
          <p:nvPr/>
        </p:nvSpPr>
        <p:spPr>
          <a:xfrm>
            <a:off x="6199632" y="2240280"/>
            <a:ext cx="2633472" cy="4206240"/>
          </a:xfrm>
          <a:prstGeom prst="rect">
            <a:avLst/>
          </a:prstGeom>
          <a:solidFill>
            <a:srgbClr val="FFFFFF"/>
          </a:solidFill>
          <a:ln w="12700">
            <a:solidFill>
              <a:srgbClr val="D8E2F0"/>
            </a:solidFill>
            <a:prstDash val="solid"/>
          </a:ln>
          <a:effectLst>
            <a:outerShdw sx="100000" sy="100000" kx="0" ky="0" algn="bl" rotWithShape="0" blurRad="127000" dist="38100" dir="8100000">
              <a:srgbClr val="000000">
                <a:alpha val="14000"/>
              </a:srgbClr>
            </a:outerShdw>
          </a:effectLst>
        </p:spPr>
      </p:sp>
      <p:sp>
        <p:nvSpPr>
          <p:cNvPr id="38" name="Shape 31"/>
          <p:cNvSpPr/>
          <p:nvPr/>
        </p:nvSpPr>
        <p:spPr>
          <a:xfrm>
            <a:off x="6199632" y="2240280"/>
            <a:ext cx="2633472" cy="960120"/>
          </a:xfrm>
          <a:prstGeom prst="rect">
            <a:avLst/>
          </a:prstGeom>
          <a:solidFill>
            <a:srgbClr val="12203F"/>
          </a:solidFill>
          <a:ln/>
        </p:spPr>
      </p:sp>
      <p:sp>
        <p:nvSpPr>
          <p:cNvPr id="39" name="Shape 32"/>
          <p:cNvSpPr/>
          <p:nvPr/>
        </p:nvSpPr>
        <p:spPr>
          <a:xfrm>
            <a:off x="6473952" y="2441448"/>
            <a:ext cx="548640" cy="548640"/>
          </a:xfrm>
          <a:prstGeom prst="ellipse">
            <a:avLst/>
          </a:prstGeom>
          <a:solidFill>
            <a:srgbClr val="1B2E54"/>
          </a:solidFill>
          <a:ln/>
        </p:spPr>
      </p:sp>
      <p:pic>
        <p:nvPicPr>
          <p:cNvPr id="40" name="Image 5" descr="preencoded.png">    </p:cNvPr>
          <p:cNvPicPr>
            <a:picLocks noChangeAspect="1"/>
          </p:cNvPicPr>
          <p:nvPr/>
        </p:nvPicPr>
        <p:blipFill>
          <a:blip r:embed="rId6"/>
          <a:stretch>
            <a:fillRect/>
          </a:stretch>
        </p:blipFill>
        <p:spPr>
          <a:xfrm>
            <a:off x="6594653" y="2562149"/>
            <a:ext cx="307238" cy="307238"/>
          </a:xfrm>
          <a:prstGeom prst="rect">
            <a:avLst/>
          </a:prstGeom>
        </p:spPr>
      </p:pic>
      <p:sp>
        <p:nvSpPr>
          <p:cNvPr id="41" name="Text 33"/>
          <p:cNvSpPr/>
          <p:nvPr/>
        </p:nvSpPr>
        <p:spPr>
          <a:xfrm>
            <a:off x="7205472" y="2404872"/>
            <a:ext cx="1536192" cy="256032"/>
          </a:xfrm>
          <a:prstGeom prst="rect">
            <a:avLst/>
          </a:prstGeom>
          <a:noFill/>
          <a:ln/>
        </p:spPr>
        <p:txBody>
          <a:bodyPr wrap="square" lIns="0" tIns="0" rIns="0" bIns="0" rtlCol="0" anchor="ctr"/>
          <a:lstStyle/>
          <a:p>
            <a:pPr indent="0" marL="0">
              <a:buNone/>
            </a:pPr>
            <a:r>
              <a:rPr lang="en-US" sz="950" b="1" spc="200" kern="0" dirty="0">
                <a:solidFill>
                  <a:srgbClr val="FFFFFF"/>
                </a:solidFill>
                <a:latin typeface="Calibri" pitchFamily="34" charset="0"/>
                <a:ea typeface="Calibri" pitchFamily="34" charset="-122"/>
                <a:cs typeface="Calibri" pitchFamily="34" charset="-120"/>
              </a:rPr>
              <a:t>PHASE 6</a:t>
            </a:r>
            <a:endParaRPr lang="en-US" sz="950" dirty="0"/>
          </a:p>
        </p:txBody>
      </p:sp>
      <p:sp>
        <p:nvSpPr>
          <p:cNvPr id="42" name="Text 34"/>
          <p:cNvSpPr/>
          <p:nvPr/>
        </p:nvSpPr>
        <p:spPr>
          <a:xfrm>
            <a:off x="7205472" y="2697480"/>
            <a:ext cx="1536192" cy="420624"/>
          </a:xfrm>
          <a:prstGeom prst="rect">
            <a:avLst/>
          </a:prstGeom>
          <a:noFill/>
          <a:ln/>
        </p:spPr>
        <p:txBody>
          <a:bodyPr wrap="square" lIns="0" tIns="0" rIns="0" bIns="0" rtlCol="0" anchor="ctr"/>
          <a:lstStyle/>
          <a:p>
            <a:pPr indent="0" marL="0">
              <a:buNone/>
            </a:pPr>
            <a:r>
              <a:rPr lang="en-US" sz="1850" b="1" dirty="0">
                <a:solidFill>
                  <a:srgbClr val="FFFFFF"/>
                </a:solidFill>
                <a:latin typeface="Georgia" pitchFamily="34" charset="0"/>
                <a:ea typeface="Georgia" pitchFamily="34" charset="-122"/>
                <a:cs typeface="Georgia" pitchFamily="34" charset="-120"/>
              </a:rPr>
              <a:t>Analyze</a:t>
            </a:r>
            <a:endParaRPr lang="en-US" sz="1850" dirty="0"/>
          </a:p>
        </p:txBody>
      </p:sp>
      <p:sp>
        <p:nvSpPr>
          <p:cNvPr id="43" name="Text 35"/>
          <p:cNvSpPr/>
          <p:nvPr/>
        </p:nvSpPr>
        <p:spPr>
          <a:xfrm>
            <a:off x="6455664" y="3319272"/>
            <a:ext cx="2231136" cy="1719072"/>
          </a:xfrm>
          <a:prstGeom prst="rect">
            <a:avLst/>
          </a:prstGeom>
          <a:noFill/>
          <a:ln/>
        </p:spPr>
        <p:txBody>
          <a:bodyPr wrap="square" lIns="0" tIns="0" rIns="0" bIns="0" rtlCol="0" anchor="ctr"/>
          <a:lstStyle/>
          <a:p>
            <a:pPr indent="0" marL="0">
              <a:buNone/>
            </a:pPr>
            <a:r>
              <a:rPr lang="en-US" sz="1100" dirty="0">
                <a:solidFill>
                  <a:srgbClr val="1A2333"/>
                </a:solidFill>
                <a:latin typeface="Calibri" pitchFamily="34" charset="0"/>
                <a:ea typeface="Calibri" pitchFamily="34" charset="-122"/>
                <a:cs typeface="Calibri" pitchFamily="34" charset="-120"/>
              </a:rPr>
              <a:t>An automated cross-check: do the tasks cover every requirement in the spec? Does the plan contradict the constitution? Are there gaps the team missed? This step catches alignment issues before they become bugs.</a:t>
            </a:r>
            <a:endParaRPr lang="en-US" sz="1100" dirty="0"/>
          </a:p>
        </p:txBody>
      </p:sp>
      <p:sp>
        <p:nvSpPr>
          <p:cNvPr id="44" name="Shape 36"/>
          <p:cNvSpPr/>
          <p:nvPr/>
        </p:nvSpPr>
        <p:spPr>
          <a:xfrm>
            <a:off x="6455664" y="5093208"/>
            <a:ext cx="2286000" cy="0"/>
          </a:xfrm>
          <a:prstGeom prst="line">
            <a:avLst/>
          </a:prstGeom>
          <a:noFill/>
          <a:ln w="9525">
            <a:solidFill>
              <a:srgbClr val="D8E2F0"/>
            </a:solidFill>
            <a:prstDash val="solid"/>
          </a:ln>
        </p:spPr>
      </p:sp>
      <p:sp>
        <p:nvSpPr>
          <p:cNvPr id="45" name="Text 37"/>
          <p:cNvSpPr/>
          <p:nvPr/>
        </p:nvSpPr>
        <p:spPr>
          <a:xfrm>
            <a:off x="6455664" y="5148072"/>
            <a:ext cx="914400" cy="219456"/>
          </a:xfrm>
          <a:prstGeom prst="rect">
            <a:avLst/>
          </a:prstGeom>
          <a:noFill/>
          <a:ln/>
        </p:spPr>
        <p:txBody>
          <a:bodyPr wrap="square" lIns="0" tIns="0" rIns="0" bIns="0" rtlCol="0" anchor="ctr"/>
          <a:lstStyle/>
          <a:p>
            <a:pPr indent="0" marL="0">
              <a:buNone/>
            </a:pPr>
            <a:r>
              <a:rPr lang="en-US" sz="750" b="1" spc="150" kern="0" dirty="0">
                <a:solidFill>
                  <a:srgbClr val="5A6478"/>
                </a:solidFill>
                <a:latin typeface="Calibri" pitchFamily="34" charset="0"/>
                <a:ea typeface="Calibri" pitchFamily="34" charset="-122"/>
                <a:cs typeface="Calibri" pitchFamily="34" charset="-120"/>
              </a:rPr>
              <a:t>PRODUCES</a:t>
            </a:r>
            <a:endParaRPr lang="en-US" sz="750" dirty="0"/>
          </a:p>
        </p:txBody>
      </p:sp>
      <p:pic>
        <p:nvPicPr>
          <p:cNvPr id="46" name="Image 6" descr="preencoded.png">    </p:cNvPr>
          <p:cNvPicPr>
            <a:picLocks noChangeAspect="1"/>
          </p:cNvPicPr>
          <p:nvPr/>
        </p:nvPicPr>
        <p:blipFill>
          <a:blip r:embed="rId7"/>
          <a:stretch>
            <a:fillRect/>
          </a:stretch>
        </p:blipFill>
        <p:spPr>
          <a:xfrm>
            <a:off x="7406640" y="5138928"/>
            <a:ext cx="182880" cy="182880"/>
          </a:xfrm>
          <a:prstGeom prst="rect">
            <a:avLst/>
          </a:prstGeom>
        </p:spPr>
      </p:pic>
      <p:sp>
        <p:nvSpPr>
          <p:cNvPr id="47" name="Text 38"/>
          <p:cNvSpPr/>
          <p:nvPr/>
        </p:nvSpPr>
        <p:spPr>
          <a:xfrm>
            <a:off x="7626096" y="5120640"/>
            <a:ext cx="1033272" cy="237744"/>
          </a:xfrm>
          <a:prstGeom prst="rect">
            <a:avLst/>
          </a:prstGeom>
          <a:noFill/>
          <a:ln/>
        </p:spPr>
        <p:txBody>
          <a:bodyPr wrap="square" lIns="0" tIns="0" rIns="0" bIns="0" rtlCol="0" anchor="ctr"/>
          <a:lstStyle/>
          <a:p>
            <a:pPr indent="0" marL="0">
              <a:buNone/>
            </a:pPr>
            <a:r>
              <a:rPr lang="en-US" sz="1050" b="1" dirty="0">
                <a:solidFill>
                  <a:srgbClr val="1A2333"/>
                </a:solidFill>
                <a:latin typeface="Calibri" pitchFamily="34" charset="0"/>
                <a:ea typeface="Calibri" pitchFamily="34" charset="-122"/>
                <a:cs typeface="Calibri" pitchFamily="34" charset="-120"/>
              </a:rPr>
              <a:t>analysis.md</a:t>
            </a:r>
            <a:endParaRPr lang="en-US" sz="1050" dirty="0"/>
          </a:p>
        </p:txBody>
      </p:sp>
      <p:sp>
        <p:nvSpPr>
          <p:cNvPr id="48" name="Text 39"/>
          <p:cNvSpPr/>
          <p:nvPr/>
        </p:nvSpPr>
        <p:spPr>
          <a:xfrm>
            <a:off x="6455664" y="5385816"/>
            <a:ext cx="914400" cy="219456"/>
          </a:xfrm>
          <a:prstGeom prst="rect">
            <a:avLst/>
          </a:prstGeom>
          <a:noFill/>
          <a:ln/>
        </p:spPr>
        <p:txBody>
          <a:bodyPr wrap="square" lIns="0" tIns="0" rIns="0" bIns="0" rtlCol="0" anchor="ctr"/>
          <a:lstStyle/>
          <a:p>
            <a:pPr indent="0" marL="0">
              <a:buNone/>
            </a:pPr>
            <a:r>
              <a:rPr lang="en-US" sz="750" b="1" spc="150" kern="0" dirty="0">
                <a:solidFill>
                  <a:srgbClr val="5A6478"/>
                </a:solidFill>
                <a:latin typeface="Calibri" pitchFamily="34" charset="0"/>
                <a:ea typeface="Calibri" pitchFamily="34" charset="-122"/>
                <a:cs typeface="Calibri" pitchFamily="34" charset="-120"/>
              </a:rPr>
              <a:t>OWNER</a:t>
            </a:r>
            <a:endParaRPr lang="en-US" sz="750" dirty="0"/>
          </a:p>
        </p:txBody>
      </p:sp>
      <p:sp>
        <p:nvSpPr>
          <p:cNvPr id="49" name="Text 40"/>
          <p:cNvSpPr/>
          <p:nvPr/>
        </p:nvSpPr>
        <p:spPr>
          <a:xfrm>
            <a:off x="7406640" y="5367528"/>
            <a:ext cx="1261872" cy="237744"/>
          </a:xfrm>
          <a:prstGeom prst="rect">
            <a:avLst/>
          </a:prstGeom>
          <a:noFill/>
          <a:ln/>
        </p:spPr>
        <p:txBody>
          <a:bodyPr wrap="square" lIns="0" tIns="0" rIns="0" bIns="0" rtlCol="0" anchor="ctr"/>
          <a:lstStyle/>
          <a:p>
            <a:pPr indent="0" marL="0">
              <a:buNone/>
            </a:pPr>
            <a:r>
              <a:rPr lang="en-US" sz="1050" dirty="0">
                <a:solidFill>
                  <a:srgbClr val="1A2333"/>
                </a:solidFill>
                <a:latin typeface="Calibri" pitchFamily="34" charset="0"/>
                <a:ea typeface="Calibri" pitchFamily="34" charset="-122"/>
                <a:cs typeface="Calibri" pitchFamily="34" charset="-120"/>
              </a:rPr>
              <a:t>Tech Lead</a:t>
            </a:r>
            <a:endParaRPr lang="en-US" sz="1050" dirty="0"/>
          </a:p>
        </p:txBody>
      </p:sp>
      <p:sp>
        <p:nvSpPr>
          <p:cNvPr id="50" name="Shape 41"/>
          <p:cNvSpPr/>
          <p:nvPr/>
        </p:nvSpPr>
        <p:spPr>
          <a:xfrm>
            <a:off x="6455664" y="5678424"/>
            <a:ext cx="2286000" cy="658368"/>
          </a:xfrm>
          <a:prstGeom prst="rect">
            <a:avLst/>
          </a:prstGeom>
          <a:solidFill>
            <a:srgbClr val="F4F6FB"/>
          </a:solidFill>
          <a:ln w="6350">
            <a:solidFill>
              <a:srgbClr val="D8E2F0"/>
            </a:solidFill>
            <a:prstDash val="solid"/>
          </a:ln>
        </p:spPr>
      </p:sp>
      <p:sp>
        <p:nvSpPr>
          <p:cNvPr id="51" name="Text 42"/>
          <p:cNvSpPr/>
          <p:nvPr/>
        </p:nvSpPr>
        <p:spPr>
          <a:xfrm>
            <a:off x="6528816" y="5715000"/>
            <a:ext cx="2157984" cy="566928"/>
          </a:xfrm>
          <a:prstGeom prst="rect">
            <a:avLst/>
          </a:prstGeom>
          <a:noFill/>
          <a:ln/>
        </p:spPr>
        <p:txBody>
          <a:bodyPr wrap="square" lIns="0" tIns="0" rIns="0" bIns="0" rtlCol="0" anchor="ctr"/>
          <a:lstStyle/>
          <a:p>
            <a:pPr indent="0" marL="0">
              <a:buNone/>
            </a:pPr>
            <a:r>
              <a:rPr lang="en-US" sz="950" i="1" dirty="0">
                <a:solidFill>
                  <a:srgbClr val="5A6478"/>
                </a:solidFill>
                <a:latin typeface="Calibri" pitchFamily="34" charset="0"/>
                <a:ea typeface="Calibri" pitchFamily="34" charset="-122"/>
                <a:cs typeface="Calibri" pitchFamily="34" charset="-120"/>
              </a:rPr>
              <a:t>Catches 'we forgot about X' at the planning stage, not after it ships.</a:t>
            </a:r>
            <a:endParaRPr lang="en-US" sz="950" dirty="0"/>
          </a:p>
        </p:txBody>
      </p:sp>
      <p:sp>
        <p:nvSpPr>
          <p:cNvPr id="52" name="Shape 43"/>
          <p:cNvSpPr/>
          <p:nvPr/>
        </p:nvSpPr>
        <p:spPr>
          <a:xfrm>
            <a:off x="9070848" y="2240280"/>
            <a:ext cx="2633472" cy="4206240"/>
          </a:xfrm>
          <a:prstGeom prst="rect">
            <a:avLst/>
          </a:prstGeom>
          <a:solidFill>
            <a:srgbClr val="FFFFFF"/>
          </a:solidFill>
          <a:ln w="12700">
            <a:solidFill>
              <a:srgbClr val="D8E2F0"/>
            </a:solidFill>
            <a:prstDash val="solid"/>
          </a:ln>
          <a:effectLst>
            <a:outerShdw sx="100000" sy="100000" kx="0" ky="0" algn="bl" rotWithShape="0" blurRad="127000" dist="38100" dir="8100000">
              <a:srgbClr val="000000">
                <a:alpha val="14000"/>
              </a:srgbClr>
            </a:outerShdw>
          </a:effectLst>
        </p:spPr>
      </p:sp>
      <p:sp>
        <p:nvSpPr>
          <p:cNvPr id="53" name="Shape 44"/>
          <p:cNvSpPr/>
          <p:nvPr/>
        </p:nvSpPr>
        <p:spPr>
          <a:xfrm>
            <a:off x="9070848" y="2240280"/>
            <a:ext cx="2633472" cy="960120"/>
          </a:xfrm>
          <a:prstGeom prst="rect">
            <a:avLst/>
          </a:prstGeom>
          <a:solidFill>
            <a:srgbClr val="2EC4B6"/>
          </a:solidFill>
          <a:ln/>
        </p:spPr>
      </p:sp>
      <p:sp>
        <p:nvSpPr>
          <p:cNvPr id="54" name="Shape 45"/>
          <p:cNvSpPr/>
          <p:nvPr/>
        </p:nvSpPr>
        <p:spPr>
          <a:xfrm>
            <a:off x="9345168" y="2441448"/>
            <a:ext cx="548640" cy="548640"/>
          </a:xfrm>
          <a:prstGeom prst="ellipse">
            <a:avLst/>
          </a:prstGeom>
          <a:solidFill>
            <a:srgbClr val="227F79"/>
          </a:solidFill>
          <a:ln/>
        </p:spPr>
      </p:sp>
      <p:pic>
        <p:nvPicPr>
          <p:cNvPr id="55" name="Image 7" descr="preencoded.png">    </p:cNvPr>
          <p:cNvPicPr>
            <a:picLocks noChangeAspect="1"/>
          </p:cNvPicPr>
          <p:nvPr/>
        </p:nvPicPr>
        <p:blipFill>
          <a:blip r:embed="rId8"/>
          <a:stretch>
            <a:fillRect/>
          </a:stretch>
        </p:blipFill>
        <p:spPr>
          <a:xfrm>
            <a:off x="9465869" y="2562149"/>
            <a:ext cx="307238" cy="307238"/>
          </a:xfrm>
          <a:prstGeom prst="rect">
            <a:avLst/>
          </a:prstGeom>
        </p:spPr>
      </p:pic>
      <p:sp>
        <p:nvSpPr>
          <p:cNvPr id="56" name="Text 46"/>
          <p:cNvSpPr/>
          <p:nvPr/>
        </p:nvSpPr>
        <p:spPr>
          <a:xfrm>
            <a:off x="10076688" y="2404872"/>
            <a:ext cx="1536192" cy="256032"/>
          </a:xfrm>
          <a:prstGeom prst="rect">
            <a:avLst/>
          </a:prstGeom>
          <a:noFill/>
          <a:ln/>
        </p:spPr>
        <p:txBody>
          <a:bodyPr wrap="square" lIns="0" tIns="0" rIns="0" bIns="0" rtlCol="0" anchor="ctr"/>
          <a:lstStyle/>
          <a:p>
            <a:pPr indent="0" marL="0">
              <a:buNone/>
            </a:pPr>
            <a:r>
              <a:rPr lang="en-US" sz="950" b="1" spc="200" kern="0" dirty="0">
                <a:solidFill>
                  <a:srgbClr val="FFFFFF"/>
                </a:solidFill>
                <a:latin typeface="Calibri" pitchFamily="34" charset="0"/>
                <a:ea typeface="Calibri" pitchFamily="34" charset="-122"/>
                <a:cs typeface="Calibri" pitchFamily="34" charset="-120"/>
              </a:rPr>
              <a:t>PHASE 7</a:t>
            </a:r>
            <a:endParaRPr lang="en-US" sz="950" dirty="0"/>
          </a:p>
        </p:txBody>
      </p:sp>
      <p:sp>
        <p:nvSpPr>
          <p:cNvPr id="57" name="Text 47"/>
          <p:cNvSpPr/>
          <p:nvPr/>
        </p:nvSpPr>
        <p:spPr>
          <a:xfrm>
            <a:off x="10076688" y="2697480"/>
            <a:ext cx="1536192" cy="420624"/>
          </a:xfrm>
          <a:prstGeom prst="rect">
            <a:avLst/>
          </a:prstGeom>
          <a:noFill/>
          <a:ln/>
        </p:spPr>
        <p:txBody>
          <a:bodyPr wrap="square" lIns="0" tIns="0" rIns="0" bIns="0" rtlCol="0" anchor="ctr"/>
          <a:lstStyle/>
          <a:p>
            <a:pPr indent="0" marL="0">
              <a:buNone/>
            </a:pPr>
            <a:r>
              <a:rPr lang="en-US" sz="1850" b="1" dirty="0">
                <a:solidFill>
                  <a:srgbClr val="FFFFFF"/>
                </a:solidFill>
                <a:latin typeface="Georgia" pitchFamily="34" charset="0"/>
                <a:ea typeface="Georgia" pitchFamily="34" charset="-122"/>
                <a:cs typeface="Georgia" pitchFamily="34" charset="-120"/>
              </a:rPr>
              <a:t>Implement</a:t>
            </a:r>
            <a:endParaRPr lang="en-US" sz="1850" dirty="0"/>
          </a:p>
        </p:txBody>
      </p:sp>
      <p:sp>
        <p:nvSpPr>
          <p:cNvPr id="58" name="Text 48"/>
          <p:cNvSpPr/>
          <p:nvPr/>
        </p:nvSpPr>
        <p:spPr>
          <a:xfrm>
            <a:off x="9326880" y="3319272"/>
            <a:ext cx="2231136" cy="1719072"/>
          </a:xfrm>
          <a:prstGeom prst="rect">
            <a:avLst/>
          </a:prstGeom>
          <a:noFill/>
          <a:ln/>
        </p:spPr>
        <p:txBody>
          <a:bodyPr wrap="square" lIns="0" tIns="0" rIns="0" bIns="0" rtlCol="0" anchor="ctr"/>
          <a:lstStyle/>
          <a:p>
            <a:pPr indent="0" marL="0">
              <a:buNone/>
            </a:pPr>
            <a:r>
              <a:rPr lang="en-US" sz="1100" dirty="0">
                <a:solidFill>
                  <a:srgbClr val="1A2333"/>
                </a:solidFill>
                <a:latin typeface="Calibri" pitchFamily="34" charset="0"/>
                <a:ea typeface="Calibri" pitchFamily="34" charset="-122"/>
                <a:cs typeface="Calibri" pitchFamily="34" charset="-120"/>
              </a:rPr>
              <a:t>With an explicit 'go' from the business owner, engineering builds, tests, and ships. Every commit traces back to a task. Every task traces back to the spec. Scope is fixed — any new idea becomes a new spec.</a:t>
            </a:r>
            <a:endParaRPr lang="en-US" sz="1100" dirty="0"/>
          </a:p>
        </p:txBody>
      </p:sp>
      <p:sp>
        <p:nvSpPr>
          <p:cNvPr id="59" name="Shape 49"/>
          <p:cNvSpPr/>
          <p:nvPr/>
        </p:nvSpPr>
        <p:spPr>
          <a:xfrm>
            <a:off x="9326880" y="5093208"/>
            <a:ext cx="2286000" cy="0"/>
          </a:xfrm>
          <a:prstGeom prst="line">
            <a:avLst/>
          </a:prstGeom>
          <a:noFill/>
          <a:ln w="9525">
            <a:solidFill>
              <a:srgbClr val="D8E2F0"/>
            </a:solidFill>
            <a:prstDash val="solid"/>
          </a:ln>
        </p:spPr>
      </p:sp>
      <p:sp>
        <p:nvSpPr>
          <p:cNvPr id="60" name="Text 50"/>
          <p:cNvSpPr/>
          <p:nvPr/>
        </p:nvSpPr>
        <p:spPr>
          <a:xfrm>
            <a:off x="9326880" y="5148072"/>
            <a:ext cx="914400" cy="219456"/>
          </a:xfrm>
          <a:prstGeom prst="rect">
            <a:avLst/>
          </a:prstGeom>
          <a:noFill/>
          <a:ln/>
        </p:spPr>
        <p:txBody>
          <a:bodyPr wrap="square" lIns="0" tIns="0" rIns="0" bIns="0" rtlCol="0" anchor="ctr"/>
          <a:lstStyle/>
          <a:p>
            <a:pPr indent="0" marL="0">
              <a:buNone/>
            </a:pPr>
            <a:r>
              <a:rPr lang="en-US" sz="750" b="1" spc="150" kern="0" dirty="0">
                <a:solidFill>
                  <a:srgbClr val="5A6478"/>
                </a:solidFill>
                <a:latin typeface="Calibri" pitchFamily="34" charset="0"/>
                <a:ea typeface="Calibri" pitchFamily="34" charset="-122"/>
                <a:cs typeface="Calibri" pitchFamily="34" charset="-120"/>
              </a:rPr>
              <a:t>PRODUCES</a:t>
            </a:r>
            <a:endParaRPr lang="en-US" sz="750" dirty="0"/>
          </a:p>
        </p:txBody>
      </p:sp>
      <p:pic>
        <p:nvPicPr>
          <p:cNvPr id="61" name="Image 8" descr="preencoded.png">    </p:cNvPr>
          <p:cNvPicPr>
            <a:picLocks noChangeAspect="1"/>
          </p:cNvPicPr>
          <p:nvPr/>
        </p:nvPicPr>
        <p:blipFill>
          <a:blip r:embed="rId9"/>
          <a:stretch>
            <a:fillRect/>
          </a:stretch>
        </p:blipFill>
        <p:spPr>
          <a:xfrm>
            <a:off x="10277856" y="5138928"/>
            <a:ext cx="182880" cy="182880"/>
          </a:xfrm>
          <a:prstGeom prst="rect">
            <a:avLst/>
          </a:prstGeom>
        </p:spPr>
      </p:pic>
      <p:sp>
        <p:nvSpPr>
          <p:cNvPr id="62" name="Text 51"/>
          <p:cNvSpPr/>
          <p:nvPr/>
        </p:nvSpPr>
        <p:spPr>
          <a:xfrm>
            <a:off x="10497312" y="5120640"/>
            <a:ext cx="1033272" cy="237744"/>
          </a:xfrm>
          <a:prstGeom prst="rect">
            <a:avLst/>
          </a:prstGeom>
          <a:noFill/>
          <a:ln/>
        </p:spPr>
        <p:txBody>
          <a:bodyPr wrap="square" lIns="0" tIns="0" rIns="0" bIns="0" rtlCol="0" anchor="ctr"/>
          <a:lstStyle/>
          <a:p>
            <a:pPr indent="0" marL="0">
              <a:buNone/>
            </a:pPr>
            <a:r>
              <a:rPr lang="en-US" sz="1050" b="1" dirty="0">
                <a:solidFill>
                  <a:srgbClr val="1A2333"/>
                </a:solidFill>
                <a:latin typeface="Calibri" pitchFamily="34" charset="0"/>
                <a:ea typeface="Calibri" pitchFamily="34" charset="-122"/>
                <a:cs typeface="Calibri" pitchFamily="34" charset="-120"/>
              </a:rPr>
              <a:t>Shipped feature</a:t>
            </a:r>
            <a:endParaRPr lang="en-US" sz="1050" dirty="0"/>
          </a:p>
        </p:txBody>
      </p:sp>
      <p:sp>
        <p:nvSpPr>
          <p:cNvPr id="63" name="Text 52"/>
          <p:cNvSpPr/>
          <p:nvPr/>
        </p:nvSpPr>
        <p:spPr>
          <a:xfrm>
            <a:off x="9326880" y="5385816"/>
            <a:ext cx="914400" cy="219456"/>
          </a:xfrm>
          <a:prstGeom prst="rect">
            <a:avLst/>
          </a:prstGeom>
          <a:noFill/>
          <a:ln/>
        </p:spPr>
        <p:txBody>
          <a:bodyPr wrap="square" lIns="0" tIns="0" rIns="0" bIns="0" rtlCol="0" anchor="ctr"/>
          <a:lstStyle/>
          <a:p>
            <a:pPr indent="0" marL="0">
              <a:buNone/>
            </a:pPr>
            <a:r>
              <a:rPr lang="en-US" sz="750" b="1" spc="150" kern="0" dirty="0">
                <a:solidFill>
                  <a:srgbClr val="5A6478"/>
                </a:solidFill>
                <a:latin typeface="Calibri" pitchFamily="34" charset="0"/>
                <a:ea typeface="Calibri" pitchFamily="34" charset="-122"/>
                <a:cs typeface="Calibri" pitchFamily="34" charset="-120"/>
              </a:rPr>
              <a:t>OWNER</a:t>
            </a:r>
            <a:endParaRPr lang="en-US" sz="750" dirty="0"/>
          </a:p>
        </p:txBody>
      </p:sp>
      <p:sp>
        <p:nvSpPr>
          <p:cNvPr id="64" name="Text 53"/>
          <p:cNvSpPr/>
          <p:nvPr/>
        </p:nvSpPr>
        <p:spPr>
          <a:xfrm>
            <a:off x="10277856" y="5367528"/>
            <a:ext cx="1261872" cy="237744"/>
          </a:xfrm>
          <a:prstGeom prst="rect">
            <a:avLst/>
          </a:prstGeom>
          <a:noFill/>
          <a:ln/>
        </p:spPr>
        <p:txBody>
          <a:bodyPr wrap="square" lIns="0" tIns="0" rIns="0" bIns="0" rtlCol="0" anchor="ctr"/>
          <a:lstStyle/>
          <a:p>
            <a:pPr indent="0" marL="0">
              <a:buNone/>
            </a:pPr>
            <a:r>
              <a:rPr lang="en-US" sz="1050" dirty="0">
                <a:solidFill>
                  <a:srgbClr val="1A2333"/>
                </a:solidFill>
                <a:latin typeface="Calibri" pitchFamily="34" charset="0"/>
                <a:ea typeface="Calibri" pitchFamily="34" charset="-122"/>
                <a:cs typeface="Calibri" pitchFamily="34" charset="-120"/>
              </a:rPr>
              <a:t>Engineering</a:t>
            </a:r>
            <a:endParaRPr lang="en-US" sz="1050" dirty="0"/>
          </a:p>
        </p:txBody>
      </p:sp>
      <p:sp>
        <p:nvSpPr>
          <p:cNvPr id="65" name="Shape 54"/>
          <p:cNvSpPr/>
          <p:nvPr/>
        </p:nvSpPr>
        <p:spPr>
          <a:xfrm>
            <a:off x="9326880" y="5678424"/>
            <a:ext cx="2286000" cy="658368"/>
          </a:xfrm>
          <a:prstGeom prst="rect">
            <a:avLst/>
          </a:prstGeom>
          <a:solidFill>
            <a:srgbClr val="E4F8F7"/>
          </a:solidFill>
          <a:ln w="12700">
            <a:solidFill>
              <a:srgbClr val="2EC4B6"/>
            </a:solidFill>
            <a:prstDash val="solid"/>
          </a:ln>
        </p:spPr>
      </p:sp>
      <p:pic>
        <p:nvPicPr>
          <p:cNvPr id="66" name="Image 9" descr="preencoded.png">    </p:cNvPr>
          <p:cNvPicPr>
            <a:picLocks noChangeAspect="1"/>
          </p:cNvPicPr>
          <p:nvPr/>
        </p:nvPicPr>
        <p:blipFill>
          <a:blip r:embed="rId10"/>
          <a:stretch>
            <a:fillRect/>
          </a:stretch>
        </p:blipFill>
        <p:spPr>
          <a:xfrm>
            <a:off x="9400032" y="5724144"/>
            <a:ext cx="182880" cy="182880"/>
          </a:xfrm>
          <a:prstGeom prst="rect">
            <a:avLst/>
          </a:prstGeom>
        </p:spPr>
      </p:pic>
      <p:sp>
        <p:nvSpPr>
          <p:cNvPr id="67" name="Text 55"/>
          <p:cNvSpPr/>
          <p:nvPr/>
        </p:nvSpPr>
        <p:spPr>
          <a:xfrm>
            <a:off x="9637776" y="5705856"/>
            <a:ext cx="1463040" cy="219456"/>
          </a:xfrm>
          <a:prstGeom prst="rect">
            <a:avLst/>
          </a:prstGeom>
          <a:noFill/>
          <a:ln/>
        </p:spPr>
        <p:txBody>
          <a:bodyPr wrap="square" lIns="0" tIns="0" rIns="0" bIns="0" rtlCol="0" anchor="ctr"/>
          <a:lstStyle/>
          <a:p>
            <a:pPr indent="0" marL="0">
              <a:buNone/>
            </a:pPr>
            <a:r>
              <a:rPr lang="en-US" sz="850" b="1" spc="100" kern="0" dirty="0">
                <a:solidFill>
                  <a:srgbClr val="2EC4B6"/>
                </a:solidFill>
                <a:latin typeface="Calibri" pitchFamily="34" charset="0"/>
                <a:ea typeface="Calibri" pitchFamily="34" charset="-122"/>
                <a:cs typeface="Calibri" pitchFamily="34" charset="-120"/>
              </a:rPr>
              <a:t>APPROVAL GATE</a:t>
            </a:r>
            <a:endParaRPr lang="en-US" sz="850" dirty="0"/>
          </a:p>
        </p:txBody>
      </p:sp>
      <p:sp>
        <p:nvSpPr>
          <p:cNvPr id="68" name="Text 56"/>
          <p:cNvSpPr/>
          <p:nvPr/>
        </p:nvSpPr>
        <p:spPr>
          <a:xfrm>
            <a:off x="9400032" y="5897880"/>
            <a:ext cx="2157984" cy="365760"/>
          </a:xfrm>
          <a:prstGeom prst="rect">
            <a:avLst/>
          </a:prstGeom>
          <a:noFill/>
          <a:ln/>
        </p:spPr>
        <p:txBody>
          <a:bodyPr wrap="square" lIns="0" tIns="0" rIns="0" bIns="0" rtlCol="0" anchor="ctr"/>
          <a:lstStyle/>
          <a:p>
            <a:pPr indent="0" marL="0">
              <a:buNone/>
            </a:pPr>
            <a:r>
              <a:rPr lang="en-US" sz="900" i="1" dirty="0">
                <a:solidFill>
                  <a:srgbClr val="2EC4B6"/>
                </a:solidFill>
                <a:latin typeface="Calibri" pitchFamily="34" charset="0"/>
                <a:ea typeface="Calibri" pitchFamily="34" charset="-122"/>
                <a:cs typeface="Calibri" pitchFamily="34" charset="-120"/>
              </a:rPr>
              <a:t>Explicit GO required. Scope is locked to the approved spec.</a:t>
            </a:r>
            <a:endParaRPr lang="en-US" sz="900" dirty="0"/>
          </a:p>
        </p:txBody>
      </p:sp>
      <p:sp>
        <p:nvSpPr>
          <p:cNvPr id="69" name="Text 57"/>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5A6478"/>
                </a:solidFill>
                <a:latin typeface="Calibri" pitchFamily="34" charset="0"/>
                <a:ea typeface="Calibri" pitchFamily="34" charset="-122"/>
                <a:cs typeface="Calibri" pitchFamily="34" charset="-120"/>
              </a:rPr>
              <a:t>Spec-Driven Development</a:t>
            </a:r>
            <a:endParaRPr lang="en-US" sz="900" dirty="0"/>
          </a:p>
        </p:txBody>
      </p:sp>
      <p:sp>
        <p:nvSpPr>
          <p:cNvPr id="70" name="Text 58"/>
          <p:cNvSpPr/>
          <p:nvPr/>
        </p:nvSpPr>
        <p:spPr>
          <a:xfrm>
            <a:off x="11247120" y="6473952"/>
            <a:ext cx="365760" cy="274320"/>
          </a:xfrm>
          <a:prstGeom prst="rect">
            <a:avLst/>
          </a:prstGeom>
          <a:noFill/>
          <a:ln/>
        </p:spPr>
        <p:txBody>
          <a:bodyPr wrap="square" lIns="0" tIns="0" rIns="0" bIns="0" rtlCol="0" anchor="ctr"/>
          <a:lstStyle/>
          <a:p>
            <a:pPr algn="r" indent="0" marL="0">
              <a:buNone/>
            </a:pPr>
            <a:r>
              <a:rPr lang="en-US" sz="900" dirty="0">
                <a:solidFill>
                  <a:srgbClr val="5A64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03F"/>
        </a:solidFill>
      </p:bgPr>
    </p:bg>
    <p:spTree>
      <p:nvGrpSpPr>
        <p:cNvPr id="1" name=""/>
        <p:cNvGrpSpPr/>
        <p:nvPr/>
      </p:nvGrpSpPr>
      <p:grpSpPr>
        <a:xfrm>
          <a:off x="0" y="0"/>
          <a:ext cx="0" cy="0"/>
          <a:chOff x="0" y="0"/>
          <a:chExt cx="0" cy="0"/>
        </a:xfrm>
      </p:grpSpPr>
      <p:sp>
        <p:nvSpPr>
          <p:cNvPr id="2" name="Text 0"/>
          <p:cNvSpPr/>
          <p:nvPr/>
        </p:nvSpPr>
        <p:spPr>
          <a:xfrm>
            <a:off x="594360" y="438912"/>
            <a:ext cx="10972800" cy="292608"/>
          </a:xfrm>
          <a:prstGeom prst="rect">
            <a:avLst/>
          </a:prstGeom>
          <a:noFill/>
          <a:ln/>
        </p:spPr>
        <p:txBody>
          <a:bodyPr wrap="square" lIns="0" tIns="0" rIns="0" bIns="0" rtlCol="0" anchor="ctr"/>
          <a:lstStyle/>
          <a:p>
            <a:pPr indent="0" marL="0">
              <a:buNone/>
            </a:pPr>
            <a:r>
              <a:rPr lang="en-US" sz="1150" b="1" spc="350" kern="0" dirty="0">
                <a:solidFill>
                  <a:srgbClr val="2EC4B6"/>
                </a:solidFill>
                <a:latin typeface="Calibri" pitchFamily="34" charset="0"/>
                <a:ea typeface="Calibri" pitchFamily="34" charset="-122"/>
                <a:cs typeface="Calibri" pitchFamily="34" charset="-120"/>
              </a:rPr>
              <a:t>CONTROL POINTS</a:t>
            </a:r>
            <a:endParaRPr lang="en-US" sz="1150" dirty="0"/>
          </a:p>
        </p:txBody>
      </p:sp>
      <p:sp>
        <p:nvSpPr>
          <p:cNvPr id="3" name="Text 1"/>
          <p:cNvSpPr/>
          <p:nvPr/>
        </p:nvSpPr>
        <p:spPr>
          <a:xfrm>
            <a:off x="594360" y="749808"/>
            <a:ext cx="10972800" cy="86868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Three approval gates keep humans in charge</a:t>
            </a:r>
            <a:endParaRPr lang="en-US" sz="3400" dirty="0"/>
          </a:p>
        </p:txBody>
      </p:sp>
      <p:sp>
        <p:nvSpPr>
          <p:cNvPr id="4" name="Text 2"/>
          <p:cNvSpPr/>
          <p:nvPr/>
        </p:nvSpPr>
        <p:spPr>
          <a:xfrm>
            <a:off x="594360" y="1572768"/>
            <a:ext cx="10972800" cy="347472"/>
          </a:xfrm>
          <a:prstGeom prst="rect">
            <a:avLst/>
          </a:prstGeom>
          <a:noFill/>
          <a:ln/>
        </p:spPr>
        <p:txBody>
          <a:bodyPr wrap="square" lIns="0" tIns="0" rIns="0" bIns="0" rtlCol="0" anchor="ctr"/>
          <a:lstStyle/>
          <a:p>
            <a:pPr indent="0" marL="0">
              <a:buNone/>
            </a:pPr>
            <a:r>
              <a:rPr lang="en-US" sz="1400" dirty="0">
                <a:solidFill>
                  <a:srgbClr val="C8DAEF"/>
                </a:solidFill>
                <a:latin typeface="Calibri" pitchFamily="34" charset="0"/>
                <a:ea typeface="Calibri" pitchFamily="34" charset="-122"/>
                <a:cs typeface="Calibri" pitchFamily="34" charset="-120"/>
              </a:rPr>
              <a:t>Work cannot advance past a gate without an explicit sign-off. If the spec isn't right, nothing moves. If the plan isn't right, nothing is built.</a:t>
            </a:r>
            <a:endParaRPr lang="en-US" sz="1400" dirty="0"/>
          </a:p>
        </p:txBody>
      </p:sp>
      <p:sp>
        <p:nvSpPr>
          <p:cNvPr id="5" name="Shape 3"/>
          <p:cNvSpPr/>
          <p:nvPr/>
        </p:nvSpPr>
        <p:spPr>
          <a:xfrm>
            <a:off x="544068" y="2286000"/>
            <a:ext cx="3520440" cy="4160520"/>
          </a:xfrm>
          <a:prstGeom prst="rect">
            <a:avLst/>
          </a:prstGeom>
          <a:solidFill>
            <a:srgbClr val="21386A"/>
          </a:solidFill>
          <a:ln w="15875">
            <a:solidFill>
              <a:srgbClr val="44608F"/>
            </a:solidFill>
            <a:prstDash val="solid"/>
          </a:ln>
          <a:effectLst>
            <a:outerShdw sx="100000" sy="100000" kx="0" ky="0" algn="bl" rotWithShape="0" blurRad="127000" dist="38100" dir="8100000">
              <a:srgbClr val="000000">
                <a:alpha val="14000"/>
              </a:srgbClr>
            </a:outerShdw>
          </a:effectLst>
        </p:spPr>
      </p:sp>
      <p:sp>
        <p:nvSpPr>
          <p:cNvPr id="6" name="Shape 4"/>
          <p:cNvSpPr/>
          <p:nvPr/>
        </p:nvSpPr>
        <p:spPr>
          <a:xfrm>
            <a:off x="544068" y="2286000"/>
            <a:ext cx="3520440" cy="109728"/>
          </a:xfrm>
          <a:prstGeom prst="rect">
            <a:avLst/>
          </a:prstGeom>
          <a:solidFill>
            <a:srgbClr val="2EC4B6"/>
          </a:solidFill>
          <a:ln/>
        </p:spPr>
      </p:sp>
      <p:sp>
        <p:nvSpPr>
          <p:cNvPr id="7" name="Shape 5"/>
          <p:cNvSpPr/>
          <p:nvPr/>
        </p:nvSpPr>
        <p:spPr>
          <a:xfrm>
            <a:off x="864108" y="2542032"/>
            <a:ext cx="658368" cy="658368"/>
          </a:xfrm>
          <a:prstGeom prst="ellipse">
            <a:avLst/>
          </a:prstGeom>
          <a:solidFill>
            <a:srgbClr val="2C6B66"/>
          </a:solidFill>
          <a:ln/>
        </p:spPr>
      </p:sp>
      <p:pic>
        <p:nvPicPr>
          <p:cNvPr id="8" name="Image 0" descr="preencoded.png">    </p:cNvPr>
          <p:cNvPicPr>
            <a:picLocks noChangeAspect="1"/>
          </p:cNvPicPr>
          <p:nvPr/>
        </p:nvPicPr>
        <p:blipFill>
          <a:blip r:embed="rId1"/>
          <a:stretch>
            <a:fillRect/>
          </a:stretch>
        </p:blipFill>
        <p:spPr>
          <a:xfrm>
            <a:off x="1008949" y="2686873"/>
            <a:ext cx="368686" cy="368686"/>
          </a:xfrm>
          <a:prstGeom prst="rect">
            <a:avLst/>
          </a:prstGeom>
        </p:spPr>
      </p:pic>
      <p:sp>
        <p:nvSpPr>
          <p:cNvPr id="9" name="Text 6"/>
          <p:cNvSpPr/>
          <p:nvPr/>
        </p:nvSpPr>
        <p:spPr>
          <a:xfrm>
            <a:off x="1687068" y="2542032"/>
            <a:ext cx="224028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GATE 1</a:t>
            </a:r>
            <a:endParaRPr lang="en-US" sz="1000" dirty="0"/>
          </a:p>
        </p:txBody>
      </p:sp>
      <p:sp>
        <p:nvSpPr>
          <p:cNvPr id="10" name="Text 7"/>
          <p:cNvSpPr/>
          <p:nvPr/>
        </p:nvSpPr>
        <p:spPr>
          <a:xfrm>
            <a:off x="1687068" y="2834640"/>
            <a:ext cx="2240280" cy="45720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Spec approved</a:t>
            </a:r>
            <a:endParaRPr lang="en-US" sz="1900" dirty="0"/>
          </a:p>
        </p:txBody>
      </p:sp>
      <p:sp>
        <p:nvSpPr>
          <p:cNvPr id="11" name="Text 8"/>
          <p:cNvSpPr/>
          <p:nvPr/>
        </p:nvSpPr>
        <p:spPr>
          <a:xfrm>
            <a:off x="864108" y="3383280"/>
            <a:ext cx="3017520" cy="256032"/>
          </a:xfrm>
          <a:prstGeom prst="rect">
            <a:avLst/>
          </a:prstGeom>
          <a:noFill/>
          <a:ln/>
        </p:spPr>
        <p:txBody>
          <a:bodyPr wrap="square" lIns="0" tIns="0" rIns="0" bIns="0" rtlCol="0" anchor="ctr"/>
          <a:lstStyle/>
          <a:p>
            <a:pPr indent="0" marL="0">
              <a:buNone/>
            </a:pPr>
            <a:r>
              <a:rPr lang="en-US" sz="1100" i="1" dirty="0">
                <a:solidFill>
                  <a:srgbClr val="C8DAEF"/>
                </a:solidFill>
                <a:latin typeface="Calibri" pitchFamily="34" charset="0"/>
                <a:ea typeface="Calibri" pitchFamily="34" charset="-122"/>
                <a:cs typeface="Calibri" pitchFamily="34" charset="-120"/>
              </a:rPr>
              <a:t>Who approves: Business Owner / PM</a:t>
            </a:r>
            <a:endParaRPr lang="en-US" sz="1100" dirty="0"/>
          </a:p>
        </p:txBody>
      </p:sp>
      <p:sp>
        <p:nvSpPr>
          <p:cNvPr id="12" name="Text 9"/>
          <p:cNvSpPr/>
          <p:nvPr/>
        </p:nvSpPr>
        <p:spPr>
          <a:xfrm>
            <a:off x="864108" y="3703320"/>
            <a:ext cx="3017520" cy="1115568"/>
          </a:xfrm>
          <a:prstGeom prst="rect">
            <a:avLst/>
          </a:prstGeom>
          <a:noFill/>
          <a:ln/>
        </p:spPr>
        <p:txBody>
          <a:bodyPr wrap="square" lIns="0" tIns="0" rIns="0" bIns="0" rtlCol="0" anchor="ctr"/>
          <a:lstStyle/>
          <a:p>
            <a:pPr indent="0" marL="0">
              <a:buNone/>
            </a:pPr>
            <a:r>
              <a:rPr lang="en-US" sz="1150" dirty="0">
                <a:solidFill>
                  <a:srgbClr val="D8E3F5"/>
                </a:solidFill>
                <a:latin typeface="Calibri" pitchFamily="34" charset="0"/>
                <a:ea typeface="Calibri" pitchFamily="34" charset="-122"/>
                <a:cs typeface="Calibri" pitchFamily="34" charset="-120"/>
              </a:rPr>
              <a:t>The business owner reads the spec and confirms: "Yes, this is what we want and why we want it. I'm comfortable with engineering planning against this." No engineering work has started yet.</a:t>
            </a:r>
            <a:endParaRPr lang="en-US" sz="1150" dirty="0"/>
          </a:p>
        </p:txBody>
      </p:sp>
      <p:sp>
        <p:nvSpPr>
          <p:cNvPr id="13" name="Shape 10"/>
          <p:cNvSpPr/>
          <p:nvPr/>
        </p:nvSpPr>
        <p:spPr>
          <a:xfrm>
            <a:off x="864108" y="4892040"/>
            <a:ext cx="3017520" cy="0"/>
          </a:xfrm>
          <a:prstGeom prst="line">
            <a:avLst/>
          </a:prstGeom>
          <a:noFill/>
          <a:ln w="9525">
            <a:solidFill>
              <a:srgbClr val="44608F"/>
            </a:solidFill>
            <a:prstDash val="solid"/>
          </a:ln>
        </p:spPr>
      </p:sp>
      <p:sp>
        <p:nvSpPr>
          <p:cNvPr id="14" name="Text 11"/>
          <p:cNvSpPr/>
          <p:nvPr/>
        </p:nvSpPr>
        <p:spPr>
          <a:xfrm>
            <a:off x="864108" y="4956048"/>
            <a:ext cx="3017520" cy="237744"/>
          </a:xfrm>
          <a:prstGeom prst="rect">
            <a:avLst/>
          </a:prstGeom>
          <a:noFill/>
          <a:ln/>
        </p:spPr>
        <p:txBody>
          <a:bodyPr wrap="square" lIns="0" tIns="0" rIns="0" bIns="0" rtlCol="0" anchor="ctr"/>
          <a:lstStyle/>
          <a:p>
            <a:pPr indent="0" marL="0">
              <a:buNone/>
            </a:pPr>
            <a:r>
              <a:rPr lang="en-US" sz="1000" b="1" dirty="0">
                <a:solidFill>
                  <a:srgbClr val="E9A23B"/>
                </a:solidFill>
                <a:latin typeface="Calibri" pitchFamily="34" charset="0"/>
                <a:ea typeface="Calibri" pitchFamily="34" charset="-122"/>
                <a:cs typeface="Calibri" pitchFamily="34" charset="-120"/>
              </a:rPr>
              <a:t>WHEN: After Specify + Clarify, before Plan</a:t>
            </a:r>
            <a:endParaRPr lang="en-US" sz="1000" dirty="0"/>
          </a:p>
        </p:txBody>
      </p:sp>
      <p:sp>
        <p:nvSpPr>
          <p:cNvPr id="15" name="Text 12"/>
          <p:cNvSpPr/>
          <p:nvPr/>
        </p:nvSpPr>
        <p:spPr>
          <a:xfrm>
            <a:off x="864108" y="5230368"/>
            <a:ext cx="3017520" cy="530352"/>
          </a:xfrm>
          <a:prstGeom prst="rect">
            <a:avLst/>
          </a:prstGeom>
          <a:noFill/>
          <a:ln/>
        </p:spPr>
        <p:txBody>
          <a:bodyPr wrap="square" lIns="0" tIns="0" rIns="0" bIns="0" rtlCol="0" anchor="ctr"/>
          <a:lstStyle/>
          <a:p>
            <a:pPr indent="0" marL="0">
              <a:buNone/>
            </a:pPr>
            <a:r>
              <a:rPr lang="en-US" sz="1100" dirty="0">
                <a:solidFill>
                  <a:srgbClr val="C8DAEF"/>
                </a:solidFill>
                <a:latin typeface="Calibri" pitchFamily="34" charset="0"/>
                <a:ea typeface="Calibri" pitchFamily="34" charset="-122"/>
                <a:cs typeface="Calibri" pitchFamily="34" charset="-120"/>
              </a:rPr>
              <a:t>If the spec is wrong, this is the cheapest possible moment to fix it — before anyone has designed or built anything.</a:t>
            </a:r>
            <a:endParaRPr lang="en-US" sz="1100" dirty="0"/>
          </a:p>
        </p:txBody>
      </p:sp>
      <p:sp>
        <p:nvSpPr>
          <p:cNvPr id="16" name="Shape 13"/>
          <p:cNvSpPr/>
          <p:nvPr/>
        </p:nvSpPr>
        <p:spPr>
          <a:xfrm>
            <a:off x="864108" y="5833872"/>
            <a:ext cx="3017520" cy="502920"/>
          </a:xfrm>
          <a:prstGeom prst="rect">
            <a:avLst/>
          </a:prstGeom>
          <a:solidFill>
            <a:srgbClr val="0D1A35"/>
          </a:solidFill>
          <a:ln/>
        </p:spPr>
      </p:sp>
      <p:pic>
        <p:nvPicPr>
          <p:cNvPr id="17" name="Image 1" descr="preencoded.png">    </p:cNvPr>
          <p:cNvPicPr>
            <a:picLocks noChangeAspect="1"/>
          </p:cNvPicPr>
          <p:nvPr/>
        </p:nvPicPr>
        <p:blipFill>
          <a:blip r:embed="rId2"/>
          <a:stretch>
            <a:fillRect/>
          </a:stretch>
        </p:blipFill>
        <p:spPr>
          <a:xfrm>
            <a:off x="955548" y="5879592"/>
            <a:ext cx="237744" cy="237744"/>
          </a:xfrm>
          <a:prstGeom prst="rect">
            <a:avLst/>
          </a:prstGeom>
        </p:spPr>
      </p:pic>
      <p:sp>
        <p:nvSpPr>
          <p:cNvPr id="18" name="Text 14"/>
          <p:cNvSpPr/>
          <p:nvPr/>
        </p:nvSpPr>
        <p:spPr>
          <a:xfrm>
            <a:off x="1275588" y="5852160"/>
            <a:ext cx="2606040" cy="475488"/>
          </a:xfrm>
          <a:prstGeom prst="rect">
            <a:avLst/>
          </a:prstGeom>
          <a:noFill/>
          <a:ln/>
        </p:spPr>
        <p:txBody>
          <a:bodyPr wrap="square" lIns="0" tIns="0" rIns="0" bIns="0" rtlCol="0" anchor="ctr"/>
          <a:lstStyle/>
          <a:p>
            <a:pPr indent="0" marL="0">
              <a:buNone/>
            </a:pPr>
            <a:r>
              <a:rPr lang="en-US" sz="1000" i="1" dirty="0">
                <a:solidFill>
                  <a:srgbClr val="CC7A7C"/>
                </a:solidFill>
                <a:latin typeface="Calibri" pitchFamily="34" charset="0"/>
                <a:ea typeface="Calibri" pitchFamily="34" charset="-122"/>
                <a:cs typeface="Calibri" pitchFamily="34" charset="-120"/>
              </a:rPr>
              <a:t>Without this gate, engineering makes assumptions about what you want. Some will be right. Some won't.</a:t>
            </a:r>
            <a:endParaRPr lang="en-US" sz="1000" dirty="0"/>
          </a:p>
        </p:txBody>
      </p:sp>
      <p:sp>
        <p:nvSpPr>
          <p:cNvPr id="19" name="Shape 15"/>
          <p:cNvSpPr/>
          <p:nvPr/>
        </p:nvSpPr>
        <p:spPr>
          <a:xfrm>
            <a:off x="4320540" y="2286000"/>
            <a:ext cx="3520440" cy="4160520"/>
          </a:xfrm>
          <a:prstGeom prst="rect">
            <a:avLst/>
          </a:prstGeom>
          <a:solidFill>
            <a:srgbClr val="21386A"/>
          </a:solidFill>
          <a:ln w="15875">
            <a:solidFill>
              <a:srgbClr val="44608F"/>
            </a:solidFill>
            <a:prstDash val="solid"/>
          </a:ln>
          <a:effectLst>
            <a:outerShdw sx="100000" sy="100000" kx="0" ky="0" algn="bl" rotWithShape="0" blurRad="127000" dist="38100" dir="8100000">
              <a:srgbClr val="000000">
                <a:alpha val="14000"/>
              </a:srgbClr>
            </a:outerShdw>
          </a:effectLst>
        </p:spPr>
      </p:sp>
      <p:sp>
        <p:nvSpPr>
          <p:cNvPr id="20" name="Shape 16"/>
          <p:cNvSpPr/>
          <p:nvPr/>
        </p:nvSpPr>
        <p:spPr>
          <a:xfrm>
            <a:off x="4320540" y="2286000"/>
            <a:ext cx="3520440" cy="109728"/>
          </a:xfrm>
          <a:prstGeom prst="rect">
            <a:avLst/>
          </a:prstGeom>
          <a:solidFill>
            <a:srgbClr val="2EC4B6"/>
          </a:solidFill>
          <a:ln/>
        </p:spPr>
      </p:sp>
      <p:sp>
        <p:nvSpPr>
          <p:cNvPr id="21" name="Shape 17"/>
          <p:cNvSpPr/>
          <p:nvPr/>
        </p:nvSpPr>
        <p:spPr>
          <a:xfrm>
            <a:off x="4640580" y="2542032"/>
            <a:ext cx="658368" cy="658368"/>
          </a:xfrm>
          <a:prstGeom prst="ellipse">
            <a:avLst/>
          </a:prstGeom>
          <a:solidFill>
            <a:srgbClr val="2C6B66"/>
          </a:solidFill>
          <a:ln/>
        </p:spPr>
      </p:sp>
      <p:pic>
        <p:nvPicPr>
          <p:cNvPr id="22" name="Image 2" descr="preencoded.png">    </p:cNvPr>
          <p:cNvPicPr>
            <a:picLocks noChangeAspect="1"/>
          </p:cNvPicPr>
          <p:nvPr/>
        </p:nvPicPr>
        <p:blipFill>
          <a:blip r:embed="rId3"/>
          <a:stretch>
            <a:fillRect/>
          </a:stretch>
        </p:blipFill>
        <p:spPr>
          <a:xfrm>
            <a:off x="4785421" y="2686873"/>
            <a:ext cx="368686" cy="368686"/>
          </a:xfrm>
          <a:prstGeom prst="rect">
            <a:avLst/>
          </a:prstGeom>
        </p:spPr>
      </p:pic>
      <p:sp>
        <p:nvSpPr>
          <p:cNvPr id="23" name="Text 18"/>
          <p:cNvSpPr/>
          <p:nvPr/>
        </p:nvSpPr>
        <p:spPr>
          <a:xfrm>
            <a:off x="5463540" y="2542032"/>
            <a:ext cx="224028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GATE 2</a:t>
            </a:r>
            <a:endParaRPr lang="en-US" sz="1000" dirty="0"/>
          </a:p>
        </p:txBody>
      </p:sp>
      <p:sp>
        <p:nvSpPr>
          <p:cNvPr id="24" name="Text 19"/>
          <p:cNvSpPr/>
          <p:nvPr/>
        </p:nvSpPr>
        <p:spPr>
          <a:xfrm>
            <a:off x="5463540" y="2834640"/>
            <a:ext cx="2240280" cy="45720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Plan approved</a:t>
            </a:r>
            <a:endParaRPr lang="en-US" sz="1900" dirty="0"/>
          </a:p>
        </p:txBody>
      </p:sp>
      <p:sp>
        <p:nvSpPr>
          <p:cNvPr id="25" name="Text 20"/>
          <p:cNvSpPr/>
          <p:nvPr/>
        </p:nvSpPr>
        <p:spPr>
          <a:xfrm>
            <a:off x="4640580" y="3383280"/>
            <a:ext cx="3017520" cy="256032"/>
          </a:xfrm>
          <a:prstGeom prst="rect">
            <a:avLst/>
          </a:prstGeom>
          <a:noFill/>
          <a:ln/>
        </p:spPr>
        <p:txBody>
          <a:bodyPr wrap="square" lIns="0" tIns="0" rIns="0" bIns="0" rtlCol="0" anchor="ctr"/>
          <a:lstStyle/>
          <a:p>
            <a:pPr indent="0" marL="0">
              <a:buNone/>
            </a:pPr>
            <a:r>
              <a:rPr lang="en-US" sz="1100" i="1" dirty="0">
                <a:solidFill>
                  <a:srgbClr val="C8DAEF"/>
                </a:solidFill>
                <a:latin typeface="Calibri" pitchFamily="34" charset="0"/>
                <a:ea typeface="Calibri" pitchFamily="34" charset="-122"/>
                <a:cs typeface="Calibri" pitchFamily="34" charset="-120"/>
              </a:rPr>
              <a:t>Who approves: Tech Lead (+ PM review)</a:t>
            </a:r>
            <a:endParaRPr lang="en-US" sz="1100" dirty="0"/>
          </a:p>
        </p:txBody>
      </p:sp>
      <p:sp>
        <p:nvSpPr>
          <p:cNvPr id="26" name="Text 21"/>
          <p:cNvSpPr/>
          <p:nvPr/>
        </p:nvSpPr>
        <p:spPr>
          <a:xfrm>
            <a:off x="4640580" y="3703320"/>
            <a:ext cx="3017520" cy="1115568"/>
          </a:xfrm>
          <a:prstGeom prst="rect">
            <a:avLst/>
          </a:prstGeom>
          <a:noFill/>
          <a:ln/>
        </p:spPr>
        <p:txBody>
          <a:bodyPr wrap="square" lIns="0" tIns="0" rIns="0" bIns="0" rtlCol="0" anchor="ctr"/>
          <a:lstStyle/>
          <a:p>
            <a:pPr indent="0" marL="0">
              <a:buNone/>
            </a:pPr>
            <a:r>
              <a:rPr lang="en-US" sz="1150" dirty="0">
                <a:solidFill>
                  <a:srgbClr val="D8E3F5"/>
                </a:solidFill>
                <a:latin typeface="Calibri" pitchFamily="34" charset="0"/>
                <a:ea typeface="Calibri" pitchFamily="34" charset="-122"/>
                <a:cs typeface="Calibri" pitchFamily="34" charset="-120"/>
              </a:rPr>
              <a:t>Engineering presents how they'll build it: the architecture, the data design, the key risks. The tech lead signs off that the approach is sound, safe, and achievable within scope.</a:t>
            </a:r>
            <a:endParaRPr lang="en-US" sz="1150" dirty="0"/>
          </a:p>
        </p:txBody>
      </p:sp>
      <p:sp>
        <p:nvSpPr>
          <p:cNvPr id="27" name="Shape 22"/>
          <p:cNvSpPr/>
          <p:nvPr/>
        </p:nvSpPr>
        <p:spPr>
          <a:xfrm>
            <a:off x="4640580" y="4892040"/>
            <a:ext cx="3017520" cy="0"/>
          </a:xfrm>
          <a:prstGeom prst="line">
            <a:avLst/>
          </a:prstGeom>
          <a:noFill/>
          <a:ln w="9525">
            <a:solidFill>
              <a:srgbClr val="44608F"/>
            </a:solidFill>
            <a:prstDash val="solid"/>
          </a:ln>
        </p:spPr>
      </p:sp>
      <p:sp>
        <p:nvSpPr>
          <p:cNvPr id="28" name="Text 23"/>
          <p:cNvSpPr/>
          <p:nvPr/>
        </p:nvSpPr>
        <p:spPr>
          <a:xfrm>
            <a:off x="4640580" y="4956048"/>
            <a:ext cx="3017520" cy="237744"/>
          </a:xfrm>
          <a:prstGeom prst="rect">
            <a:avLst/>
          </a:prstGeom>
          <a:noFill/>
          <a:ln/>
        </p:spPr>
        <p:txBody>
          <a:bodyPr wrap="square" lIns="0" tIns="0" rIns="0" bIns="0" rtlCol="0" anchor="ctr"/>
          <a:lstStyle/>
          <a:p>
            <a:pPr indent="0" marL="0">
              <a:buNone/>
            </a:pPr>
            <a:r>
              <a:rPr lang="en-US" sz="1000" b="1" dirty="0">
                <a:solidFill>
                  <a:srgbClr val="E9A23B"/>
                </a:solidFill>
                <a:latin typeface="Calibri" pitchFamily="34" charset="0"/>
                <a:ea typeface="Calibri" pitchFamily="34" charset="-122"/>
                <a:cs typeface="Calibri" pitchFamily="34" charset="-120"/>
              </a:rPr>
              <a:t>WHEN: After Plan, before Tasks are created</a:t>
            </a:r>
            <a:endParaRPr lang="en-US" sz="1000" dirty="0"/>
          </a:p>
        </p:txBody>
      </p:sp>
      <p:sp>
        <p:nvSpPr>
          <p:cNvPr id="29" name="Text 24"/>
          <p:cNvSpPr/>
          <p:nvPr/>
        </p:nvSpPr>
        <p:spPr>
          <a:xfrm>
            <a:off x="4640580" y="5230368"/>
            <a:ext cx="3017520" cy="530352"/>
          </a:xfrm>
          <a:prstGeom prst="rect">
            <a:avLst/>
          </a:prstGeom>
          <a:noFill/>
          <a:ln/>
        </p:spPr>
        <p:txBody>
          <a:bodyPr wrap="square" lIns="0" tIns="0" rIns="0" bIns="0" rtlCol="0" anchor="ctr"/>
          <a:lstStyle/>
          <a:p>
            <a:pPr indent="0" marL="0">
              <a:buNone/>
            </a:pPr>
            <a:r>
              <a:rPr lang="en-US" sz="1100" dirty="0">
                <a:solidFill>
                  <a:srgbClr val="C8DAEF"/>
                </a:solidFill>
                <a:latin typeface="Calibri" pitchFamily="34" charset="0"/>
                <a:ea typeface="Calibri" pitchFamily="34" charset="-122"/>
                <a:cs typeface="Calibri" pitchFamily="34" charset="-120"/>
              </a:rPr>
              <a:t>If the plan is architecturally unsound, this is the moment to redesign — before any code is written.</a:t>
            </a:r>
            <a:endParaRPr lang="en-US" sz="1100" dirty="0"/>
          </a:p>
        </p:txBody>
      </p:sp>
      <p:sp>
        <p:nvSpPr>
          <p:cNvPr id="30" name="Shape 25"/>
          <p:cNvSpPr/>
          <p:nvPr/>
        </p:nvSpPr>
        <p:spPr>
          <a:xfrm>
            <a:off x="4640580" y="5833872"/>
            <a:ext cx="3017520" cy="502920"/>
          </a:xfrm>
          <a:prstGeom prst="rect">
            <a:avLst/>
          </a:prstGeom>
          <a:solidFill>
            <a:srgbClr val="0D1A35"/>
          </a:solidFill>
          <a:ln/>
        </p:spPr>
      </p:sp>
      <p:pic>
        <p:nvPicPr>
          <p:cNvPr id="31" name="Image 3" descr="preencoded.png">    </p:cNvPr>
          <p:cNvPicPr>
            <a:picLocks noChangeAspect="1"/>
          </p:cNvPicPr>
          <p:nvPr/>
        </p:nvPicPr>
        <p:blipFill>
          <a:blip r:embed="rId4"/>
          <a:stretch>
            <a:fillRect/>
          </a:stretch>
        </p:blipFill>
        <p:spPr>
          <a:xfrm>
            <a:off x="4732020" y="5879592"/>
            <a:ext cx="237744" cy="237744"/>
          </a:xfrm>
          <a:prstGeom prst="rect">
            <a:avLst/>
          </a:prstGeom>
        </p:spPr>
      </p:pic>
      <p:sp>
        <p:nvSpPr>
          <p:cNvPr id="32" name="Text 26"/>
          <p:cNvSpPr/>
          <p:nvPr/>
        </p:nvSpPr>
        <p:spPr>
          <a:xfrm>
            <a:off x="5052060" y="5852160"/>
            <a:ext cx="2606040" cy="475488"/>
          </a:xfrm>
          <a:prstGeom prst="rect">
            <a:avLst/>
          </a:prstGeom>
          <a:noFill/>
          <a:ln/>
        </p:spPr>
        <p:txBody>
          <a:bodyPr wrap="square" lIns="0" tIns="0" rIns="0" bIns="0" rtlCol="0" anchor="ctr"/>
          <a:lstStyle/>
          <a:p>
            <a:pPr indent="0" marL="0">
              <a:buNone/>
            </a:pPr>
            <a:r>
              <a:rPr lang="en-US" sz="1000" i="1" dirty="0">
                <a:solidFill>
                  <a:srgbClr val="CC7A7C"/>
                </a:solidFill>
                <a:latin typeface="Calibri" pitchFamily="34" charset="0"/>
                <a:ea typeface="Calibri" pitchFamily="34" charset="-122"/>
                <a:cs typeface="Calibri" pitchFamily="34" charset="-120"/>
              </a:rPr>
              <a:t>Without this gate, you may get code that technically works but is impossible to maintain or extend.</a:t>
            </a:r>
            <a:endParaRPr lang="en-US" sz="1000" dirty="0"/>
          </a:p>
        </p:txBody>
      </p:sp>
      <p:sp>
        <p:nvSpPr>
          <p:cNvPr id="33" name="Shape 27"/>
          <p:cNvSpPr/>
          <p:nvPr/>
        </p:nvSpPr>
        <p:spPr>
          <a:xfrm>
            <a:off x="8097012" y="2286000"/>
            <a:ext cx="3520440" cy="4160520"/>
          </a:xfrm>
          <a:prstGeom prst="rect">
            <a:avLst/>
          </a:prstGeom>
          <a:solidFill>
            <a:srgbClr val="21386A"/>
          </a:solidFill>
          <a:ln w="15875">
            <a:solidFill>
              <a:srgbClr val="44608F"/>
            </a:solidFill>
            <a:prstDash val="solid"/>
          </a:ln>
          <a:effectLst>
            <a:outerShdw sx="100000" sy="100000" kx="0" ky="0" algn="bl" rotWithShape="0" blurRad="127000" dist="38100" dir="8100000">
              <a:srgbClr val="000000">
                <a:alpha val="14000"/>
              </a:srgbClr>
            </a:outerShdw>
          </a:effectLst>
        </p:spPr>
      </p:sp>
      <p:sp>
        <p:nvSpPr>
          <p:cNvPr id="34" name="Shape 28"/>
          <p:cNvSpPr/>
          <p:nvPr/>
        </p:nvSpPr>
        <p:spPr>
          <a:xfrm>
            <a:off x="8097012" y="2286000"/>
            <a:ext cx="3520440" cy="109728"/>
          </a:xfrm>
          <a:prstGeom prst="rect">
            <a:avLst/>
          </a:prstGeom>
          <a:solidFill>
            <a:srgbClr val="2EC4B6"/>
          </a:solidFill>
          <a:ln/>
        </p:spPr>
      </p:sp>
      <p:sp>
        <p:nvSpPr>
          <p:cNvPr id="35" name="Shape 29"/>
          <p:cNvSpPr/>
          <p:nvPr/>
        </p:nvSpPr>
        <p:spPr>
          <a:xfrm>
            <a:off x="8417052" y="2542032"/>
            <a:ext cx="658368" cy="658368"/>
          </a:xfrm>
          <a:prstGeom prst="ellipse">
            <a:avLst/>
          </a:prstGeom>
          <a:solidFill>
            <a:srgbClr val="2C6B66"/>
          </a:solidFill>
          <a:ln/>
        </p:spPr>
      </p:sp>
      <p:pic>
        <p:nvPicPr>
          <p:cNvPr id="36" name="Image 4" descr="preencoded.png">    </p:cNvPr>
          <p:cNvPicPr>
            <a:picLocks noChangeAspect="1"/>
          </p:cNvPicPr>
          <p:nvPr/>
        </p:nvPicPr>
        <p:blipFill>
          <a:blip r:embed="rId5"/>
          <a:stretch>
            <a:fillRect/>
          </a:stretch>
        </p:blipFill>
        <p:spPr>
          <a:xfrm>
            <a:off x="8561893" y="2686873"/>
            <a:ext cx="368686" cy="368686"/>
          </a:xfrm>
          <a:prstGeom prst="rect">
            <a:avLst/>
          </a:prstGeom>
        </p:spPr>
      </p:pic>
      <p:sp>
        <p:nvSpPr>
          <p:cNvPr id="37" name="Text 30"/>
          <p:cNvSpPr/>
          <p:nvPr/>
        </p:nvSpPr>
        <p:spPr>
          <a:xfrm>
            <a:off x="9240012" y="2542032"/>
            <a:ext cx="2240280" cy="256032"/>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GATE 3</a:t>
            </a:r>
            <a:endParaRPr lang="en-US" sz="1000" dirty="0"/>
          </a:p>
        </p:txBody>
      </p:sp>
      <p:sp>
        <p:nvSpPr>
          <p:cNvPr id="38" name="Text 31"/>
          <p:cNvSpPr/>
          <p:nvPr/>
        </p:nvSpPr>
        <p:spPr>
          <a:xfrm>
            <a:off x="9240012" y="2834640"/>
            <a:ext cx="2240280" cy="45720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Go to build</a:t>
            </a:r>
            <a:endParaRPr lang="en-US" sz="1900" dirty="0"/>
          </a:p>
        </p:txBody>
      </p:sp>
      <p:sp>
        <p:nvSpPr>
          <p:cNvPr id="39" name="Text 32"/>
          <p:cNvSpPr/>
          <p:nvPr/>
        </p:nvSpPr>
        <p:spPr>
          <a:xfrm>
            <a:off x="8417052" y="3383280"/>
            <a:ext cx="3017520" cy="256032"/>
          </a:xfrm>
          <a:prstGeom prst="rect">
            <a:avLst/>
          </a:prstGeom>
          <a:noFill/>
          <a:ln/>
        </p:spPr>
        <p:txBody>
          <a:bodyPr wrap="square" lIns="0" tIns="0" rIns="0" bIns="0" rtlCol="0" anchor="ctr"/>
          <a:lstStyle/>
          <a:p>
            <a:pPr indent="0" marL="0">
              <a:buNone/>
            </a:pPr>
            <a:r>
              <a:rPr lang="en-US" sz="1100" i="1" dirty="0">
                <a:solidFill>
                  <a:srgbClr val="C8DAEF"/>
                </a:solidFill>
                <a:latin typeface="Calibri" pitchFamily="34" charset="0"/>
                <a:ea typeface="Calibri" pitchFamily="34" charset="-122"/>
                <a:cs typeface="Calibri" pitchFamily="34" charset="-120"/>
              </a:rPr>
              <a:t>Who approves: Business Owner</a:t>
            </a:r>
            <a:endParaRPr lang="en-US" sz="1100" dirty="0"/>
          </a:p>
        </p:txBody>
      </p:sp>
      <p:sp>
        <p:nvSpPr>
          <p:cNvPr id="40" name="Text 33"/>
          <p:cNvSpPr/>
          <p:nvPr/>
        </p:nvSpPr>
        <p:spPr>
          <a:xfrm>
            <a:off x="8417052" y="3703320"/>
            <a:ext cx="3017520" cy="1115568"/>
          </a:xfrm>
          <a:prstGeom prst="rect">
            <a:avLst/>
          </a:prstGeom>
          <a:noFill/>
          <a:ln/>
        </p:spPr>
        <p:txBody>
          <a:bodyPr wrap="square" lIns="0" tIns="0" rIns="0" bIns="0" rtlCol="0" anchor="ctr"/>
          <a:lstStyle/>
          <a:p>
            <a:pPr indent="0" marL="0">
              <a:buNone/>
            </a:pPr>
            <a:r>
              <a:rPr lang="en-US" sz="1150" dirty="0">
                <a:solidFill>
                  <a:srgbClr val="D8E3F5"/>
                </a:solidFill>
                <a:latin typeface="Calibri" pitchFamily="34" charset="0"/>
                <a:ea typeface="Calibri" pitchFamily="34" charset="-122"/>
                <a:cs typeface="Calibri" pitchFamily="34" charset="-120"/>
              </a:rPr>
              <a:t>An explicit, documented "go" signal before the first line of code is written. The spec is locked. Any new idea that comes up during implementation becomes a new feature — it doesn't silently expand the current one.</a:t>
            </a:r>
            <a:endParaRPr lang="en-US" sz="1150" dirty="0"/>
          </a:p>
        </p:txBody>
      </p:sp>
      <p:sp>
        <p:nvSpPr>
          <p:cNvPr id="41" name="Shape 34"/>
          <p:cNvSpPr/>
          <p:nvPr/>
        </p:nvSpPr>
        <p:spPr>
          <a:xfrm>
            <a:off x="8417052" y="4892040"/>
            <a:ext cx="3017520" cy="0"/>
          </a:xfrm>
          <a:prstGeom prst="line">
            <a:avLst/>
          </a:prstGeom>
          <a:noFill/>
          <a:ln w="9525">
            <a:solidFill>
              <a:srgbClr val="44608F"/>
            </a:solidFill>
            <a:prstDash val="solid"/>
          </a:ln>
        </p:spPr>
      </p:sp>
      <p:sp>
        <p:nvSpPr>
          <p:cNvPr id="42" name="Text 35"/>
          <p:cNvSpPr/>
          <p:nvPr/>
        </p:nvSpPr>
        <p:spPr>
          <a:xfrm>
            <a:off x="8417052" y="4956048"/>
            <a:ext cx="3017520" cy="237744"/>
          </a:xfrm>
          <a:prstGeom prst="rect">
            <a:avLst/>
          </a:prstGeom>
          <a:noFill/>
          <a:ln/>
        </p:spPr>
        <p:txBody>
          <a:bodyPr wrap="square" lIns="0" tIns="0" rIns="0" bIns="0" rtlCol="0" anchor="ctr"/>
          <a:lstStyle/>
          <a:p>
            <a:pPr indent="0" marL="0">
              <a:buNone/>
            </a:pPr>
            <a:r>
              <a:rPr lang="en-US" sz="1000" b="1" dirty="0">
                <a:solidFill>
                  <a:srgbClr val="E9A23B"/>
                </a:solidFill>
                <a:latin typeface="Calibri" pitchFamily="34" charset="0"/>
                <a:ea typeface="Calibri" pitchFamily="34" charset="-122"/>
                <a:cs typeface="Calibri" pitchFamily="34" charset="-120"/>
              </a:rPr>
              <a:t>WHEN: After Tasks + Analyze, before Implement</a:t>
            </a:r>
            <a:endParaRPr lang="en-US" sz="1000" dirty="0"/>
          </a:p>
        </p:txBody>
      </p:sp>
      <p:sp>
        <p:nvSpPr>
          <p:cNvPr id="43" name="Text 36"/>
          <p:cNvSpPr/>
          <p:nvPr/>
        </p:nvSpPr>
        <p:spPr>
          <a:xfrm>
            <a:off x="8417052" y="5230368"/>
            <a:ext cx="3017520" cy="530352"/>
          </a:xfrm>
          <a:prstGeom prst="rect">
            <a:avLst/>
          </a:prstGeom>
          <a:noFill/>
          <a:ln/>
        </p:spPr>
        <p:txBody>
          <a:bodyPr wrap="square" lIns="0" tIns="0" rIns="0" bIns="0" rtlCol="0" anchor="ctr"/>
          <a:lstStyle/>
          <a:p>
            <a:pPr indent="0" marL="0">
              <a:buNone/>
            </a:pPr>
            <a:r>
              <a:rPr lang="en-US" sz="1100" dirty="0">
                <a:solidFill>
                  <a:srgbClr val="C8DAEF"/>
                </a:solidFill>
                <a:latin typeface="Calibri" pitchFamily="34" charset="0"/>
                <a:ea typeface="Calibri" pitchFamily="34" charset="-122"/>
                <a:cs typeface="Calibri" pitchFamily="34" charset="-120"/>
              </a:rPr>
              <a:t>This is the moment where scope is frozen and accountability is established. You approved what gets built.</a:t>
            </a:r>
            <a:endParaRPr lang="en-US" sz="1100" dirty="0"/>
          </a:p>
        </p:txBody>
      </p:sp>
      <p:sp>
        <p:nvSpPr>
          <p:cNvPr id="44" name="Shape 37"/>
          <p:cNvSpPr/>
          <p:nvPr/>
        </p:nvSpPr>
        <p:spPr>
          <a:xfrm>
            <a:off x="8417052" y="5833872"/>
            <a:ext cx="3017520" cy="502920"/>
          </a:xfrm>
          <a:prstGeom prst="rect">
            <a:avLst/>
          </a:prstGeom>
          <a:solidFill>
            <a:srgbClr val="0D1A35"/>
          </a:solidFill>
          <a:ln/>
        </p:spPr>
      </p:sp>
      <p:pic>
        <p:nvPicPr>
          <p:cNvPr id="45" name="Image 5" descr="preencoded.png">    </p:cNvPr>
          <p:cNvPicPr>
            <a:picLocks noChangeAspect="1"/>
          </p:cNvPicPr>
          <p:nvPr/>
        </p:nvPicPr>
        <p:blipFill>
          <a:blip r:embed="rId6"/>
          <a:stretch>
            <a:fillRect/>
          </a:stretch>
        </p:blipFill>
        <p:spPr>
          <a:xfrm>
            <a:off x="8508492" y="5879592"/>
            <a:ext cx="237744" cy="237744"/>
          </a:xfrm>
          <a:prstGeom prst="rect">
            <a:avLst/>
          </a:prstGeom>
        </p:spPr>
      </p:pic>
      <p:sp>
        <p:nvSpPr>
          <p:cNvPr id="46" name="Text 38"/>
          <p:cNvSpPr/>
          <p:nvPr/>
        </p:nvSpPr>
        <p:spPr>
          <a:xfrm>
            <a:off x="8828532" y="5852160"/>
            <a:ext cx="2606040" cy="475488"/>
          </a:xfrm>
          <a:prstGeom prst="rect">
            <a:avLst/>
          </a:prstGeom>
          <a:noFill/>
          <a:ln/>
        </p:spPr>
        <p:txBody>
          <a:bodyPr wrap="square" lIns="0" tIns="0" rIns="0" bIns="0" rtlCol="0" anchor="ctr"/>
          <a:lstStyle/>
          <a:p>
            <a:pPr indent="0" marL="0">
              <a:buNone/>
            </a:pPr>
            <a:r>
              <a:rPr lang="en-US" sz="1000" i="1" dirty="0">
                <a:solidFill>
                  <a:srgbClr val="CC7A7C"/>
                </a:solidFill>
                <a:latin typeface="Calibri" pitchFamily="34" charset="0"/>
                <a:ea typeface="Calibri" pitchFamily="34" charset="-122"/>
                <a:cs typeface="Calibri" pitchFamily="34" charset="-120"/>
              </a:rPr>
              <a:t>Without this gate, scope creeps, deadlines slip, and nobody is sure exactly what was agreed to.</a:t>
            </a:r>
            <a:endParaRPr lang="en-US" sz="1000" dirty="0"/>
          </a:p>
        </p:txBody>
      </p:sp>
      <p:sp>
        <p:nvSpPr>
          <p:cNvPr id="47" name="Text 39"/>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5F7DA8"/>
                </a:solidFill>
                <a:latin typeface="Calibri" pitchFamily="34" charset="0"/>
                <a:ea typeface="Calibri" pitchFamily="34" charset="-122"/>
                <a:cs typeface="Calibri" pitchFamily="34" charset="-120"/>
              </a:rPr>
              <a:t>Spec-Driven Development</a:t>
            </a:r>
            <a:endParaRPr lang="en-US" sz="900" dirty="0"/>
          </a:p>
        </p:txBody>
      </p:sp>
      <p:sp>
        <p:nvSpPr>
          <p:cNvPr id="48" name="Text 40"/>
          <p:cNvSpPr/>
          <p:nvPr/>
        </p:nvSpPr>
        <p:spPr>
          <a:xfrm>
            <a:off x="11247120" y="6473952"/>
            <a:ext cx="365760" cy="274320"/>
          </a:xfrm>
          <a:prstGeom prst="rect">
            <a:avLst/>
          </a:prstGeom>
          <a:noFill/>
          <a:ln/>
        </p:spPr>
        <p:txBody>
          <a:bodyPr wrap="square" lIns="0" tIns="0" rIns="0" bIns="0" rtlCol="0" anchor="ctr"/>
          <a:lstStyle/>
          <a:p>
            <a:pPr algn="r" indent="0" marL="0">
              <a:buNone/>
            </a:pPr>
            <a:r>
              <a:rPr lang="en-US" sz="900" dirty="0">
                <a:solidFill>
                  <a:srgbClr val="5F7DA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94360" y="438912"/>
            <a:ext cx="10972800" cy="292608"/>
          </a:xfrm>
          <a:prstGeom prst="rect">
            <a:avLst/>
          </a:prstGeom>
          <a:noFill/>
          <a:ln/>
        </p:spPr>
        <p:txBody>
          <a:bodyPr wrap="square" lIns="0" tIns="0" rIns="0" bIns="0" rtlCol="0" anchor="ctr"/>
          <a:lstStyle/>
          <a:p>
            <a:pPr indent="0" marL="0">
              <a:buNone/>
            </a:pPr>
            <a:r>
              <a:rPr lang="en-US" sz="1150" b="1" spc="350" kern="0" dirty="0">
                <a:solidFill>
                  <a:srgbClr val="2EC4B6"/>
                </a:solidFill>
                <a:latin typeface="Calibri" pitchFamily="34" charset="0"/>
                <a:ea typeface="Calibri" pitchFamily="34" charset="-122"/>
                <a:cs typeface="Calibri" pitchFamily="34" charset="-120"/>
              </a:rPr>
              <a:t>CLEAR OWNERSHIP</a:t>
            </a:r>
            <a:endParaRPr lang="en-US" sz="1150" dirty="0"/>
          </a:p>
        </p:txBody>
      </p:sp>
      <p:sp>
        <p:nvSpPr>
          <p:cNvPr id="3" name="Text 1"/>
          <p:cNvSpPr/>
          <p:nvPr/>
        </p:nvSpPr>
        <p:spPr>
          <a:xfrm>
            <a:off x="594360" y="749808"/>
            <a:ext cx="10972800" cy="868680"/>
          </a:xfrm>
          <a:prstGeom prst="rect">
            <a:avLst/>
          </a:prstGeom>
          <a:noFill/>
          <a:ln/>
        </p:spPr>
        <p:txBody>
          <a:bodyPr wrap="square" lIns="0" tIns="0" rIns="0" bIns="0" rtlCol="0" anchor="ctr"/>
          <a:lstStyle/>
          <a:p>
            <a:pPr indent="0" marL="0">
              <a:buNone/>
            </a:pPr>
            <a:r>
              <a:rPr lang="en-US" sz="3400" b="1" dirty="0">
                <a:solidFill>
                  <a:srgbClr val="1A2333"/>
                </a:solidFill>
                <a:latin typeface="Georgia" pitchFamily="34" charset="0"/>
                <a:ea typeface="Georgia" pitchFamily="34" charset="-122"/>
                <a:cs typeface="Georgia" pitchFamily="34" charset="-120"/>
              </a:rPr>
              <a:t>Everyone owns the part they're best at</a:t>
            </a:r>
            <a:endParaRPr lang="en-US" sz="3400" dirty="0"/>
          </a:p>
        </p:txBody>
      </p:sp>
      <p:sp>
        <p:nvSpPr>
          <p:cNvPr id="4" name="Text 2"/>
          <p:cNvSpPr/>
          <p:nvPr/>
        </p:nvSpPr>
        <p:spPr>
          <a:xfrm>
            <a:off x="594360" y="1572768"/>
            <a:ext cx="10972800" cy="347472"/>
          </a:xfrm>
          <a:prstGeom prst="rect">
            <a:avLst/>
          </a:prstGeom>
          <a:noFill/>
          <a:ln/>
        </p:spPr>
        <p:txBody>
          <a:bodyPr wrap="square" lIns="0" tIns="0" rIns="0" bIns="0" rtlCol="0" anchor="ctr"/>
          <a:lstStyle/>
          <a:p>
            <a:pPr indent="0" marL="0">
              <a:buNone/>
            </a:pPr>
            <a:r>
              <a:rPr lang="en-US" sz="1400" dirty="0">
                <a:solidFill>
                  <a:srgbClr val="5A6478"/>
                </a:solidFill>
                <a:latin typeface="Calibri" pitchFamily="34" charset="0"/>
                <a:ea typeface="Calibri" pitchFamily="34" charset="-122"/>
                <a:cs typeface="Calibri" pitchFamily="34" charset="-120"/>
              </a:rPr>
              <a:t>SDD doesn't ask the business owner to write code or engineers to define product strategy. Each person stays in their lane.</a:t>
            </a:r>
            <a:endParaRPr lang="en-US" sz="1400" dirty="0"/>
          </a:p>
        </p:txBody>
      </p:sp>
      <p:sp>
        <p:nvSpPr>
          <p:cNvPr id="5" name="Shape 3"/>
          <p:cNvSpPr/>
          <p:nvPr/>
        </p:nvSpPr>
        <p:spPr>
          <a:xfrm>
            <a:off x="594360" y="2148840"/>
            <a:ext cx="5440680" cy="4343400"/>
          </a:xfrm>
          <a:prstGeom prst="rect">
            <a:avLst/>
          </a:prstGeom>
          <a:solidFill>
            <a:srgbClr val="FFFFFF"/>
          </a:solidFill>
          <a:ln w="12700">
            <a:solidFill>
              <a:srgbClr val="D8E2F0"/>
            </a:solidFill>
            <a:prstDash val="solid"/>
          </a:ln>
          <a:effectLst>
            <a:outerShdw sx="100000" sy="100000" kx="0" ky="0" algn="bl" rotWithShape="0" blurRad="127000" dist="38100" dir="8100000">
              <a:srgbClr val="000000">
                <a:alpha val="14000"/>
              </a:srgbClr>
            </a:outerShdw>
          </a:effectLst>
        </p:spPr>
      </p:sp>
      <p:sp>
        <p:nvSpPr>
          <p:cNvPr id="6" name="Shape 4"/>
          <p:cNvSpPr/>
          <p:nvPr/>
        </p:nvSpPr>
        <p:spPr>
          <a:xfrm>
            <a:off x="594360" y="2148840"/>
            <a:ext cx="5440680" cy="960120"/>
          </a:xfrm>
          <a:prstGeom prst="rect">
            <a:avLst/>
          </a:prstGeom>
          <a:solidFill>
            <a:srgbClr val="2EC4B6"/>
          </a:solidFill>
          <a:ln/>
        </p:spPr>
      </p:sp>
      <p:sp>
        <p:nvSpPr>
          <p:cNvPr id="7" name="Shape 5"/>
          <p:cNvSpPr/>
          <p:nvPr/>
        </p:nvSpPr>
        <p:spPr>
          <a:xfrm>
            <a:off x="914400" y="2304288"/>
            <a:ext cx="658368" cy="658368"/>
          </a:xfrm>
          <a:prstGeom prst="ellipse">
            <a:avLst/>
          </a:prstGeom>
          <a:solidFill>
            <a:srgbClr val="1C6B66"/>
          </a:solidFill>
          <a:ln/>
        </p:spPr>
      </p:sp>
      <p:pic>
        <p:nvPicPr>
          <p:cNvPr id="8" name="Image 0" descr="preencoded.png">    </p:cNvPr>
          <p:cNvPicPr>
            <a:picLocks noChangeAspect="1"/>
          </p:cNvPicPr>
          <p:nvPr/>
        </p:nvPicPr>
        <p:blipFill>
          <a:blip r:embed="rId1"/>
          <a:stretch>
            <a:fillRect/>
          </a:stretch>
        </p:blipFill>
        <p:spPr>
          <a:xfrm>
            <a:off x="1059241" y="2449129"/>
            <a:ext cx="368686" cy="368686"/>
          </a:xfrm>
          <a:prstGeom prst="rect">
            <a:avLst/>
          </a:prstGeom>
        </p:spPr>
      </p:pic>
      <p:sp>
        <p:nvSpPr>
          <p:cNvPr id="9" name="Text 6"/>
          <p:cNvSpPr/>
          <p:nvPr/>
        </p:nvSpPr>
        <p:spPr>
          <a:xfrm>
            <a:off x="1737360" y="2286000"/>
            <a:ext cx="4114800" cy="512064"/>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Business Owner / PM</a:t>
            </a:r>
            <a:endParaRPr lang="en-US" sz="2200" dirty="0"/>
          </a:p>
        </p:txBody>
      </p:sp>
      <p:sp>
        <p:nvSpPr>
          <p:cNvPr id="10" name="Text 7"/>
          <p:cNvSpPr/>
          <p:nvPr/>
        </p:nvSpPr>
        <p:spPr>
          <a:xfrm>
            <a:off x="1737360" y="2743200"/>
            <a:ext cx="4114800" cy="27432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Owns the WHAT and the WHY</a:t>
            </a:r>
            <a:endParaRPr lang="en-US" sz="1300" dirty="0"/>
          </a:p>
        </p:txBody>
      </p:sp>
      <p:sp>
        <p:nvSpPr>
          <p:cNvPr id="11" name="Shape 8"/>
          <p:cNvSpPr/>
          <p:nvPr/>
        </p:nvSpPr>
        <p:spPr>
          <a:xfrm>
            <a:off x="960120" y="3310128"/>
            <a:ext cx="347472" cy="347472"/>
          </a:xfrm>
          <a:prstGeom prst="ellipse">
            <a:avLst/>
          </a:prstGeom>
          <a:solidFill>
            <a:srgbClr val="E6F8F7"/>
          </a:solidFill>
          <a:ln/>
        </p:spPr>
      </p:sp>
      <p:pic>
        <p:nvPicPr>
          <p:cNvPr id="12" name="Image 1" descr="preencoded.png">    </p:cNvPr>
          <p:cNvPicPr>
            <a:picLocks noChangeAspect="1"/>
          </p:cNvPicPr>
          <p:nvPr/>
        </p:nvPicPr>
        <p:blipFill>
          <a:blip r:embed="rId2"/>
          <a:stretch>
            <a:fillRect/>
          </a:stretch>
        </p:blipFill>
        <p:spPr>
          <a:xfrm>
            <a:off x="1036564" y="3386572"/>
            <a:ext cx="194584" cy="194584"/>
          </a:xfrm>
          <a:prstGeom prst="rect">
            <a:avLst/>
          </a:prstGeom>
        </p:spPr>
      </p:pic>
      <p:sp>
        <p:nvSpPr>
          <p:cNvPr id="13" name="Text 9"/>
          <p:cNvSpPr/>
          <p:nvPr/>
        </p:nvSpPr>
        <p:spPr>
          <a:xfrm>
            <a:off x="1463040" y="3328416"/>
            <a:ext cx="4389120" cy="320040"/>
          </a:xfrm>
          <a:prstGeom prst="rect">
            <a:avLst/>
          </a:prstGeom>
          <a:noFill/>
          <a:ln/>
        </p:spPr>
        <p:txBody>
          <a:bodyPr wrap="square" lIns="0" tIns="0" rIns="0" bIns="0" rtlCol="0" anchor="ctr"/>
          <a:lstStyle/>
          <a:p>
            <a:pPr indent="0" marL="0">
              <a:buNone/>
            </a:pPr>
            <a:r>
              <a:rPr lang="en-US" sz="1450" b="1" dirty="0">
                <a:solidFill>
                  <a:srgbClr val="1A2333"/>
                </a:solidFill>
                <a:latin typeface="Calibri" pitchFamily="34" charset="0"/>
                <a:ea typeface="Calibri" pitchFamily="34" charset="-122"/>
                <a:cs typeface="Calibri" pitchFamily="34" charset="-120"/>
              </a:rPr>
              <a:t>Set the ground rules</a:t>
            </a:r>
            <a:endParaRPr lang="en-US" sz="1450" dirty="0"/>
          </a:p>
        </p:txBody>
      </p:sp>
      <p:sp>
        <p:nvSpPr>
          <p:cNvPr id="14" name="Text 10"/>
          <p:cNvSpPr/>
          <p:nvPr/>
        </p:nvSpPr>
        <p:spPr>
          <a:xfrm>
            <a:off x="1463040" y="3666744"/>
            <a:ext cx="4434840" cy="292608"/>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Define the principles the product must follow.</a:t>
            </a:r>
            <a:endParaRPr lang="en-US" sz="1100" dirty="0"/>
          </a:p>
        </p:txBody>
      </p:sp>
      <p:sp>
        <p:nvSpPr>
          <p:cNvPr id="15" name="Shape 11"/>
          <p:cNvSpPr/>
          <p:nvPr/>
        </p:nvSpPr>
        <p:spPr>
          <a:xfrm>
            <a:off x="960120" y="4114800"/>
            <a:ext cx="347472" cy="347472"/>
          </a:xfrm>
          <a:prstGeom prst="ellipse">
            <a:avLst/>
          </a:prstGeom>
          <a:solidFill>
            <a:srgbClr val="E6F8F7"/>
          </a:solidFill>
          <a:ln/>
        </p:spPr>
      </p:sp>
      <p:pic>
        <p:nvPicPr>
          <p:cNvPr id="16" name="Image 2" descr="preencoded.png">    </p:cNvPr>
          <p:cNvPicPr>
            <a:picLocks noChangeAspect="1"/>
          </p:cNvPicPr>
          <p:nvPr/>
        </p:nvPicPr>
        <p:blipFill>
          <a:blip r:embed="rId3"/>
          <a:stretch>
            <a:fillRect/>
          </a:stretch>
        </p:blipFill>
        <p:spPr>
          <a:xfrm>
            <a:off x="1036564" y="4191244"/>
            <a:ext cx="194584" cy="194584"/>
          </a:xfrm>
          <a:prstGeom prst="rect">
            <a:avLst/>
          </a:prstGeom>
        </p:spPr>
      </p:pic>
      <p:sp>
        <p:nvSpPr>
          <p:cNvPr id="17" name="Text 12"/>
          <p:cNvSpPr/>
          <p:nvPr/>
        </p:nvSpPr>
        <p:spPr>
          <a:xfrm>
            <a:off x="1463040" y="4133088"/>
            <a:ext cx="4389120" cy="320040"/>
          </a:xfrm>
          <a:prstGeom prst="rect">
            <a:avLst/>
          </a:prstGeom>
          <a:noFill/>
          <a:ln/>
        </p:spPr>
        <p:txBody>
          <a:bodyPr wrap="square" lIns="0" tIns="0" rIns="0" bIns="0" rtlCol="0" anchor="ctr"/>
          <a:lstStyle/>
          <a:p>
            <a:pPr indent="0" marL="0">
              <a:buNone/>
            </a:pPr>
            <a:r>
              <a:rPr lang="en-US" sz="1450" b="1" dirty="0">
                <a:solidFill>
                  <a:srgbClr val="1A2333"/>
                </a:solidFill>
                <a:latin typeface="Calibri" pitchFamily="34" charset="0"/>
                <a:ea typeface="Calibri" pitchFamily="34" charset="-122"/>
                <a:cs typeface="Calibri" pitchFamily="34" charset="-120"/>
              </a:rPr>
              <a:t>Write &amp; approve the spec</a:t>
            </a:r>
            <a:endParaRPr lang="en-US" sz="1450" dirty="0"/>
          </a:p>
        </p:txBody>
      </p:sp>
      <p:sp>
        <p:nvSpPr>
          <p:cNvPr id="18" name="Text 13"/>
          <p:cNvSpPr/>
          <p:nvPr/>
        </p:nvSpPr>
        <p:spPr>
          <a:xfrm>
            <a:off x="1463040" y="4471416"/>
            <a:ext cx="4434840" cy="292608"/>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Plain English — no technical jargon required.</a:t>
            </a:r>
            <a:endParaRPr lang="en-US" sz="1100" dirty="0"/>
          </a:p>
        </p:txBody>
      </p:sp>
      <p:sp>
        <p:nvSpPr>
          <p:cNvPr id="19" name="Shape 14"/>
          <p:cNvSpPr/>
          <p:nvPr/>
        </p:nvSpPr>
        <p:spPr>
          <a:xfrm>
            <a:off x="960120" y="4919472"/>
            <a:ext cx="347472" cy="347472"/>
          </a:xfrm>
          <a:prstGeom prst="ellipse">
            <a:avLst/>
          </a:prstGeom>
          <a:solidFill>
            <a:srgbClr val="E6F8F7"/>
          </a:solidFill>
          <a:ln/>
        </p:spPr>
      </p:sp>
      <p:pic>
        <p:nvPicPr>
          <p:cNvPr id="20" name="Image 3" descr="preencoded.png">    </p:cNvPr>
          <p:cNvPicPr>
            <a:picLocks noChangeAspect="1"/>
          </p:cNvPicPr>
          <p:nvPr/>
        </p:nvPicPr>
        <p:blipFill>
          <a:blip r:embed="rId4"/>
          <a:stretch>
            <a:fillRect/>
          </a:stretch>
        </p:blipFill>
        <p:spPr>
          <a:xfrm>
            <a:off x="1036564" y="4995916"/>
            <a:ext cx="194584" cy="194584"/>
          </a:xfrm>
          <a:prstGeom prst="rect">
            <a:avLst/>
          </a:prstGeom>
        </p:spPr>
      </p:pic>
      <p:sp>
        <p:nvSpPr>
          <p:cNvPr id="21" name="Text 15"/>
          <p:cNvSpPr/>
          <p:nvPr/>
        </p:nvSpPr>
        <p:spPr>
          <a:xfrm>
            <a:off x="1463040" y="4937760"/>
            <a:ext cx="4389120" cy="320040"/>
          </a:xfrm>
          <a:prstGeom prst="rect">
            <a:avLst/>
          </a:prstGeom>
          <a:noFill/>
          <a:ln/>
        </p:spPr>
        <p:txBody>
          <a:bodyPr wrap="square" lIns="0" tIns="0" rIns="0" bIns="0" rtlCol="0" anchor="ctr"/>
          <a:lstStyle/>
          <a:p>
            <a:pPr indent="0" marL="0">
              <a:buNone/>
            </a:pPr>
            <a:r>
              <a:rPr lang="en-US" sz="1450" b="1" dirty="0">
                <a:solidFill>
                  <a:srgbClr val="1A2333"/>
                </a:solidFill>
                <a:latin typeface="Calibri" pitchFamily="34" charset="0"/>
                <a:ea typeface="Calibri" pitchFamily="34" charset="-122"/>
                <a:cs typeface="Calibri" pitchFamily="34" charset="-120"/>
              </a:rPr>
              <a:t>Answer clarifying questions</a:t>
            </a:r>
            <a:endParaRPr lang="en-US" sz="1450" dirty="0"/>
          </a:p>
        </p:txBody>
      </p:sp>
      <p:sp>
        <p:nvSpPr>
          <p:cNvPr id="22" name="Text 16"/>
          <p:cNvSpPr/>
          <p:nvPr/>
        </p:nvSpPr>
        <p:spPr>
          <a:xfrm>
            <a:off x="1463040" y="5276088"/>
            <a:ext cx="4434840" cy="292608"/>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One meeting to remove any ambiguity from the spec.</a:t>
            </a:r>
            <a:endParaRPr lang="en-US" sz="1100" dirty="0"/>
          </a:p>
        </p:txBody>
      </p:sp>
      <p:sp>
        <p:nvSpPr>
          <p:cNvPr id="23" name="Shape 17"/>
          <p:cNvSpPr/>
          <p:nvPr/>
        </p:nvSpPr>
        <p:spPr>
          <a:xfrm>
            <a:off x="960120" y="5724144"/>
            <a:ext cx="347472" cy="347472"/>
          </a:xfrm>
          <a:prstGeom prst="ellipse">
            <a:avLst/>
          </a:prstGeom>
          <a:solidFill>
            <a:srgbClr val="E6F8F7"/>
          </a:solidFill>
          <a:ln/>
        </p:spPr>
      </p:sp>
      <p:pic>
        <p:nvPicPr>
          <p:cNvPr id="24" name="Image 4" descr="preencoded.png">    </p:cNvPr>
          <p:cNvPicPr>
            <a:picLocks noChangeAspect="1"/>
          </p:cNvPicPr>
          <p:nvPr/>
        </p:nvPicPr>
        <p:blipFill>
          <a:blip r:embed="rId5"/>
          <a:stretch>
            <a:fillRect/>
          </a:stretch>
        </p:blipFill>
        <p:spPr>
          <a:xfrm>
            <a:off x="1036564" y="5800588"/>
            <a:ext cx="194584" cy="194584"/>
          </a:xfrm>
          <a:prstGeom prst="rect">
            <a:avLst/>
          </a:prstGeom>
        </p:spPr>
      </p:pic>
      <p:sp>
        <p:nvSpPr>
          <p:cNvPr id="25" name="Text 18"/>
          <p:cNvSpPr/>
          <p:nvPr/>
        </p:nvSpPr>
        <p:spPr>
          <a:xfrm>
            <a:off x="1463040" y="5742432"/>
            <a:ext cx="4389120" cy="320040"/>
          </a:xfrm>
          <a:prstGeom prst="rect">
            <a:avLst/>
          </a:prstGeom>
          <a:noFill/>
          <a:ln/>
        </p:spPr>
        <p:txBody>
          <a:bodyPr wrap="square" lIns="0" tIns="0" rIns="0" bIns="0" rtlCol="0" anchor="ctr"/>
          <a:lstStyle/>
          <a:p>
            <a:pPr indent="0" marL="0">
              <a:buNone/>
            </a:pPr>
            <a:r>
              <a:rPr lang="en-US" sz="1450" b="1" dirty="0">
                <a:solidFill>
                  <a:srgbClr val="1A2333"/>
                </a:solidFill>
                <a:latin typeface="Calibri" pitchFamily="34" charset="0"/>
                <a:ea typeface="Calibri" pitchFamily="34" charset="-122"/>
                <a:cs typeface="Calibri" pitchFamily="34" charset="-120"/>
              </a:rPr>
              <a:t>Approve the plan &amp; go</a:t>
            </a:r>
            <a:endParaRPr lang="en-US" sz="1450" dirty="0"/>
          </a:p>
        </p:txBody>
      </p:sp>
      <p:sp>
        <p:nvSpPr>
          <p:cNvPr id="26" name="Text 19"/>
          <p:cNvSpPr/>
          <p:nvPr/>
        </p:nvSpPr>
        <p:spPr>
          <a:xfrm>
            <a:off x="1463040" y="6080760"/>
            <a:ext cx="4434840" cy="292608"/>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Two sign-offs before a single line of code is written.</a:t>
            </a:r>
            <a:endParaRPr lang="en-US" sz="1100" dirty="0"/>
          </a:p>
        </p:txBody>
      </p:sp>
      <p:sp>
        <p:nvSpPr>
          <p:cNvPr id="27" name="Shape 20"/>
          <p:cNvSpPr/>
          <p:nvPr/>
        </p:nvSpPr>
        <p:spPr>
          <a:xfrm>
            <a:off x="6126480" y="2148840"/>
            <a:ext cx="5440680" cy="4343400"/>
          </a:xfrm>
          <a:prstGeom prst="rect">
            <a:avLst/>
          </a:prstGeom>
          <a:solidFill>
            <a:srgbClr val="FFFFFF"/>
          </a:solidFill>
          <a:ln w="12700">
            <a:solidFill>
              <a:srgbClr val="D8E2F0"/>
            </a:solidFill>
            <a:prstDash val="solid"/>
          </a:ln>
          <a:effectLst>
            <a:outerShdw sx="100000" sy="100000" kx="0" ky="0" algn="bl" rotWithShape="0" blurRad="127000" dist="38100" dir="8100000">
              <a:srgbClr val="000000">
                <a:alpha val="14000"/>
              </a:srgbClr>
            </a:outerShdw>
          </a:effectLst>
        </p:spPr>
      </p:sp>
      <p:sp>
        <p:nvSpPr>
          <p:cNvPr id="28" name="Shape 21"/>
          <p:cNvSpPr/>
          <p:nvPr/>
        </p:nvSpPr>
        <p:spPr>
          <a:xfrm>
            <a:off x="6126480" y="2148840"/>
            <a:ext cx="5440680" cy="960120"/>
          </a:xfrm>
          <a:prstGeom prst="rect">
            <a:avLst/>
          </a:prstGeom>
          <a:solidFill>
            <a:srgbClr val="12203F"/>
          </a:solidFill>
          <a:ln/>
        </p:spPr>
      </p:sp>
      <p:sp>
        <p:nvSpPr>
          <p:cNvPr id="29" name="Shape 22"/>
          <p:cNvSpPr/>
          <p:nvPr/>
        </p:nvSpPr>
        <p:spPr>
          <a:xfrm>
            <a:off x="6446520" y="2304288"/>
            <a:ext cx="658368" cy="658368"/>
          </a:xfrm>
          <a:prstGeom prst="ellipse">
            <a:avLst/>
          </a:prstGeom>
          <a:solidFill>
            <a:srgbClr val="1B2E54"/>
          </a:solidFill>
          <a:ln/>
        </p:spPr>
      </p:sp>
      <p:pic>
        <p:nvPicPr>
          <p:cNvPr id="30" name="Image 5" descr="preencoded.png">    </p:cNvPr>
          <p:cNvPicPr>
            <a:picLocks noChangeAspect="1"/>
          </p:cNvPicPr>
          <p:nvPr/>
        </p:nvPicPr>
        <p:blipFill>
          <a:blip r:embed="rId6"/>
          <a:stretch>
            <a:fillRect/>
          </a:stretch>
        </p:blipFill>
        <p:spPr>
          <a:xfrm>
            <a:off x="6591361" y="2449129"/>
            <a:ext cx="368686" cy="368686"/>
          </a:xfrm>
          <a:prstGeom prst="rect">
            <a:avLst/>
          </a:prstGeom>
        </p:spPr>
      </p:pic>
      <p:sp>
        <p:nvSpPr>
          <p:cNvPr id="31" name="Text 23"/>
          <p:cNvSpPr/>
          <p:nvPr/>
        </p:nvSpPr>
        <p:spPr>
          <a:xfrm>
            <a:off x="7269480" y="2286000"/>
            <a:ext cx="4114800" cy="512064"/>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Engineering Team</a:t>
            </a:r>
            <a:endParaRPr lang="en-US" sz="2200" dirty="0"/>
          </a:p>
        </p:txBody>
      </p:sp>
      <p:sp>
        <p:nvSpPr>
          <p:cNvPr id="32" name="Text 24"/>
          <p:cNvSpPr/>
          <p:nvPr/>
        </p:nvSpPr>
        <p:spPr>
          <a:xfrm>
            <a:off x="7269480" y="2743200"/>
            <a:ext cx="4114800" cy="27432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Owns the HOW</a:t>
            </a:r>
            <a:endParaRPr lang="en-US" sz="1300" dirty="0"/>
          </a:p>
        </p:txBody>
      </p:sp>
      <p:sp>
        <p:nvSpPr>
          <p:cNvPr id="33" name="Shape 25"/>
          <p:cNvSpPr/>
          <p:nvPr/>
        </p:nvSpPr>
        <p:spPr>
          <a:xfrm>
            <a:off x="6492240" y="3310128"/>
            <a:ext cx="347472" cy="347472"/>
          </a:xfrm>
          <a:prstGeom prst="ellipse">
            <a:avLst/>
          </a:prstGeom>
          <a:solidFill>
            <a:srgbClr val="E6F8F7"/>
          </a:solidFill>
          <a:ln/>
        </p:spPr>
      </p:sp>
      <p:pic>
        <p:nvPicPr>
          <p:cNvPr id="34" name="Image 6" descr="preencoded.png">    </p:cNvPr>
          <p:cNvPicPr>
            <a:picLocks noChangeAspect="1"/>
          </p:cNvPicPr>
          <p:nvPr/>
        </p:nvPicPr>
        <p:blipFill>
          <a:blip r:embed="rId7"/>
          <a:stretch>
            <a:fillRect/>
          </a:stretch>
        </p:blipFill>
        <p:spPr>
          <a:xfrm>
            <a:off x="6568684" y="3386572"/>
            <a:ext cx="194584" cy="194584"/>
          </a:xfrm>
          <a:prstGeom prst="rect">
            <a:avLst/>
          </a:prstGeom>
        </p:spPr>
      </p:pic>
      <p:sp>
        <p:nvSpPr>
          <p:cNvPr id="35" name="Text 26"/>
          <p:cNvSpPr/>
          <p:nvPr/>
        </p:nvSpPr>
        <p:spPr>
          <a:xfrm>
            <a:off x="6995160" y="3328416"/>
            <a:ext cx="4389120" cy="320040"/>
          </a:xfrm>
          <a:prstGeom prst="rect">
            <a:avLst/>
          </a:prstGeom>
          <a:noFill/>
          <a:ln/>
        </p:spPr>
        <p:txBody>
          <a:bodyPr wrap="square" lIns="0" tIns="0" rIns="0" bIns="0" rtlCol="0" anchor="ctr"/>
          <a:lstStyle/>
          <a:p>
            <a:pPr indent="0" marL="0">
              <a:buNone/>
            </a:pPr>
            <a:r>
              <a:rPr lang="en-US" sz="1450" b="1" dirty="0">
                <a:solidFill>
                  <a:srgbClr val="1A2333"/>
                </a:solidFill>
                <a:latin typeface="Calibri" pitchFamily="34" charset="0"/>
                <a:ea typeface="Calibri" pitchFamily="34" charset="-122"/>
                <a:cs typeface="Calibri" pitchFamily="34" charset="-120"/>
              </a:rPr>
              <a:t>Translate spec into a plan</a:t>
            </a:r>
            <a:endParaRPr lang="en-US" sz="1450" dirty="0"/>
          </a:p>
        </p:txBody>
      </p:sp>
      <p:sp>
        <p:nvSpPr>
          <p:cNvPr id="36" name="Text 27"/>
          <p:cNvSpPr/>
          <p:nvPr/>
        </p:nvSpPr>
        <p:spPr>
          <a:xfrm>
            <a:off x="6995160" y="3666744"/>
            <a:ext cx="4434840" cy="292608"/>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Architecture, data model, key technical decisions.</a:t>
            </a:r>
            <a:endParaRPr lang="en-US" sz="1100" dirty="0"/>
          </a:p>
        </p:txBody>
      </p:sp>
      <p:sp>
        <p:nvSpPr>
          <p:cNvPr id="37" name="Shape 28"/>
          <p:cNvSpPr/>
          <p:nvPr/>
        </p:nvSpPr>
        <p:spPr>
          <a:xfrm>
            <a:off x="6492240" y="4114800"/>
            <a:ext cx="347472" cy="347472"/>
          </a:xfrm>
          <a:prstGeom prst="ellipse">
            <a:avLst/>
          </a:prstGeom>
          <a:solidFill>
            <a:srgbClr val="E6F8F7"/>
          </a:solidFill>
          <a:ln/>
        </p:spPr>
      </p:sp>
      <p:pic>
        <p:nvPicPr>
          <p:cNvPr id="38" name="Image 7" descr="preencoded.png">    </p:cNvPr>
          <p:cNvPicPr>
            <a:picLocks noChangeAspect="1"/>
          </p:cNvPicPr>
          <p:nvPr/>
        </p:nvPicPr>
        <p:blipFill>
          <a:blip r:embed="rId8"/>
          <a:stretch>
            <a:fillRect/>
          </a:stretch>
        </p:blipFill>
        <p:spPr>
          <a:xfrm>
            <a:off x="6568684" y="4191244"/>
            <a:ext cx="194584" cy="194584"/>
          </a:xfrm>
          <a:prstGeom prst="rect">
            <a:avLst/>
          </a:prstGeom>
        </p:spPr>
      </p:pic>
      <p:sp>
        <p:nvSpPr>
          <p:cNvPr id="39" name="Text 29"/>
          <p:cNvSpPr/>
          <p:nvPr/>
        </p:nvSpPr>
        <p:spPr>
          <a:xfrm>
            <a:off x="6995160" y="4133088"/>
            <a:ext cx="4389120" cy="320040"/>
          </a:xfrm>
          <a:prstGeom prst="rect">
            <a:avLst/>
          </a:prstGeom>
          <a:noFill/>
          <a:ln/>
        </p:spPr>
        <p:txBody>
          <a:bodyPr wrap="square" lIns="0" tIns="0" rIns="0" bIns="0" rtlCol="0" anchor="ctr"/>
          <a:lstStyle/>
          <a:p>
            <a:pPr indent="0" marL="0">
              <a:buNone/>
            </a:pPr>
            <a:r>
              <a:rPr lang="en-US" sz="1450" b="1" dirty="0">
                <a:solidFill>
                  <a:srgbClr val="1A2333"/>
                </a:solidFill>
                <a:latin typeface="Calibri" pitchFamily="34" charset="0"/>
                <a:ea typeface="Calibri" pitchFamily="34" charset="-122"/>
                <a:cs typeface="Calibri" pitchFamily="34" charset="-120"/>
              </a:rPr>
              <a:t>Break plan into tasks</a:t>
            </a:r>
            <a:endParaRPr lang="en-US" sz="1450" dirty="0"/>
          </a:p>
        </p:txBody>
      </p:sp>
      <p:sp>
        <p:nvSpPr>
          <p:cNvPr id="40" name="Text 30"/>
          <p:cNvSpPr/>
          <p:nvPr/>
        </p:nvSpPr>
        <p:spPr>
          <a:xfrm>
            <a:off x="6995160" y="4471416"/>
            <a:ext cx="4434840" cy="292608"/>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Tracked, verifiable steps mapped to requirements.</a:t>
            </a:r>
            <a:endParaRPr lang="en-US" sz="1100" dirty="0"/>
          </a:p>
        </p:txBody>
      </p:sp>
      <p:sp>
        <p:nvSpPr>
          <p:cNvPr id="41" name="Shape 31"/>
          <p:cNvSpPr/>
          <p:nvPr/>
        </p:nvSpPr>
        <p:spPr>
          <a:xfrm>
            <a:off x="6492240" y="4919472"/>
            <a:ext cx="347472" cy="347472"/>
          </a:xfrm>
          <a:prstGeom prst="ellipse">
            <a:avLst/>
          </a:prstGeom>
          <a:solidFill>
            <a:srgbClr val="E6F8F7"/>
          </a:solidFill>
          <a:ln/>
        </p:spPr>
      </p:sp>
      <p:pic>
        <p:nvPicPr>
          <p:cNvPr id="42" name="Image 8" descr="preencoded.png">    </p:cNvPr>
          <p:cNvPicPr>
            <a:picLocks noChangeAspect="1"/>
          </p:cNvPicPr>
          <p:nvPr/>
        </p:nvPicPr>
        <p:blipFill>
          <a:blip r:embed="rId9"/>
          <a:stretch>
            <a:fillRect/>
          </a:stretch>
        </p:blipFill>
        <p:spPr>
          <a:xfrm>
            <a:off x="6568684" y="4995916"/>
            <a:ext cx="194584" cy="194584"/>
          </a:xfrm>
          <a:prstGeom prst="rect">
            <a:avLst/>
          </a:prstGeom>
        </p:spPr>
      </p:pic>
      <p:sp>
        <p:nvSpPr>
          <p:cNvPr id="43" name="Text 32"/>
          <p:cNvSpPr/>
          <p:nvPr/>
        </p:nvSpPr>
        <p:spPr>
          <a:xfrm>
            <a:off x="6995160" y="4937760"/>
            <a:ext cx="4389120" cy="320040"/>
          </a:xfrm>
          <a:prstGeom prst="rect">
            <a:avLst/>
          </a:prstGeom>
          <a:noFill/>
          <a:ln/>
        </p:spPr>
        <p:txBody>
          <a:bodyPr wrap="square" lIns="0" tIns="0" rIns="0" bIns="0" rtlCol="0" anchor="ctr"/>
          <a:lstStyle/>
          <a:p>
            <a:pPr indent="0" marL="0">
              <a:buNone/>
            </a:pPr>
            <a:r>
              <a:rPr lang="en-US" sz="1450" b="1" dirty="0">
                <a:solidFill>
                  <a:srgbClr val="1A2333"/>
                </a:solidFill>
                <a:latin typeface="Calibri" pitchFamily="34" charset="0"/>
                <a:ea typeface="Calibri" pitchFamily="34" charset="-122"/>
                <a:cs typeface="Calibri" pitchFamily="34" charset="-120"/>
              </a:rPr>
              <a:t>Build against the spec</a:t>
            </a:r>
            <a:endParaRPr lang="en-US" sz="1450" dirty="0"/>
          </a:p>
        </p:txBody>
      </p:sp>
      <p:sp>
        <p:nvSpPr>
          <p:cNvPr id="44" name="Text 33"/>
          <p:cNvSpPr/>
          <p:nvPr/>
        </p:nvSpPr>
        <p:spPr>
          <a:xfrm>
            <a:off x="6995160" y="5276088"/>
            <a:ext cx="4434840" cy="292608"/>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Scope is fixed; new ideas become new specs.</a:t>
            </a:r>
            <a:endParaRPr lang="en-US" sz="1100" dirty="0"/>
          </a:p>
        </p:txBody>
      </p:sp>
      <p:sp>
        <p:nvSpPr>
          <p:cNvPr id="45" name="Shape 34"/>
          <p:cNvSpPr/>
          <p:nvPr/>
        </p:nvSpPr>
        <p:spPr>
          <a:xfrm>
            <a:off x="6492240" y="5724144"/>
            <a:ext cx="347472" cy="347472"/>
          </a:xfrm>
          <a:prstGeom prst="ellipse">
            <a:avLst/>
          </a:prstGeom>
          <a:solidFill>
            <a:srgbClr val="E6F8F7"/>
          </a:solidFill>
          <a:ln/>
        </p:spPr>
      </p:sp>
      <p:pic>
        <p:nvPicPr>
          <p:cNvPr id="46" name="Image 9" descr="preencoded.png">    </p:cNvPr>
          <p:cNvPicPr>
            <a:picLocks noChangeAspect="1"/>
          </p:cNvPicPr>
          <p:nvPr/>
        </p:nvPicPr>
        <p:blipFill>
          <a:blip r:embed="rId10"/>
          <a:stretch>
            <a:fillRect/>
          </a:stretch>
        </p:blipFill>
        <p:spPr>
          <a:xfrm>
            <a:off x="6568684" y="5800588"/>
            <a:ext cx="194584" cy="194584"/>
          </a:xfrm>
          <a:prstGeom prst="rect">
            <a:avLst/>
          </a:prstGeom>
        </p:spPr>
      </p:pic>
      <p:sp>
        <p:nvSpPr>
          <p:cNvPr id="47" name="Text 35"/>
          <p:cNvSpPr/>
          <p:nvPr/>
        </p:nvSpPr>
        <p:spPr>
          <a:xfrm>
            <a:off x="6995160" y="5742432"/>
            <a:ext cx="4389120" cy="320040"/>
          </a:xfrm>
          <a:prstGeom prst="rect">
            <a:avLst/>
          </a:prstGeom>
          <a:noFill/>
          <a:ln/>
        </p:spPr>
        <p:txBody>
          <a:bodyPr wrap="square" lIns="0" tIns="0" rIns="0" bIns="0" rtlCol="0" anchor="ctr"/>
          <a:lstStyle/>
          <a:p>
            <a:pPr indent="0" marL="0">
              <a:buNone/>
            </a:pPr>
            <a:r>
              <a:rPr lang="en-US" sz="1450" b="1" dirty="0">
                <a:solidFill>
                  <a:srgbClr val="1A2333"/>
                </a:solidFill>
                <a:latin typeface="Calibri" pitchFamily="34" charset="0"/>
                <a:ea typeface="Calibri" pitchFamily="34" charset="-122"/>
                <a:cs typeface="Calibri" pitchFamily="34" charset="-120"/>
              </a:rPr>
              <a:t>Flag conflicts early</a:t>
            </a:r>
            <a:endParaRPr lang="en-US" sz="1450" dirty="0"/>
          </a:p>
        </p:txBody>
      </p:sp>
      <p:sp>
        <p:nvSpPr>
          <p:cNvPr id="48" name="Text 36"/>
          <p:cNvSpPr/>
          <p:nvPr/>
        </p:nvSpPr>
        <p:spPr>
          <a:xfrm>
            <a:off x="6995160" y="6080760"/>
            <a:ext cx="4434840" cy="292608"/>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If spec and plan don't align, raise it before building.</a:t>
            </a:r>
            <a:endParaRPr lang="en-US" sz="1100" dirty="0"/>
          </a:p>
        </p:txBody>
      </p:sp>
      <p:sp>
        <p:nvSpPr>
          <p:cNvPr id="49" name="Text 37"/>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5A6478"/>
                </a:solidFill>
                <a:latin typeface="Calibri" pitchFamily="34" charset="0"/>
                <a:ea typeface="Calibri" pitchFamily="34" charset="-122"/>
                <a:cs typeface="Calibri" pitchFamily="34" charset="-120"/>
              </a:rPr>
              <a:t>Spec-Driven Development</a:t>
            </a:r>
            <a:endParaRPr lang="en-US" sz="900" dirty="0"/>
          </a:p>
        </p:txBody>
      </p:sp>
      <p:sp>
        <p:nvSpPr>
          <p:cNvPr id="50" name="Text 38"/>
          <p:cNvSpPr/>
          <p:nvPr/>
        </p:nvSpPr>
        <p:spPr>
          <a:xfrm>
            <a:off x="11247120" y="6473952"/>
            <a:ext cx="365760" cy="274320"/>
          </a:xfrm>
          <a:prstGeom prst="rect">
            <a:avLst/>
          </a:prstGeom>
          <a:noFill/>
          <a:ln/>
        </p:spPr>
        <p:txBody>
          <a:bodyPr wrap="square" lIns="0" tIns="0" rIns="0" bIns="0" rtlCol="0" anchor="ctr"/>
          <a:lstStyle/>
          <a:p>
            <a:pPr algn="r" indent="0" marL="0">
              <a:buNone/>
            </a:pPr>
            <a:r>
              <a:rPr lang="en-US" sz="900" dirty="0">
                <a:solidFill>
                  <a:srgbClr val="5A64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94360" y="438912"/>
            <a:ext cx="10972800" cy="292608"/>
          </a:xfrm>
          <a:prstGeom prst="rect">
            <a:avLst/>
          </a:prstGeom>
          <a:noFill/>
          <a:ln/>
        </p:spPr>
        <p:txBody>
          <a:bodyPr wrap="square" lIns="0" tIns="0" rIns="0" bIns="0" rtlCol="0" anchor="ctr"/>
          <a:lstStyle/>
          <a:p>
            <a:pPr indent="0" marL="0">
              <a:buNone/>
            </a:pPr>
            <a:r>
              <a:rPr lang="en-US" sz="1150" b="1" spc="350" kern="0" dirty="0">
                <a:solidFill>
                  <a:srgbClr val="2EC4B6"/>
                </a:solidFill>
                <a:latin typeface="Calibri" pitchFamily="34" charset="0"/>
                <a:ea typeface="Calibri" pitchFamily="34" charset="-122"/>
                <a:cs typeface="Calibri" pitchFamily="34" charset="-120"/>
              </a:rPr>
              <a:t>THE SHIFT</a:t>
            </a:r>
            <a:endParaRPr lang="en-US" sz="1150" dirty="0"/>
          </a:p>
        </p:txBody>
      </p:sp>
      <p:sp>
        <p:nvSpPr>
          <p:cNvPr id="3" name="Text 1"/>
          <p:cNvSpPr/>
          <p:nvPr/>
        </p:nvSpPr>
        <p:spPr>
          <a:xfrm>
            <a:off x="594360" y="749808"/>
            <a:ext cx="10972800" cy="868680"/>
          </a:xfrm>
          <a:prstGeom prst="rect">
            <a:avLst/>
          </a:prstGeom>
          <a:noFill/>
          <a:ln/>
        </p:spPr>
        <p:txBody>
          <a:bodyPr wrap="square" lIns="0" tIns="0" rIns="0" bIns="0" rtlCol="0" anchor="ctr"/>
          <a:lstStyle/>
          <a:p>
            <a:pPr indent="0" marL="0">
              <a:buNone/>
            </a:pPr>
            <a:r>
              <a:rPr lang="en-US" sz="3400" b="1" dirty="0">
                <a:solidFill>
                  <a:srgbClr val="1A2333"/>
                </a:solidFill>
                <a:latin typeface="Georgia" pitchFamily="34" charset="0"/>
                <a:ea typeface="Georgia" pitchFamily="34" charset="-122"/>
                <a:cs typeface="Georgia" pitchFamily="34" charset="-120"/>
              </a:rPr>
              <a:t>From ad-hoc to accountable</a:t>
            </a:r>
            <a:endParaRPr lang="en-US" sz="3400" dirty="0"/>
          </a:p>
        </p:txBody>
      </p:sp>
      <p:sp>
        <p:nvSpPr>
          <p:cNvPr id="4" name="Text 2"/>
          <p:cNvSpPr/>
          <p:nvPr/>
        </p:nvSpPr>
        <p:spPr>
          <a:xfrm>
            <a:off x="594360" y="1572768"/>
            <a:ext cx="10972800" cy="347472"/>
          </a:xfrm>
          <a:prstGeom prst="rect">
            <a:avLst/>
          </a:prstGeom>
          <a:noFill/>
          <a:ln/>
        </p:spPr>
        <p:txBody>
          <a:bodyPr wrap="square" lIns="0" tIns="0" rIns="0" bIns="0" rtlCol="0" anchor="ctr"/>
          <a:lstStyle/>
          <a:p>
            <a:pPr indent="0" marL="0">
              <a:buNone/>
            </a:pPr>
            <a:r>
              <a:rPr lang="en-US" sz="1400" dirty="0">
                <a:solidFill>
                  <a:srgbClr val="5A6478"/>
                </a:solidFill>
                <a:latin typeface="Calibri" pitchFamily="34" charset="0"/>
                <a:ea typeface="Calibri" pitchFamily="34" charset="-122"/>
                <a:cs typeface="Calibri" pitchFamily="34" charset="-120"/>
              </a:rPr>
              <a:t>The same team, the same people — just a different process.</a:t>
            </a:r>
            <a:endParaRPr lang="en-US" sz="1400" dirty="0"/>
          </a:p>
        </p:txBody>
      </p:sp>
      <p:sp>
        <p:nvSpPr>
          <p:cNvPr id="5" name="Shape 3"/>
          <p:cNvSpPr/>
          <p:nvPr/>
        </p:nvSpPr>
        <p:spPr>
          <a:xfrm>
            <a:off x="594360" y="2148840"/>
            <a:ext cx="5440680" cy="4297680"/>
          </a:xfrm>
          <a:prstGeom prst="rect">
            <a:avLst/>
          </a:prstGeom>
          <a:solidFill>
            <a:srgbClr val="FFFFFF"/>
          </a:solidFill>
          <a:ln w="12700">
            <a:solidFill>
              <a:srgbClr val="D8E2F0"/>
            </a:solidFill>
            <a:prstDash val="solid"/>
          </a:ln>
          <a:effectLst>
            <a:outerShdw sx="100000" sy="100000" kx="0" ky="0" algn="bl" rotWithShape="0" blurRad="127000" dist="38100" dir="8100000">
              <a:srgbClr val="000000">
                <a:alpha val="14000"/>
              </a:srgbClr>
            </a:outerShdw>
          </a:effectLst>
        </p:spPr>
      </p:sp>
      <p:sp>
        <p:nvSpPr>
          <p:cNvPr id="6" name="Shape 4"/>
          <p:cNvSpPr/>
          <p:nvPr/>
        </p:nvSpPr>
        <p:spPr>
          <a:xfrm>
            <a:off x="594360" y="2148840"/>
            <a:ext cx="5440680" cy="731520"/>
          </a:xfrm>
          <a:prstGeom prst="rect">
            <a:avLst/>
          </a:prstGeom>
          <a:solidFill>
            <a:srgbClr val="8A94A6"/>
          </a:solidFill>
          <a:ln/>
        </p:spPr>
      </p:sp>
      <p:sp>
        <p:nvSpPr>
          <p:cNvPr id="7" name="Text 5"/>
          <p:cNvSpPr/>
          <p:nvPr/>
        </p:nvSpPr>
        <p:spPr>
          <a:xfrm>
            <a:off x="914400" y="2148840"/>
            <a:ext cx="4937760" cy="731520"/>
          </a:xfrm>
          <a:prstGeom prst="rect">
            <a:avLst/>
          </a:prstGeom>
          <a:noFill/>
          <a:ln/>
        </p:spPr>
        <p:txBody>
          <a:bodyPr wrap="square" lIns="0" tIns="0" rIns="0" bIns="0" rtlCol="0" anchor="ctr"/>
          <a:lstStyle/>
          <a:p>
            <a:pPr indent="0" marL="0">
              <a:buNone/>
            </a:pPr>
            <a:r>
              <a:rPr lang="en-US" sz="1500" b="1" spc="250" kern="0" dirty="0">
                <a:solidFill>
                  <a:srgbClr val="FFFFFF"/>
                </a:solidFill>
                <a:latin typeface="Calibri" pitchFamily="34" charset="0"/>
                <a:ea typeface="Calibri" pitchFamily="34" charset="-122"/>
                <a:cs typeface="Calibri" pitchFamily="34" charset="-120"/>
              </a:rPr>
              <a:t>WITHOUT SDD</a:t>
            </a:r>
            <a:endParaRPr lang="en-US" sz="1500" dirty="0"/>
          </a:p>
        </p:txBody>
      </p:sp>
      <p:sp>
        <p:nvSpPr>
          <p:cNvPr id="8" name="Shape 6"/>
          <p:cNvSpPr/>
          <p:nvPr/>
        </p:nvSpPr>
        <p:spPr>
          <a:xfrm>
            <a:off x="914400" y="3081528"/>
            <a:ext cx="347472" cy="347472"/>
          </a:xfrm>
          <a:prstGeom prst="ellipse">
            <a:avLst/>
          </a:prstGeom>
          <a:solidFill>
            <a:srgbClr val="FEF3DC"/>
          </a:solidFill>
          <a:ln/>
        </p:spPr>
      </p:sp>
      <p:pic>
        <p:nvPicPr>
          <p:cNvPr id="9" name="Image 0" descr="preencoded.png">    </p:cNvPr>
          <p:cNvPicPr>
            <a:picLocks noChangeAspect="1"/>
          </p:cNvPicPr>
          <p:nvPr/>
        </p:nvPicPr>
        <p:blipFill>
          <a:blip r:embed="rId1"/>
          <a:stretch>
            <a:fillRect/>
          </a:stretch>
        </p:blipFill>
        <p:spPr>
          <a:xfrm>
            <a:off x="990844" y="3157972"/>
            <a:ext cx="194584" cy="194584"/>
          </a:xfrm>
          <a:prstGeom prst="rect">
            <a:avLst/>
          </a:prstGeom>
        </p:spPr>
      </p:pic>
      <p:sp>
        <p:nvSpPr>
          <p:cNvPr id="10" name="Text 7"/>
          <p:cNvSpPr/>
          <p:nvPr/>
        </p:nvSpPr>
        <p:spPr>
          <a:xfrm>
            <a:off x="1417320" y="3081528"/>
            <a:ext cx="4434840" cy="329184"/>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Requirements scattered in chats</a:t>
            </a:r>
            <a:endParaRPr lang="en-US" sz="1350" dirty="0"/>
          </a:p>
        </p:txBody>
      </p:sp>
      <p:sp>
        <p:nvSpPr>
          <p:cNvPr id="11" name="Text 8"/>
          <p:cNvSpPr/>
          <p:nvPr/>
        </p:nvSpPr>
        <p:spPr>
          <a:xfrm>
            <a:off x="1417320" y="3429000"/>
            <a:ext cx="4434840" cy="310896"/>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No single source of truth. Everyone's working from a slightly different version.</a:t>
            </a:r>
            <a:endParaRPr lang="en-US" sz="1100" dirty="0"/>
          </a:p>
        </p:txBody>
      </p:sp>
      <p:sp>
        <p:nvSpPr>
          <p:cNvPr id="12" name="Shape 9"/>
          <p:cNvSpPr/>
          <p:nvPr/>
        </p:nvSpPr>
        <p:spPr>
          <a:xfrm>
            <a:off x="914400" y="3867912"/>
            <a:ext cx="347472" cy="347472"/>
          </a:xfrm>
          <a:prstGeom prst="ellipse">
            <a:avLst/>
          </a:prstGeom>
          <a:solidFill>
            <a:srgbClr val="FEF3DC"/>
          </a:solidFill>
          <a:ln/>
        </p:spPr>
      </p:sp>
      <p:pic>
        <p:nvPicPr>
          <p:cNvPr id="13" name="Image 1" descr="preencoded.png">    </p:cNvPr>
          <p:cNvPicPr>
            <a:picLocks noChangeAspect="1"/>
          </p:cNvPicPr>
          <p:nvPr/>
        </p:nvPicPr>
        <p:blipFill>
          <a:blip r:embed="rId2"/>
          <a:stretch>
            <a:fillRect/>
          </a:stretch>
        </p:blipFill>
        <p:spPr>
          <a:xfrm>
            <a:off x="990844" y="3944356"/>
            <a:ext cx="194584" cy="194584"/>
          </a:xfrm>
          <a:prstGeom prst="rect">
            <a:avLst/>
          </a:prstGeom>
        </p:spPr>
      </p:pic>
      <p:sp>
        <p:nvSpPr>
          <p:cNvPr id="14" name="Text 10"/>
          <p:cNvSpPr/>
          <p:nvPr/>
        </p:nvSpPr>
        <p:spPr>
          <a:xfrm>
            <a:off x="1417320" y="3867912"/>
            <a:ext cx="4434840" cy="329184"/>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"Is this done?" has no clear answer</a:t>
            </a:r>
            <a:endParaRPr lang="en-US" sz="1350" dirty="0"/>
          </a:p>
        </p:txBody>
      </p:sp>
      <p:sp>
        <p:nvSpPr>
          <p:cNvPr id="15" name="Text 11"/>
          <p:cNvSpPr/>
          <p:nvPr/>
        </p:nvSpPr>
        <p:spPr>
          <a:xfrm>
            <a:off x="1417320" y="4215384"/>
            <a:ext cx="4434840" cy="310896"/>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Progress is invisible until it's finished — or late.</a:t>
            </a:r>
            <a:endParaRPr lang="en-US" sz="1100" dirty="0"/>
          </a:p>
        </p:txBody>
      </p:sp>
      <p:sp>
        <p:nvSpPr>
          <p:cNvPr id="16" name="Shape 12"/>
          <p:cNvSpPr/>
          <p:nvPr/>
        </p:nvSpPr>
        <p:spPr>
          <a:xfrm>
            <a:off x="914400" y="4654296"/>
            <a:ext cx="347472" cy="347472"/>
          </a:xfrm>
          <a:prstGeom prst="ellipse">
            <a:avLst/>
          </a:prstGeom>
          <a:solidFill>
            <a:srgbClr val="FEF3DC"/>
          </a:solidFill>
          <a:ln/>
        </p:spPr>
      </p:sp>
      <p:pic>
        <p:nvPicPr>
          <p:cNvPr id="17" name="Image 2" descr="preencoded.png">    </p:cNvPr>
          <p:cNvPicPr>
            <a:picLocks noChangeAspect="1"/>
          </p:cNvPicPr>
          <p:nvPr/>
        </p:nvPicPr>
        <p:blipFill>
          <a:blip r:embed="rId3"/>
          <a:stretch>
            <a:fillRect/>
          </a:stretch>
        </p:blipFill>
        <p:spPr>
          <a:xfrm>
            <a:off x="990844" y="4730740"/>
            <a:ext cx="194584" cy="194584"/>
          </a:xfrm>
          <a:prstGeom prst="rect">
            <a:avLst/>
          </a:prstGeom>
        </p:spPr>
      </p:pic>
      <p:sp>
        <p:nvSpPr>
          <p:cNvPr id="18" name="Text 13"/>
          <p:cNvSpPr/>
          <p:nvPr/>
        </p:nvSpPr>
        <p:spPr>
          <a:xfrm>
            <a:off x="1417320" y="4654296"/>
            <a:ext cx="4434840" cy="329184"/>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Scope grows without a decision</a:t>
            </a:r>
            <a:endParaRPr lang="en-US" sz="1350" dirty="0"/>
          </a:p>
        </p:txBody>
      </p:sp>
      <p:sp>
        <p:nvSpPr>
          <p:cNvPr id="19" name="Text 14"/>
          <p:cNvSpPr/>
          <p:nvPr/>
        </p:nvSpPr>
        <p:spPr>
          <a:xfrm>
            <a:off x="1417320" y="5001768"/>
            <a:ext cx="4434840" cy="310896"/>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Features expand silently. Nobody approved the expansion.</a:t>
            </a:r>
            <a:endParaRPr lang="en-US" sz="1100" dirty="0"/>
          </a:p>
        </p:txBody>
      </p:sp>
      <p:sp>
        <p:nvSpPr>
          <p:cNvPr id="20" name="Shape 15"/>
          <p:cNvSpPr/>
          <p:nvPr/>
        </p:nvSpPr>
        <p:spPr>
          <a:xfrm>
            <a:off x="914400" y="5440680"/>
            <a:ext cx="347472" cy="347472"/>
          </a:xfrm>
          <a:prstGeom prst="ellipse">
            <a:avLst/>
          </a:prstGeom>
          <a:solidFill>
            <a:srgbClr val="FEF3DC"/>
          </a:solidFill>
          <a:ln/>
        </p:spPr>
      </p:sp>
      <p:pic>
        <p:nvPicPr>
          <p:cNvPr id="21" name="Image 3" descr="preencoded.png">    </p:cNvPr>
          <p:cNvPicPr>
            <a:picLocks noChangeAspect="1"/>
          </p:cNvPicPr>
          <p:nvPr/>
        </p:nvPicPr>
        <p:blipFill>
          <a:blip r:embed="rId4"/>
          <a:stretch>
            <a:fillRect/>
          </a:stretch>
        </p:blipFill>
        <p:spPr>
          <a:xfrm>
            <a:off x="990844" y="5517124"/>
            <a:ext cx="194584" cy="194584"/>
          </a:xfrm>
          <a:prstGeom prst="rect">
            <a:avLst/>
          </a:prstGeom>
        </p:spPr>
      </p:pic>
      <p:sp>
        <p:nvSpPr>
          <p:cNvPr id="22" name="Text 16"/>
          <p:cNvSpPr/>
          <p:nvPr/>
        </p:nvSpPr>
        <p:spPr>
          <a:xfrm>
            <a:off x="1417320" y="5440680"/>
            <a:ext cx="4434840" cy="329184"/>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AI writes code nobody specced</a:t>
            </a:r>
            <a:endParaRPr lang="en-US" sz="1350" dirty="0"/>
          </a:p>
        </p:txBody>
      </p:sp>
      <p:sp>
        <p:nvSpPr>
          <p:cNvPr id="23" name="Text 17"/>
          <p:cNvSpPr/>
          <p:nvPr/>
        </p:nvSpPr>
        <p:spPr>
          <a:xfrm>
            <a:off x="1417320" y="5788152"/>
            <a:ext cx="4434840" cy="310896"/>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The speed is there, but it's building against assumptions.</a:t>
            </a:r>
            <a:endParaRPr lang="en-US" sz="1100" dirty="0"/>
          </a:p>
        </p:txBody>
      </p:sp>
      <p:sp>
        <p:nvSpPr>
          <p:cNvPr id="24" name="Shape 18"/>
          <p:cNvSpPr/>
          <p:nvPr/>
        </p:nvSpPr>
        <p:spPr>
          <a:xfrm>
            <a:off x="914400" y="6227064"/>
            <a:ext cx="347472" cy="347472"/>
          </a:xfrm>
          <a:prstGeom prst="ellipse">
            <a:avLst/>
          </a:prstGeom>
          <a:solidFill>
            <a:srgbClr val="FEF3DC"/>
          </a:solidFill>
          <a:ln/>
        </p:spPr>
      </p:sp>
      <p:pic>
        <p:nvPicPr>
          <p:cNvPr id="25" name="Image 4" descr="preencoded.png">    </p:cNvPr>
          <p:cNvPicPr>
            <a:picLocks noChangeAspect="1"/>
          </p:cNvPicPr>
          <p:nvPr/>
        </p:nvPicPr>
        <p:blipFill>
          <a:blip r:embed="rId5"/>
          <a:stretch>
            <a:fillRect/>
          </a:stretch>
        </p:blipFill>
        <p:spPr>
          <a:xfrm>
            <a:off x="990844" y="6303508"/>
            <a:ext cx="194584" cy="194584"/>
          </a:xfrm>
          <a:prstGeom prst="rect">
            <a:avLst/>
          </a:prstGeom>
        </p:spPr>
      </p:pic>
      <p:sp>
        <p:nvSpPr>
          <p:cNvPr id="26" name="Text 19"/>
          <p:cNvSpPr/>
          <p:nvPr/>
        </p:nvSpPr>
        <p:spPr>
          <a:xfrm>
            <a:off x="1417320" y="6227064"/>
            <a:ext cx="4434840" cy="329184"/>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Rework discovered after shipping</a:t>
            </a:r>
            <a:endParaRPr lang="en-US" sz="1350" dirty="0"/>
          </a:p>
        </p:txBody>
      </p:sp>
      <p:sp>
        <p:nvSpPr>
          <p:cNvPr id="27" name="Text 20"/>
          <p:cNvSpPr/>
          <p:nvPr/>
        </p:nvSpPr>
        <p:spPr>
          <a:xfrm>
            <a:off x="1417320" y="6574536"/>
            <a:ext cx="4434840" cy="310896"/>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The most expensive moment to find a problem.</a:t>
            </a:r>
            <a:endParaRPr lang="en-US" sz="1100" dirty="0"/>
          </a:p>
        </p:txBody>
      </p:sp>
      <p:sp>
        <p:nvSpPr>
          <p:cNvPr id="28" name="Shape 21"/>
          <p:cNvSpPr/>
          <p:nvPr/>
        </p:nvSpPr>
        <p:spPr>
          <a:xfrm>
            <a:off x="6126480" y="2148840"/>
            <a:ext cx="5440680" cy="4297680"/>
          </a:xfrm>
          <a:prstGeom prst="rect">
            <a:avLst/>
          </a:prstGeom>
          <a:solidFill>
            <a:srgbClr val="FFFFFF"/>
          </a:solidFill>
          <a:ln w="19050">
            <a:solidFill>
              <a:srgbClr val="2EC4B6"/>
            </a:solidFill>
            <a:prstDash val="solid"/>
          </a:ln>
          <a:effectLst>
            <a:outerShdw sx="100000" sy="100000" kx="0" ky="0" algn="bl" rotWithShape="0" blurRad="127000" dist="38100" dir="8100000">
              <a:srgbClr val="000000">
                <a:alpha val="14000"/>
              </a:srgbClr>
            </a:outerShdw>
          </a:effectLst>
        </p:spPr>
      </p:sp>
      <p:sp>
        <p:nvSpPr>
          <p:cNvPr id="29" name="Shape 22"/>
          <p:cNvSpPr/>
          <p:nvPr/>
        </p:nvSpPr>
        <p:spPr>
          <a:xfrm>
            <a:off x="6126480" y="2148840"/>
            <a:ext cx="5440680" cy="731520"/>
          </a:xfrm>
          <a:prstGeom prst="rect">
            <a:avLst/>
          </a:prstGeom>
          <a:solidFill>
            <a:srgbClr val="2EC4B6"/>
          </a:solidFill>
          <a:ln/>
        </p:spPr>
      </p:sp>
      <p:sp>
        <p:nvSpPr>
          <p:cNvPr id="30" name="Text 23"/>
          <p:cNvSpPr/>
          <p:nvPr/>
        </p:nvSpPr>
        <p:spPr>
          <a:xfrm>
            <a:off x="6446520" y="2148840"/>
            <a:ext cx="4937760" cy="731520"/>
          </a:xfrm>
          <a:prstGeom prst="rect">
            <a:avLst/>
          </a:prstGeom>
          <a:noFill/>
          <a:ln/>
        </p:spPr>
        <p:txBody>
          <a:bodyPr wrap="square" lIns="0" tIns="0" rIns="0" bIns="0" rtlCol="0" anchor="ctr"/>
          <a:lstStyle/>
          <a:p>
            <a:pPr indent="0" marL="0">
              <a:buNone/>
            </a:pPr>
            <a:r>
              <a:rPr lang="en-US" sz="1500" b="1" spc="250" kern="0" dirty="0">
                <a:solidFill>
                  <a:srgbClr val="FFFFFF"/>
                </a:solidFill>
                <a:latin typeface="Calibri" pitchFamily="34" charset="0"/>
                <a:ea typeface="Calibri" pitchFamily="34" charset="-122"/>
                <a:cs typeface="Calibri" pitchFamily="34" charset="-120"/>
              </a:rPr>
              <a:t>WITH SDD</a:t>
            </a:r>
            <a:endParaRPr lang="en-US" sz="1500" dirty="0"/>
          </a:p>
        </p:txBody>
      </p:sp>
      <p:sp>
        <p:nvSpPr>
          <p:cNvPr id="31" name="Shape 24"/>
          <p:cNvSpPr/>
          <p:nvPr/>
        </p:nvSpPr>
        <p:spPr>
          <a:xfrm>
            <a:off x="6446520" y="3081528"/>
            <a:ext cx="347472" cy="347472"/>
          </a:xfrm>
          <a:prstGeom prst="ellipse">
            <a:avLst/>
          </a:prstGeom>
          <a:solidFill>
            <a:srgbClr val="E6F8F7"/>
          </a:solidFill>
          <a:ln/>
        </p:spPr>
      </p:sp>
      <p:pic>
        <p:nvPicPr>
          <p:cNvPr id="32" name="Image 5" descr="preencoded.png">    </p:cNvPr>
          <p:cNvPicPr>
            <a:picLocks noChangeAspect="1"/>
          </p:cNvPicPr>
          <p:nvPr/>
        </p:nvPicPr>
        <p:blipFill>
          <a:blip r:embed="rId6"/>
          <a:stretch>
            <a:fillRect/>
          </a:stretch>
        </p:blipFill>
        <p:spPr>
          <a:xfrm>
            <a:off x="6522964" y="3157972"/>
            <a:ext cx="194584" cy="194584"/>
          </a:xfrm>
          <a:prstGeom prst="rect">
            <a:avLst/>
          </a:prstGeom>
        </p:spPr>
      </p:pic>
      <p:sp>
        <p:nvSpPr>
          <p:cNvPr id="33" name="Text 25"/>
          <p:cNvSpPr/>
          <p:nvPr/>
        </p:nvSpPr>
        <p:spPr>
          <a:xfrm>
            <a:off x="6949440" y="3081528"/>
            <a:ext cx="4434840" cy="329184"/>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One approved spec — written down</a:t>
            </a:r>
            <a:endParaRPr lang="en-US" sz="1350" dirty="0"/>
          </a:p>
        </p:txBody>
      </p:sp>
      <p:sp>
        <p:nvSpPr>
          <p:cNvPr id="34" name="Text 26"/>
          <p:cNvSpPr/>
          <p:nvPr/>
        </p:nvSpPr>
        <p:spPr>
          <a:xfrm>
            <a:off x="6949440" y="3429000"/>
            <a:ext cx="4434840" cy="310896"/>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Everybody reads the same document. Disagreements surface early, not late.</a:t>
            </a:r>
            <a:endParaRPr lang="en-US" sz="1100" dirty="0"/>
          </a:p>
        </p:txBody>
      </p:sp>
      <p:sp>
        <p:nvSpPr>
          <p:cNvPr id="35" name="Shape 27"/>
          <p:cNvSpPr/>
          <p:nvPr/>
        </p:nvSpPr>
        <p:spPr>
          <a:xfrm>
            <a:off x="6446520" y="3867912"/>
            <a:ext cx="347472" cy="347472"/>
          </a:xfrm>
          <a:prstGeom prst="ellipse">
            <a:avLst/>
          </a:prstGeom>
          <a:solidFill>
            <a:srgbClr val="E6F8F7"/>
          </a:solidFill>
          <a:ln/>
        </p:spPr>
      </p:sp>
      <p:pic>
        <p:nvPicPr>
          <p:cNvPr id="36" name="Image 6" descr="preencoded.png">    </p:cNvPr>
          <p:cNvPicPr>
            <a:picLocks noChangeAspect="1"/>
          </p:cNvPicPr>
          <p:nvPr/>
        </p:nvPicPr>
        <p:blipFill>
          <a:blip r:embed="rId7"/>
          <a:stretch>
            <a:fillRect/>
          </a:stretch>
        </p:blipFill>
        <p:spPr>
          <a:xfrm>
            <a:off x="6522964" y="3944356"/>
            <a:ext cx="194584" cy="194584"/>
          </a:xfrm>
          <a:prstGeom prst="rect">
            <a:avLst/>
          </a:prstGeom>
        </p:spPr>
      </p:pic>
      <p:sp>
        <p:nvSpPr>
          <p:cNvPr id="37" name="Text 28"/>
          <p:cNvSpPr/>
          <p:nvPr/>
        </p:nvSpPr>
        <p:spPr>
          <a:xfrm>
            <a:off x="6949440" y="3867912"/>
            <a:ext cx="4434840" cy="329184"/>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Status is visible at every step</a:t>
            </a:r>
            <a:endParaRPr lang="en-US" sz="1350" dirty="0"/>
          </a:p>
        </p:txBody>
      </p:sp>
      <p:sp>
        <p:nvSpPr>
          <p:cNvPr id="38" name="Text 29"/>
          <p:cNvSpPr/>
          <p:nvPr/>
        </p:nvSpPr>
        <p:spPr>
          <a:xfrm>
            <a:off x="6949440" y="4215384"/>
            <a:ext cx="4434840" cy="310896"/>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tasks.md shows exactly what's done, in progress, and remaining.</a:t>
            </a:r>
            <a:endParaRPr lang="en-US" sz="1100" dirty="0"/>
          </a:p>
        </p:txBody>
      </p:sp>
      <p:sp>
        <p:nvSpPr>
          <p:cNvPr id="39" name="Shape 30"/>
          <p:cNvSpPr/>
          <p:nvPr/>
        </p:nvSpPr>
        <p:spPr>
          <a:xfrm>
            <a:off x="6446520" y="4654296"/>
            <a:ext cx="347472" cy="347472"/>
          </a:xfrm>
          <a:prstGeom prst="ellipse">
            <a:avLst/>
          </a:prstGeom>
          <a:solidFill>
            <a:srgbClr val="E6F8F7"/>
          </a:solidFill>
          <a:ln/>
        </p:spPr>
      </p:sp>
      <p:pic>
        <p:nvPicPr>
          <p:cNvPr id="40" name="Image 7" descr="preencoded.png">    </p:cNvPr>
          <p:cNvPicPr>
            <a:picLocks noChangeAspect="1"/>
          </p:cNvPicPr>
          <p:nvPr/>
        </p:nvPicPr>
        <p:blipFill>
          <a:blip r:embed="rId8"/>
          <a:stretch>
            <a:fillRect/>
          </a:stretch>
        </p:blipFill>
        <p:spPr>
          <a:xfrm>
            <a:off x="6522964" y="4730740"/>
            <a:ext cx="194584" cy="194584"/>
          </a:xfrm>
          <a:prstGeom prst="rect">
            <a:avLst/>
          </a:prstGeom>
        </p:spPr>
      </p:pic>
      <p:sp>
        <p:nvSpPr>
          <p:cNvPr id="41" name="Text 31"/>
          <p:cNvSpPr/>
          <p:nvPr/>
        </p:nvSpPr>
        <p:spPr>
          <a:xfrm>
            <a:off x="6949440" y="4654296"/>
            <a:ext cx="4434840" cy="329184"/>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Scope changes are explicit decisions</a:t>
            </a:r>
            <a:endParaRPr lang="en-US" sz="1350" dirty="0"/>
          </a:p>
        </p:txBody>
      </p:sp>
      <p:sp>
        <p:nvSpPr>
          <p:cNvPr id="42" name="Text 32"/>
          <p:cNvSpPr/>
          <p:nvPr/>
        </p:nvSpPr>
        <p:spPr>
          <a:xfrm>
            <a:off x="6949440" y="5001768"/>
            <a:ext cx="4434840" cy="310896"/>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Any new idea becomes a new spec. The current build is locked.</a:t>
            </a:r>
            <a:endParaRPr lang="en-US" sz="1100" dirty="0"/>
          </a:p>
        </p:txBody>
      </p:sp>
      <p:sp>
        <p:nvSpPr>
          <p:cNvPr id="43" name="Shape 33"/>
          <p:cNvSpPr/>
          <p:nvPr/>
        </p:nvSpPr>
        <p:spPr>
          <a:xfrm>
            <a:off x="6446520" y="5440680"/>
            <a:ext cx="347472" cy="347472"/>
          </a:xfrm>
          <a:prstGeom prst="ellipse">
            <a:avLst/>
          </a:prstGeom>
          <a:solidFill>
            <a:srgbClr val="E6F8F7"/>
          </a:solidFill>
          <a:ln/>
        </p:spPr>
      </p:sp>
      <p:pic>
        <p:nvPicPr>
          <p:cNvPr id="44" name="Image 8" descr="preencoded.png">    </p:cNvPr>
          <p:cNvPicPr>
            <a:picLocks noChangeAspect="1"/>
          </p:cNvPicPr>
          <p:nvPr/>
        </p:nvPicPr>
        <p:blipFill>
          <a:blip r:embed="rId9"/>
          <a:stretch>
            <a:fillRect/>
          </a:stretch>
        </p:blipFill>
        <p:spPr>
          <a:xfrm>
            <a:off x="6522964" y="5517124"/>
            <a:ext cx="194584" cy="194584"/>
          </a:xfrm>
          <a:prstGeom prst="rect">
            <a:avLst/>
          </a:prstGeom>
        </p:spPr>
      </p:pic>
      <p:sp>
        <p:nvSpPr>
          <p:cNvPr id="45" name="Text 34"/>
          <p:cNvSpPr/>
          <p:nvPr/>
        </p:nvSpPr>
        <p:spPr>
          <a:xfrm>
            <a:off x="6949440" y="5440680"/>
            <a:ext cx="4434840" cy="329184"/>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AI builds against an approved spec</a:t>
            </a:r>
            <a:endParaRPr lang="en-US" sz="1350" dirty="0"/>
          </a:p>
        </p:txBody>
      </p:sp>
      <p:sp>
        <p:nvSpPr>
          <p:cNvPr id="46" name="Text 35"/>
          <p:cNvSpPr/>
          <p:nvPr/>
        </p:nvSpPr>
        <p:spPr>
          <a:xfrm>
            <a:off x="6949440" y="5788152"/>
            <a:ext cx="4434840" cy="310896"/>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Speed applies to the right direction. No guessing.</a:t>
            </a:r>
            <a:endParaRPr lang="en-US" sz="1100" dirty="0"/>
          </a:p>
        </p:txBody>
      </p:sp>
      <p:sp>
        <p:nvSpPr>
          <p:cNvPr id="47" name="Shape 36"/>
          <p:cNvSpPr/>
          <p:nvPr/>
        </p:nvSpPr>
        <p:spPr>
          <a:xfrm>
            <a:off x="6446520" y="6227064"/>
            <a:ext cx="347472" cy="347472"/>
          </a:xfrm>
          <a:prstGeom prst="ellipse">
            <a:avLst/>
          </a:prstGeom>
          <a:solidFill>
            <a:srgbClr val="E6F8F7"/>
          </a:solidFill>
          <a:ln/>
        </p:spPr>
      </p:sp>
      <p:pic>
        <p:nvPicPr>
          <p:cNvPr id="48" name="Image 9" descr="preencoded.png">    </p:cNvPr>
          <p:cNvPicPr>
            <a:picLocks noChangeAspect="1"/>
          </p:cNvPicPr>
          <p:nvPr/>
        </p:nvPicPr>
        <p:blipFill>
          <a:blip r:embed="rId10"/>
          <a:stretch>
            <a:fillRect/>
          </a:stretch>
        </p:blipFill>
        <p:spPr>
          <a:xfrm>
            <a:off x="6522964" y="6303508"/>
            <a:ext cx="194584" cy="194584"/>
          </a:xfrm>
          <a:prstGeom prst="rect">
            <a:avLst/>
          </a:prstGeom>
        </p:spPr>
      </p:pic>
      <p:sp>
        <p:nvSpPr>
          <p:cNvPr id="49" name="Text 37"/>
          <p:cNvSpPr/>
          <p:nvPr/>
        </p:nvSpPr>
        <p:spPr>
          <a:xfrm>
            <a:off x="6949440" y="6227064"/>
            <a:ext cx="4434840" cy="329184"/>
          </a:xfrm>
          <a:prstGeom prst="rect">
            <a:avLst/>
          </a:prstGeom>
          <a:noFill/>
          <a:ln/>
        </p:spPr>
        <p:txBody>
          <a:bodyPr wrap="square" lIns="0" tIns="0" rIns="0" bIns="0" rtlCol="0" anchor="ctr"/>
          <a:lstStyle/>
          <a:p>
            <a:pPr indent="0" marL="0">
              <a:buNone/>
            </a:pPr>
            <a:r>
              <a:rPr lang="en-US" sz="1350" b="1" dirty="0">
                <a:solidFill>
                  <a:srgbClr val="1A2333"/>
                </a:solidFill>
                <a:latin typeface="Calibri" pitchFamily="34" charset="0"/>
                <a:ea typeface="Calibri" pitchFamily="34" charset="-122"/>
                <a:cs typeface="Calibri" pitchFamily="34" charset="-120"/>
              </a:rPr>
              <a:t>Problems caught at the gate</a:t>
            </a:r>
            <a:endParaRPr lang="en-US" sz="1350" dirty="0"/>
          </a:p>
        </p:txBody>
      </p:sp>
      <p:sp>
        <p:nvSpPr>
          <p:cNvPr id="50" name="Text 38"/>
          <p:cNvSpPr/>
          <p:nvPr/>
        </p:nvSpPr>
        <p:spPr>
          <a:xfrm>
            <a:off x="6949440" y="6574536"/>
            <a:ext cx="4434840" cy="310896"/>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The spec review is 30 minutes. A rework cycle is 2 weeks.</a:t>
            </a:r>
            <a:endParaRPr lang="en-US" sz="1100" dirty="0"/>
          </a:p>
        </p:txBody>
      </p:sp>
      <p:sp>
        <p:nvSpPr>
          <p:cNvPr id="51" name="Text 39"/>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5A6478"/>
                </a:solidFill>
                <a:latin typeface="Calibri" pitchFamily="34" charset="0"/>
                <a:ea typeface="Calibri" pitchFamily="34" charset="-122"/>
                <a:cs typeface="Calibri" pitchFamily="34" charset="-120"/>
              </a:rPr>
              <a:t>Spec-Driven Development</a:t>
            </a:r>
            <a:endParaRPr lang="en-US" sz="900" dirty="0"/>
          </a:p>
        </p:txBody>
      </p:sp>
      <p:sp>
        <p:nvSpPr>
          <p:cNvPr id="52" name="Text 40"/>
          <p:cNvSpPr/>
          <p:nvPr/>
        </p:nvSpPr>
        <p:spPr>
          <a:xfrm>
            <a:off x="11247120" y="6473952"/>
            <a:ext cx="365760" cy="274320"/>
          </a:xfrm>
          <a:prstGeom prst="rect">
            <a:avLst/>
          </a:prstGeom>
          <a:noFill/>
          <a:ln/>
        </p:spPr>
        <p:txBody>
          <a:bodyPr wrap="square" lIns="0" tIns="0" rIns="0" bIns="0" rtlCol="0" anchor="ctr"/>
          <a:lstStyle/>
          <a:p>
            <a:pPr algn="r" indent="0" marL="0">
              <a:buNone/>
            </a:pPr>
            <a:r>
              <a:rPr lang="en-US" sz="900" dirty="0">
                <a:solidFill>
                  <a:srgbClr val="5A64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203F"/>
        </a:solidFill>
      </p:bgPr>
    </p:bg>
    <p:spTree>
      <p:nvGrpSpPr>
        <p:cNvPr id="1" name=""/>
        <p:cNvGrpSpPr/>
        <p:nvPr/>
      </p:nvGrpSpPr>
      <p:grpSpPr>
        <a:xfrm>
          <a:off x="0" y="0"/>
          <a:ext cx="0" cy="0"/>
          <a:chOff x="0" y="0"/>
          <a:chExt cx="0" cy="0"/>
        </a:xfrm>
      </p:grpSpPr>
      <p:sp>
        <p:nvSpPr>
          <p:cNvPr id="2" name="Text 0"/>
          <p:cNvSpPr/>
          <p:nvPr/>
        </p:nvSpPr>
        <p:spPr>
          <a:xfrm>
            <a:off x="594360" y="438912"/>
            <a:ext cx="10972800" cy="292608"/>
          </a:xfrm>
          <a:prstGeom prst="rect">
            <a:avLst/>
          </a:prstGeom>
          <a:noFill/>
          <a:ln/>
        </p:spPr>
        <p:txBody>
          <a:bodyPr wrap="square" lIns="0" tIns="0" rIns="0" bIns="0" rtlCol="0" anchor="ctr"/>
          <a:lstStyle/>
          <a:p>
            <a:pPr indent="0" marL="0">
              <a:buNone/>
            </a:pPr>
            <a:r>
              <a:rPr lang="en-US" sz="1150" b="1" spc="350" kern="0" dirty="0">
                <a:solidFill>
                  <a:srgbClr val="2EC4B6"/>
                </a:solidFill>
                <a:latin typeface="Calibri" pitchFamily="34" charset="0"/>
                <a:ea typeface="Calibri" pitchFamily="34" charset="-122"/>
                <a:cs typeface="Calibri" pitchFamily="34" charset="-120"/>
              </a:rPr>
              <a:t>WHY IT PAYS OFF</a:t>
            </a:r>
            <a:endParaRPr lang="en-US" sz="1150" dirty="0"/>
          </a:p>
        </p:txBody>
      </p:sp>
      <p:sp>
        <p:nvSpPr>
          <p:cNvPr id="3" name="Text 1"/>
          <p:cNvSpPr/>
          <p:nvPr/>
        </p:nvSpPr>
        <p:spPr>
          <a:xfrm>
            <a:off x="594360" y="749808"/>
            <a:ext cx="10972800" cy="86868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What this buys the business</a:t>
            </a:r>
            <a:endParaRPr lang="en-US" sz="3400" dirty="0"/>
          </a:p>
        </p:txBody>
      </p:sp>
      <p:sp>
        <p:nvSpPr>
          <p:cNvPr id="4" name="Text 2"/>
          <p:cNvSpPr/>
          <p:nvPr/>
        </p:nvSpPr>
        <p:spPr>
          <a:xfrm>
            <a:off x="594360" y="1572768"/>
            <a:ext cx="10972800" cy="347472"/>
          </a:xfrm>
          <a:prstGeom prst="rect">
            <a:avLst/>
          </a:prstGeom>
          <a:noFill/>
          <a:ln/>
        </p:spPr>
        <p:txBody>
          <a:bodyPr wrap="square" lIns="0" tIns="0" rIns="0" bIns="0" rtlCol="0" anchor="ctr"/>
          <a:lstStyle/>
          <a:p>
            <a:pPr indent="0" marL="0">
              <a:buNone/>
            </a:pPr>
            <a:r>
              <a:rPr lang="en-US" sz="1400" dirty="0">
                <a:solidFill>
                  <a:srgbClr val="C8DAEF"/>
                </a:solidFill>
                <a:latin typeface="Calibri" pitchFamily="34" charset="0"/>
                <a:ea typeface="Calibri" pitchFamily="34" charset="-122"/>
                <a:cs typeface="Calibri" pitchFamily="34" charset="-120"/>
              </a:rPr>
              <a:t>Each benefit is a direct consequence of the process — not a side effect.</a:t>
            </a:r>
            <a:endParaRPr lang="en-US" sz="1400" dirty="0"/>
          </a:p>
        </p:txBody>
      </p:sp>
      <p:sp>
        <p:nvSpPr>
          <p:cNvPr id="5" name="Shape 3"/>
          <p:cNvSpPr/>
          <p:nvPr/>
        </p:nvSpPr>
        <p:spPr>
          <a:xfrm>
            <a:off x="594360" y="2194560"/>
            <a:ext cx="5394960" cy="2057400"/>
          </a:xfrm>
          <a:prstGeom prst="rect">
            <a:avLst/>
          </a:prstGeom>
          <a:solidFill>
            <a:srgbClr val="21386A"/>
          </a:solidFill>
          <a:ln w="15875">
            <a:solidFill>
              <a:srgbClr val="44608F"/>
            </a:solidFill>
            <a:prstDash val="solid"/>
          </a:ln>
          <a:effectLst>
            <a:outerShdw sx="100000" sy="100000" kx="0" ky="0" algn="bl" rotWithShape="0" blurRad="127000" dist="38100" dir="8100000">
              <a:srgbClr val="000000">
                <a:alpha val="14000"/>
              </a:srgbClr>
            </a:outerShdw>
          </a:effectLst>
        </p:spPr>
      </p:sp>
      <p:sp>
        <p:nvSpPr>
          <p:cNvPr id="6" name="Shape 4"/>
          <p:cNvSpPr/>
          <p:nvPr/>
        </p:nvSpPr>
        <p:spPr>
          <a:xfrm>
            <a:off x="594360" y="2194560"/>
            <a:ext cx="91440" cy="2057400"/>
          </a:xfrm>
          <a:prstGeom prst="rect">
            <a:avLst/>
          </a:prstGeom>
          <a:solidFill>
            <a:srgbClr val="2EC4B6"/>
          </a:solidFill>
          <a:ln/>
        </p:spPr>
      </p:sp>
      <p:sp>
        <p:nvSpPr>
          <p:cNvPr id="7" name="Text 5"/>
          <p:cNvSpPr/>
          <p:nvPr/>
        </p:nvSpPr>
        <p:spPr>
          <a:xfrm>
            <a:off x="960120" y="2377440"/>
            <a:ext cx="4846320" cy="457200"/>
          </a:xfrm>
          <a:prstGeom prst="rect">
            <a:avLst/>
          </a:prstGeom>
          <a:noFill/>
          <a:ln/>
        </p:spPr>
        <p:txBody>
          <a:bodyPr wrap="square" lIns="0" tIns="0" rIns="0" bIns="0" rtlCol="0" anchor="ctr"/>
          <a:lstStyle/>
          <a:p>
            <a:pPr indent="0" marL="0">
              <a:buNone/>
            </a:pPr>
            <a:r>
              <a:rPr lang="en-US" sz="2200" b="1" dirty="0">
                <a:solidFill>
                  <a:srgbClr val="2EC4B6"/>
                </a:solidFill>
                <a:latin typeface="Georgia" pitchFamily="34" charset="0"/>
                <a:ea typeface="Georgia" pitchFamily="34" charset="-122"/>
                <a:cs typeface="Georgia" pitchFamily="34" charset="-120"/>
              </a:rPr>
              <a:t>Predictability</a:t>
            </a:r>
            <a:endParaRPr lang="en-US" sz="2200" dirty="0"/>
          </a:p>
        </p:txBody>
      </p:sp>
      <p:sp>
        <p:nvSpPr>
          <p:cNvPr id="8" name="Text 6"/>
          <p:cNvSpPr/>
          <p:nvPr/>
        </p:nvSpPr>
        <p:spPr>
          <a:xfrm>
            <a:off x="960120" y="2852928"/>
            <a:ext cx="4892040" cy="822960"/>
          </a:xfrm>
          <a:prstGeom prst="rect">
            <a:avLst/>
          </a:prstGeom>
          <a:noFill/>
          <a:ln/>
        </p:spPr>
        <p:txBody>
          <a:bodyPr wrap="square" lIns="0" tIns="0" rIns="0" bIns="0" rtlCol="0" anchor="ctr"/>
          <a:lstStyle/>
          <a:p>
            <a:pPr indent="0" marL="0">
              <a:buNone/>
            </a:pPr>
            <a:r>
              <a:rPr lang="en-US" sz="1200" dirty="0">
                <a:solidFill>
                  <a:srgbClr val="C8DAEF"/>
                </a:solidFill>
                <a:latin typeface="Calibri" pitchFamily="34" charset="0"/>
                <a:ea typeface="Calibri" pitchFamily="34" charset="-122"/>
                <a:cs typeface="Calibri" pitchFamily="34" charset="-120"/>
              </a:rPr>
              <a:t>Every feature follows the same path. Timelines are easier to estimate because the process is consistent. Surprises happen at the spec stage — not at the launch.</a:t>
            </a:r>
            <a:endParaRPr lang="en-US" sz="1200" dirty="0"/>
          </a:p>
        </p:txBody>
      </p:sp>
      <p:sp>
        <p:nvSpPr>
          <p:cNvPr id="9" name="Shape 7"/>
          <p:cNvSpPr/>
          <p:nvPr/>
        </p:nvSpPr>
        <p:spPr>
          <a:xfrm>
            <a:off x="960120" y="3730752"/>
            <a:ext cx="4846320" cy="0"/>
          </a:xfrm>
          <a:prstGeom prst="line">
            <a:avLst/>
          </a:prstGeom>
          <a:noFill/>
          <a:ln w="9525">
            <a:solidFill>
              <a:srgbClr val="44608F"/>
            </a:solidFill>
            <a:prstDash val="solid"/>
          </a:ln>
        </p:spPr>
      </p:sp>
      <p:sp>
        <p:nvSpPr>
          <p:cNvPr id="10" name="Text 8"/>
          <p:cNvSpPr/>
          <p:nvPr/>
        </p:nvSpPr>
        <p:spPr>
          <a:xfrm>
            <a:off x="960120" y="3785616"/>
            <a:ext cx="4892040" cy="384048"/>
          </a:xfrm>
          <a:prstGeom prst="rect">
            <a:avLst/>
          </a:prstGeom>
          <a:noFill/>
          <a:ln/>
        </p:spPr>
        <p:txBody>
          <a:bodyPr wrap="square" lIns="0" tIns="0" rIns="0" bIns="0" rtlCol="0" anchor="ctr"/>
          <a:lstStyle/>
          <a:p>
            <a:pPr indent="0" marL="0">
              <a:buNone/>
            </a:pPr>
            <a:r>
              <a:rPr lang="en-US" sz="1100" i="1" dirty="0">
                <a:solidFill>
                  <a:srgbClr val="E9A23B"/>
                </a:solidFill>
                <a:latin typeface="Calibri" pitchFamily="34" charset="0"/>
                <a:ea typeface="Calibri" pitchFamily="34" charset="-122"/>
                <a:cs typeface="Calibri" pitchFamily="34" charset="-120"/>
              </a:rPr>
              <a:t>Same process → same predictability → better planning.</a:t>
            </a:r>
            <a:endParaRPr lang="en-US" sz="1100" dirty="0"/>
          </a:p>
        </p:txBody>
      </p:sp>
      <p:sp>
        <p:nvSpPr>
          <p:cNvPr id="11" name="Shape 9"/>
          <p:cNvSpPr/>
          <p:nvPr/>
        </p:nvSpPr>
        <p:spPr>
          <a:xfrm>
            <a:off x="6263640" y="2194560"/>
            <a:ext cx="5394960" cy="2057400"/>
          </a:xfrm>
          <a:prstGeom prst="rect">
            <a:avLst/>
          </a:prstGeom>
          <a:solidFill>
            <a:srgbClr val="21386A"/>
          </a:solidFill>
          <a:ln w="15875">
            <a:solidFill>
              <a:srgbClr val="44608F"/>
            </a:solidFill>
            <a:prstDash val="solid"/>
          </a:ln>
          <a:effectLst>
            <a:outerShdw sx="100000" sy="100000" kx="0" ky="0" algn="bl" rotWithShape="0" blurRad="127000" dist="38100" dir="8100000">
              <a:srgbClr val="000000">
                <a:alpha val="14000"/>
              </a:srgbClr>
            </a:outerShdw>
          </a:effectLst>
        </p:spPr>
      </p:sp>
      <p:sp>
        <p:nvSpPr>
          <p:cNvPr id="12" name="Shape 10"/>
          <p:cNvSpPr/>
          <p:nvPr/>
        </p:nvSpPr>
        <p:spPr>
          <a:xfrm>
            <a:off x="6263640" y="2194560"/>
            <a:ext cx="91440" cy="2057400"/>
          </a:xfrm>
          <a:prstGeom prst="rect">
            <a:avLst/>
          </a:prstGeom>
          <a:solidFill>
            <a:srgbClr val="2EC4B6"/>
          </a:solidFill>
          <a:ln/>
        </p:spPr>
      </p:sp>
      <p:sp>
        <p:nvSpPr>
          <p:cNvPr id="13" name="Text 11"/>
          <p:cNvSpPr/>
          <p:nvPr/>
        </p:nvSpPr>
        <p:spPr>
          <a:xfrm>
            <a:off x="6629400" y="2377440"/>
            <a:ext cx="4846320" cy="457200"/>
          </a:xfrm>
          <a:prstGeom prst="rect">
            <a:avLst/>
          </a:prstGeom>
          <a:noFill/>
          <a:ln/>
        </p:spPr>
        <p:txBody>
          <a:bodyPr wrap="square" lIns="0" tIns="0" rIns="0" bIns="0" rtlCol="0" anchor="ctr"/>
          <a:lstStyle/>
          <a:p>
            <a:pPr indent="0" marL="0">
              <a:buNone/>
            </a:pPr>
            <a:r>
              <a:rPr lang="en-US" sz="2200" b="1" dirty="0">
                <a:solidFill>
                  <a:srgbClr val="2EC4B6"/>
                </a:solidFill>
                <a:latin typeface="Georgia" pitchFamily="34" charset="0"/>
                <a:ea typeface="Georgia" pitchFamily="34" charset="-122"/>
                <a:cs typeface="Georgia" pitchFamily="34" charset="-120"/>
              </a:rPr>
              <a:t>Less rework</a:t>
            </a:r>
            <a:endParaRPr lang="en-US" sz="2200" dirty="0"/>
          </a:p>
        </p:txBody>
      </p:sp>
      <p:sp>
        <p:nvSpPr>
          <p:cNvPr id="14" name="Text 12"/>
          <p:cNvSpPr/>
          <p:nvPr/>
        </p:nvSpPr>
        <p:spPr>
          <a:xfrm>
            <a:off x="6629400" y="2852928"/>
            <a:ext cx="4892040" cy="822960"/>
          </a:xfrm>
          <a:prstGeom prst="rect">
            <a:avLst/>
          </a:prstGeom>
          <a:noFill/>
          <a:ln/>
        </p:spPr>
        <p:txBody>
          <a:bodyPr wrap="square" lIns="0" tIns="0" rIns="0" bIns="0" rtlCol="0" anchor="ctr"/>
          <a:lstStyle/>
          <a:p>
            <a:pPr indent="0" marL="0">
              <a:buNone/>
            </a:pPr>
            <a:r>
              <a:rPr lang="en-US" sz="1200" dirty="0">
                <a:solidFill>
                  <a:srgbClr val="C8DAEF"/>
                </a:solidFill>
                <a:latin typeface="Calibri" pitchFamily="34" charset="0"/>
                <a:ea typeface="Calibri" pitchFamily="34" charset="-122"/>
                <a:cs typeface="Calibri" pitchFamily="34" charset="-120"/>
              </a:rPr>
              <a:t>Catching "wrong thing" at the 30-minute spec review costs almost nothing. Catching it after 2 weeks of build costs 2 weeks plus morale plus opportunity cost.</a:t>
            </a:r>
            <a:endParaRPr lang="en-US" sz="1200" dirty="0"/>
          </a:p>
        </p:txBody>
      </p:sp>
      <p:sp>
        <p:nvSpPr>
          <p:cNvPr id="15" name="Shape 13"/>
          <p:cNvSpPr/>
          <p:nvPr/>
        </p:nvSpPr>
        <p:spPr>
          <a:xfrm>
            <a:off x="6629400" y="3730752"/>
            <a:ext cx="4846320" cy="0"/>
          </a:xfrm>
          <a:prstGeom prst="line">
            <a:avLst/>
          </a:prstGeom>
          <a:noFill/>
          <a:ln w="9525">
            <a:solidFill>
              <a:srgbClr val="44608F"/>
            </a:solidFill>
            <a:prstDash val="solid"/>
          </a:ln>
        </p:spPr>
      </p:sp>
      <p:sp>
        <p:nvSpPr>
          <p:cNvPr id="16" name="Text 14"/>
          <p:cNvSpPr/>
          <p:nvPr/>
        </p:nvSpPr>
        <p:spPr>
          <a:xfrm>
            <a:off x="6629400" y="3785616"/>
            <a:ext cx="4892040" cy="384048"/>
          </a:xfrm>
          <a:prstGeom prst="rect">
            <a:avLst/>
          </a:prstGeom>
          <a:noFill/>
          <a:ln/>
        </p:spPr>
        <p:txBody>
          <a:bodyPr wrap="square" lIns="0" tIns="0" rIns="0" bIns="0" rtlCol="0" anchor="ctr"/>
          <a:lstStyle/>
          <a:p>
            <a:pPr indent="0" marL="0">
              <a:buNone/>
            </a:pPr>
            <a:r>
              <a:rPr lang="en-US" sz="1100" i="1" dirty="0">
                <a:solidFill>
                  <a:srgbClr val="E9A23B"/>
                </a:solidFill>
                <a:latin typeface="Calibri" pitchFamily="34" charset="0"/>
                <a:ea typeface="Calibri" pitchFamily="34" charset="-122"/>
                <a:cs typeface="Calibri" pitchFamily="34" charset="-120"/>
              </a:rPr>
              <a:t>The spec review is the cheapest QA step in the entire process.</a:t>
            </a:r>
            <a:endParaRPr lang="en-US" sz="1100" dirty="0"/>
          </a:p>
        </p:txBody>
      </p:sp>
      <p:sp>
        <p:nvSpPr>
          <p:cNvPr id="17" name="Shape 15"/>
          <p:cNvSpPr/>
          <p:nvPr/>
        </p:nvSpPr>
        <p:spPr>
          <a:xfrm>
            <a:off x="594360" y="4389120"/>
            <a:ext cx="5394960" cy="2057400"/>
          </a:xfrm>
          <a:prstGeom prst="rect">
            <a:avLst/>
          </a:prstGeom>
          <a:solidFill>
            <a:srgbClr val="21386A"/>
          </a:solidFill>
          <a:ln w="15875">
            <a:solidFill>
              <a:srgbClr val="44608F"/>
            </a:solidFill>
            <a:prstDash val="solid"/>
          </a:ln>
          <a:effectLst>
            <a:outerShdw sx="100000" sy="100000" kx="0" ky="0" algn="bl" rotWithShape="0" blurRad="127000" dist="38100" dir="8100000">
              <a:srgbClr val="000000">
                <a:alpha val="14000"/>
              </a:srgbClr>
            </a:outerShdw>
          </a:effectLst>
        </p:spPr>
      </p:sp>
      <p:sp>
        <p:nvSpPr>
          <p:cNvPr id="18" name="Shape 16"/>
          <p:cNvSpPr/>
          <p:nvPr/>
        </p:nvSpPr>
        <p:spPr>
          <a:xfrm>
            <a:off x="594360" y="4389120"/>
            <a:ext cx="91440" cy="2057400"/>
          </a:xfrm>
          <a:prstGeom prst="rect">
            <a:avLst/>
          </a:prstGeom>
          <a:solidFill>
            <a:srgbClr val="2EC4B6"/>
          </a:solidFill>
          <a:ln/>
        </p:spPr>
      </p:sp>
      <p:sp>
        <p:nvSpPr>
          <p:cNvPr id="19" name="Text 17"/>
          <p:cNvSpPr/>
          <p:nvPr/>
        </p:nvSpPr>
        <p:spPr>
          <a:xfrm>
            <a:off x="960120" y="4572000"/>
            <a:ext cx="4846320" cy="457200"/>
          </a:xfrm>
          <a:prstGeom prst="rect">
            <a:avLst/>
          </a:prstGeom>
          <a:noFill/>
          <a:ln/>
        </p:spPr>
        <p:txBody>
          <a:bodyPr wrap="square" lIns="0" tIns="0" rIns="0" bIns="0" rtlCol="0" anchor="ctr"/>
          <a:lstStyle/>
          <a:p>
            <a:pPr indent="0" marL="0">
              <a:buNone/>
            </a:pPr>
            <a:r>
              <a:rPr lang="en-US" sz="2200" b="1" dirty="0">
                <a:solidFill>
                  <a:srgbClr val="2EC4B6"/>
                </a:solidFill>
                <a:latin typeface="Georgia" pitchFamily="34" charset="0"/>
                <a:ea typeface="Georgia" pitchFamily="34" charset="-122"/>
                <a:cs typeface="Georgia" pitchFamily="34" charset="-120"/>
              </a:rPr>
              <a:t>Full traceability</a:t>
            </a:r>
            <a:endParaRPr lang="en-US" sz="2200" dirty="0"/>
          </a:p>
        </p:txBody>
      </p:sp>
      <p:sp>
        <p:nvSpPr>
          <p:cNvPr id="20" name="Text 18"/>
          <p:cNvSpPr/>
          <p:nvPr/>
        </p:nvSpPr>
        <p:spPr>
          <a:xfrm>
            <a:off x="960120" y="5047488"/>
            <a:ext cx="4892040" cy="822960"/>
          </a:xfrm>
          <a:prstGeom prst="rect">
            <a:avLst/>
          </a:prstGeom>
          <a:noFill/>
          <a:ln/>
        </p:spPr>
        <p:txBody>
          <a:bodyPr wrap="square" lIns="0" tIns="0" rIns="0" bIns="0" rtlCol="0" anchor="ctr"/>
          <a:lstStyle/>
          <a:p>
            <a:pPr indent="0" marL="0">
              <a:buNone/>
            </a:pPr>
            <a:r>
              <a:rPr lang="en-US" sz="1200" dirty="0">
                <a:solidFill>
                  <a:srgbClr val="C8DAEF"/>
                </a:solidFill>
                <a:latin typeface="Calibri" pitchFamily="34" charset="0"/>
                <a:ea typeface="Calibri" pitchFamily="34" charset="-122"/>
                <a:cs typeface="Calibri" pitchFamily="34" charset="-120"/>
              </a:rPr>
              <a:t>Any line of code can be traced back to a task. Any task can be traced back to a spec. Any spec was approved by a named person. You always have an answer for "why was this built?"</a:t>
            </a:r>
            <a:endParaRPr lang="en-US" sz="1200" dirty="0"/>
          </a:p>
        </p:txBody>
      </p:sp>
      <p:sp>
        <p:nvSpPr>
          <p:cNvPr id="21" name="Shape 19"/>
          <p:cNvSpPr/>
          <p:nvPr/>
        </p:nvSpPr>
        <p:spPr>
          <a:xfrm>
            <a:off x="960120" y="5925312"/>
            <a:ext cx="4846320" cy="0"/>
          </a:xfrm>
          <a:prstGeom prst="line">
            <a:avLst/>
          </a:prstGeom>
          <a:noFill/>
          <a:ln w="9525">
            <a:solidFill>
              <a:srgbClr val="44608F"/>
            </a:solidFill>
            <a:prstDash val="solid"/>
          </a:ln>
        </p:spPr>
      </p:sp>
      <p:sp>
        <p:nvSpPr>
          <p:cNvPr id="22" name="Text 20"/>
          <p:cNvSpPr/>
          <p:nvPr/>
        </p:nvSpPr>
        <p:spPr>
          <a:xfrm>
            <a:off x="960120" y="5980176"/>
            <a:ext cx="4892040" cy="384048"/>
          </a:xfrm>
          <a:prstGeom prst="rect">
            <a:avLst/>
          </a:prstGeom>
          <a:noFill/>
          <a:ln/>
        </p:spPr>
        <p:txBody>
          <a:bodyPr wrap="square" lIns="0" tIns="0" rIns="0" bIns="0" rtlCol="0" anchor="ctr"/>
          <a:lstStyle/>
          <a:p>
            <a:pPr indent="0" marL="0">
              <a:buNone/>
            </a:pPr>
            <a:r>
              <a:rPr lang="en-US" sz="1100" i="1" dirty="0">
                <a:solidFill>
                  <a:srgbClr val="E9A23B"/>
                </a:solidFill>
                <a:latin typeface="Calibri" pitchFamily="34" charset="0"/>
                <a:ea typeface="Calibri" pitchFamily="34" charset="-122"/>
                <a:cs typeface="Calibri" pitchFamily="34" charset="-120"/>
              </a:rPr>
              <a:t>No more mystery features, no more forgotten context.</a:t>
            </a:r>
            <a:endParaRPr lang="en-US" sz="1100" dirty="0"/>
          </a:p>
        </p:txBody>
      </p:sp>
      <p:sp>
        <p:nvSpPr>
          <p:cNvPr id="23" name="Shape 21"/>
          <p:cNvSpPr/>
          <p:nvPr/>
        </p:nvSpPr>
        <p:spPr>
          <a:xfrm>
            <a:off x="6263640" y="4389120"/>
            <a:ext cx="5394960" cy="2057400"/>
          </a:xfrm>
          <a:prstGeom prst="rect">
            <a:avLst/>
          </a:prstGeom>
          <a:solidFill>
            <a:srgbClr val="21386A"/>
          </a:solidFill>
          <a:ln w="15875">
            <a:solidFill>
              <a:srgbClr val="44608F"/>
            </a:solidFill>
            <a:prstDash val="solid"/>
          </a:ln>
          <a:effectLst>
            <a:outerShdw sx="100000" sy="100000" kx="0" ky="0" algn="bl" rotWithShape="0" blurRad="127000" dist="38100" dir="8100000">
              <a:srgbClr val="000000">
                <a:alpha val="14000"/>
              </a:srgbClr>
            </a:outerShdw>
          </a:effectLst>
        </p:spPr>
      </p:sp>
      <p:sp>
        <p:nvSpPr>
          <p:cNvPr id="24" name="Shape 22"/>
          <p:cNvSpPr/>
          <p:nvPr/>
        </p:nvSpPr>
        <p:spPr>
          <a:xfrm>
            <a:off x="6263640" y="4389120"/>
            <a:ext cx="91440" cy="2057400"/>
          </a:xfrm>
          <a:prstGeom prst="rect">
            <a:avLst/>
          </a:prstGeom>
          <a:solidFill>
            <a:srgbClr val="2EC4B6"/>
          </a:solidFill>
          <a:ln/>
        </p:spPr>
      </p:sp>
      <p:sp>
        <p:nvSpPr>
          <p:cNvPr id="25" name="Text 23"/>
          <p:cNvSpPr/>
          <p:nvPr/>
        </p:nvSpPr>
        <p:spPr>
          <a:xfrm>
            <a:off x="6629400" y="4572000"/>
            <a:ext cx="4846320" cy="457200"/>
          </a:xfrm>
          <a:prstGeom prst="rect">
            <a:avLst/>
          </a:prstGeom>
          <a:noFill/>
          <a:ln/>
        </p:spPr>
        <p:txBody>
          <a:bodyPr wrap="square" lIns="0" tIns="0" rIns="0" bIns="0" rtlCol="0" anchor="ctr"/>
          <a:lstStyle/>
          <a:p>
            <a:pPr indent="0" marL="0">
              <a:buNone/>
            </a:pPr>
            <a:r>
              <a:rPr lang="en-US" sz="2200" b="1" dirty="0">
                <a:solidFill>
                  <a:srgbClr val="2EC4B6"/>
                </a:solidFill>
                <a:latin typeface="Georgia" pitchFamily="34" charset="0"/>
                <a:ea typeface="Georgia" pitchFamily="34" charset="-122"/>
                <a:cs typeface="Georgia" pitchFamily="34" charset="-120"/>
              </a:rPr>
              <a:t>AI with guardrails</a:t>
            </a:r>
            <a:endParaRPr lang="en-US" sz="2200" dirty="0"/>
          </a:p>
        </p:txBody>
      </p:sp>
      <p:sp>
        <p:nvSpPr>
          <p:cNvPr id="26" name="Text 24"/>
          <p:cNvSpPr/>
          <p:nvPr/>
        </p:nvSpPr>
        <p:spPr>
          <a:xfrm>
            <a:off x="6629400" y="5047488"/>
            <a:ext cx="4892040" cy="822960"/>
          </a:xfrm>
          <a:prstGeom prst="rect">
            <a:avLst/>
          </a:prstGeom>
          <a:noFill/>
          <a:ln/>
        </p:spPr>
        <p:txBody>
          <a:bodyPr wrap="square" lIns="0" tIns="0" rIns="0" bIns="0" rtlCol="0" anchor="ctr"/>
          <a:lstStyle/>
          <a:p>
            <a:pPr indent="0" marL="0">
              <a:buNone/>
            </a:pPr>
            <a:r>
              <a:rPr lang="en-US" sz="1200" dirty="0">
                <a:solidFill>
                  <a:srgbClr val="C8DAEF"/>
                </a:solidFill>
                <a:latin typeface="Calibri" pitchFamily="34" charset="0"/>
                <a:ea typeface="Calibri" pitchFamily="34" charset="-122"/>
                <a:cs typeface="Calibri" pitchFamily="34" charset="-120"/>
              </a:rPr>
              <a:t>AI is now the most powerful accelerator in software development — but only when it's pointed in the right direction. SDD provides the approved spec that AI builds against, so speed doesn't become a liability.</a:t>
            </a:r>
            <a:endParaRPr lang="en-US" sz="1200" dirty="0"/>
          </a:p>
        </p:txBody>
      </p:sp>
      <p:sp>
        <p:nvSpPr>
          <p:cNvPr id="27" name="Shape 25"/>
          <p:cNvSpPr/>
          <p:nvPr/>
        </p:nvSpPr>
        <p:spPr>
          <a:xfrm>
            <a:off x="6629400" y="5925312"/>
            <a:ext cx="4846320" cy="0"/>
          </a:xfrm>
          <a:prstGeom prst="line">
            <a:avLst/>
          </a:prstGeom>
          <a:noFill/>
          <a:ln w="9525">
            <a:solidFill>
              <a:srgbClr val="44608F"/>
            </a:solidFill>
            <a:prstDash val="solid"/>
          </a:ln>
        </p:spPr>
      </p:sp>
      <p:sp>
        <p:nvSpPr>
          <p:cNvPr id="28" name="Text 26"/>
          <p:cNvSpPr/>
          <p:nvPr/>
        </p:nvSpPr>
        <p:spPr>
          <a:xfrm>
            <a:off x="6629400" y="5980176"/>
            <a:ext cx="4892040" cy="384048"/>
          </a:xfrm>
          <a:prstGeom prst="rect">
            <a:avLst/>
          </a:prstGeom>
          <a:noFill/>
          <a:ln/>
        </p:spPr>
        <p:txBody>
          <a:bodyPr wrap="square" lIns="0" tIns="0" rIns="0" bIns="0" rtlCol="0" anchor="ctr"/>
          <a:lstStyle/>
          <a:p>
            <a:pPr indent="0" marL="0">
              <a:buNone/>
            </a:pPr>
            <a:r>
              <a:rPr lang="en-US" sz="1100" i="1" dirty="0">
                <a:solidFill>
                  <a:srgbClr val="E9A23B"/>
                </a:solidFill>
                <a:latin typeface="Calibri" pitchFamily="34" charset="0"/>
                <a:ea typeface="Calibri" pitchFamily="34" charset="-122"/>
                <a:cs typeface="Calibri" pitchFamily="34" charset="-120"/>
              </a:rPr>
              <a:t>AI multiplies your velocity. SDD makes sure that velocity is directed.</a:t>
            </a:r>
            <a:endParaRPr lang="en-US" sz="1100" dirty="0"/>
          </a:p>
        </p:txBody>
      </p:sp>
      <p:sp>
        <p:nvSpPr>
          <p:cNvPr id="29" name="Text 27"/>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5F7DA8"/>
                </a:solidFill>
                <a:latin typeface="Calibri" pitchFamily="34" charset="0"/>
                <a:ea typeface="Calibri" pitchFamily="34" charset="-122"/>
                <a:cs typeface="Calibri" pitchFamily="34" charset="-120"/>
              </a:rPr>
              <a:t>Spec-Driven Development</a:t>
            </a:r>
            <a:endParaRPr lang="en-US" sz="900" dirty="0"/>
          </a:p>
        </p:txBody>
      </p:sp>
      <p:sp>
        <p:nvSpPr>
          <p:cNvPr id="30" name="Text 28"/>
          <p:cNvSpPr/>
          <p:nvPr/>
        </p:nvSpPr>
        <p:spPr>
          <a:xfrm>
            <a:off x="11247120" y="6473952"/>
            <a:ext cx="365760" cy="274320"/>
          </a:xfrm>
          <a:prstGeom prst="rect">
            <a:avLst/>
          </a:prstGeom>
          <a:noFill/>
          <a:ln/>
        </p:spPr>
        <p:txBody>
          <a:bodyPr wrap="square" lIns="0" tIns="0" rIns="0" bIns="0" rtlCol="0" anchor="ctr"/>
          <a:lstStyle/>
          <a:p>
            <a:pPr algn="r" indent="0" marL="0">
              <a:buNone/>
            </a:pPr>
            <a:r>
              <a:rPr lang="en-US" sz="900" dirty="0">
                <a:solidFill>
                  <a:srgbClr val="5F7DA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03F"/>
        </a:solidFill>
      </p:bgPr>
    </p:bg>
    <p:spTree>
      <p:nvGrpSpPr>
        <p:cNvPr id="1" name=""/>
        <p:cNvGrpSpPr/>
        <p:nvPr/>
      </p:nvGrpSpPr>
      <p:grpSpPr>
        <a:xfrm>
          <a:off x="0" y="0"/>
          <a:ext cx="0" cy="0"/>
          <a:chOff x="0" y="0"/>
          <a:chExt cx="0" cy="0"/>
        </a:xfrm>
      </p:grpSpPr>
      <p:sp>
        <p:nvSpPr>
          <p:cNvPr id="2" name="Shape 0"/>
          <p:cNvSpPr/>
          <p:nvPr/>
        </p:nvSpPr>
        <p:spPr>
          <a:xfrm>
            <a:off x="10424160" y="-548640"/>
            <a:ext cx="2560320" cy="2560320"/>
          </a:xfrm>
          <a:prstGeom prst="ellipse">
            <a:avLst/>
          </a:prstGeom>
          <a:solidFill>
            <a:srgbClr val="2EC4B6">
              <a:alpha val="15000"/>
            </a:srgbClr>
          </a:solidFill>
          <a:ln/>
        </p:spPr>
      </p:sp>
      <p:sp>
        <p:nvSpPr>
          <p:cNvPr id="3" name="Text 1"/>
          <p:cNvSpPr/>
          <p:nvPr/>
        </p:nvSpPr>
        <p:spPr>
          <a:xfrm>
            <a:off x="822960" y="1188720"/>
            <a:ext cx="7315200" cy="320040"/>
          </a:xfrm>
          <a:prstGeom prst="rect">
            <a:avLst/>
          </a:prstGeom>
          <a:noFill/>
          <a:ln/>
        </p:spPr>
        <p:txBody>
          <a:bodyPr wrap="square" lIns="0" tIns="0" rIns="0" bIns="0" rtlCol="0" anchor="ctr"/>
          <a:lstStyle/>
          <a:p>
            <a:pPr indent="0" marL="0">
              <a:buNone/>
            </a:pPr>
            <a:r>
              <a:rPr lang="en-US" sz="1250" b="1" spc="400" kern="0" dirty="0">
                <a:solidFill>
                  <a:srgbClr val="2EC4B6"/>
                </a:solidFill>
                <a:latin typeface="Calibri" pitchFamily="34" charset="0"/>
                <a:ea typeface="Calibri" pitchFamily="34" charset="-122"/>
                <a:cs typeface="Calibri" pitchFamily="34" charset="-120"/>
              </a:rPr>
              <a:t>THE ASK</a:t>
            </a:r>
            <a:endParaRPr lang="en-US" sz="1250" dirty="0"/>
          </a:p>
        </p:txBody>
      </p:sp>
      <p:sp>
        <p:nvSpPr>
          <p:cNvPr id="4" name="Text 2"/>
          <p:cNvSpPr/>
          <p:nvPr/>
        </p:nvSpPr>
        <p:spPr>
          <a:xfrm>
            <a:off x="777240" y="1572768"/>
            <a:ext cx="10972800" cy="96012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Let's pilot it on one feature</a:t>
            </a:r>
            <a:endParaRPr lang="en-US" sz="4400" dirty="0"/>
          </a:p>
        </p:txBody>
      </p:sp>
      <p:sp>
        <p:nvSpPr>
          <p:cNvPr id="5" name="Text 3"/>
          <p:cNvSpPr/>
          <p:nvPr/>
        </p:nvSpPr>
        <p:spPr>
          <a:xfrm>
            <a:off x="822960" y="2578608"/>
            <a:ext cx="10515600" cy="1097280"/>
          </a:xfrm>
          <a:prstGeom prst="rect">
            <a:avLst/>
          </a:prstGeom>
          <a:noFill/>
          <a:ln/>
        </p:spPr>
        <p:txBody>
          <a:bodyPr wrap="square" lIns="0" tIns="0" rIns="0" bIns="0" rtlCol="0" anchor="ctr"/>
          <a:lstStyle/>
          <a:p>
            <a:pPr indent="0" marL="0">
              <a:buNone/>
            </a:pPr>
            <a:r>
              <a:rPr lang="en-US" sz="1500" dirty="0">
                <a:solidFill>
                  <a:srgbClr val="C8DAEF"/>
                </a:solidFill>
                <a:latin typeface="Calibri" pitchFamily="34" charset="0"/>
                <a:ea typeface="Calibri" pitchFamily="34" charset="-122"/>
                <a:cs typeface="Calibri" pitchFamily="34" charset="-120"/>
              </a:rPr>
              <a:t>Pick one real upcoming feature and run it end-to-end through SDD. You'll see a spec written for you to read and approve, the approval gates in action, and a full paper trail of what was agreed to and why — before a single line of code is written. Low risk, real evidence.</a:t>
            </a:r>
            <a:endParaRPr lang="en-US" sz="1500" dirty="0"/>
          </a:p>
        </p:txBody>
      </p:sp>
      <p:sp>
        <p:nvSpPr>
          <p:cNvPr id="6" name="Shape 4"/>
          <p:cNvSpPr/>
          <p:nvPr/>
        </p:nvSpPr>
        <p:spPr>
          <a:xfrm>
            <a:off x="777240" y="4041648"/>
            <a:ext cx="3520440" cy="2468880"/>
          </a:xfrm>
          <a:prstGeom prst="rect">
            <a:avLst/>
          </a:prstGeom>
          <a:solidFill>
            <a:srgbClr val="21386A"/>
          </a:solidFill>
          <a:ln w="15875">
            <a:solidFill>
              <a:srgbClr val="44608F"/>
            </a:solidFill>
            <a:prstDash val="solid"/>
          </a:ln>
          <a:effectLst>
            <a:outerShdw sx="100000" sy="100000" kx="0" ky="0" algn="bl" rotWithShape="0" blurRad="127000" dist="38100" dir="8100000">
              <a:srgbClr val="000000">
                <a:alpha val="14000"/>
              </a:srgbClr>
            </a:outerShdw>
          </a:effectLst>
        </p:spPr>
      </p:sp>
      <p:sp>
        <p:nvSpPr>
          <p:cNvPr id="7" name="Shape 5"/>
          <p:cNvSpPr/>
          <p:nvPr/>
        </p:nvSpPr>
        <p:spPr>
          <a:xfrm>
            <a:off x="1097280" y="4315968"/>
            <a:ext cx="658368" cy="658368"/>
          </a:xfrm>
          <a:prstGeom prst="ellipse">
            <a:avLst/>
          </a:prstGeom>
          <a:solidFill>
            <a:srgbClr val="2C4C82"/>
          </a:solidFill>
          <a:ln/>
        </p:spPr>
      </p:sp>
      <p:pic>
        <p:nvPicPr>
          <p:cNvPr id="8" name="Image 0" descr="preencoded.png">    </p:cNvPr>
          <p:cNvPicPr>
            <a:picLocks noChangeAspect="1"/>
          </p:cNvPicPr>
          <p:nvPr/>
        </p:nvPicPr>
        <p:blipFill>
          <a:blip r:embed="rId1"/>
          <a:stretch>
            <a:fillRect/>
          </a:stretch>
        </p:blipFill>
        <p:spPr>
          <a:xfrm>
            <a:off x="1242121" y="4460809"/>
            <a:ext cx="368686" cy="368686"/>
          </a:xfrm>
          <a:prstGeom prst="rect">
            <a:avLst/>
          </a:prstGeom>
        </p:spPr>
      </p:pic>
      <p:sp>
        <p:nvSpPr>
          <p:cNvPr id="9" name="Text 6"/>
          <p:cNvSpPr/>
          <p:nvPr/>
        </p:nvSpPr>
        <p:spPr>
          <a:xfrm>
            <a:off x="1920240" y="4361688"/>
            <a:ext cx="2240280" cy="475488"/>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Step 1: Choose a feature</a:t>
            </a:r>
            <a:endParaRPr lang="en-US" sz="1500" dirty="0"/>
          </a:p>
        </p:txBody>
      </p:sp>
      <p:sp>
        <p:nvSpPr>
          <p:cNvPr id="10" name="Text 7"/>
          <p:cNvSpPr/>
          <p:nvPr/>
        </p:nvSpPr>
        <p:spPr>
          <a:xfrm>
            <a:off x="1097280" y="5093208"/>
            <a:ext cx="3035808" cy="1298448"/>
          </a:xfrm>
          <a:prstGeom prst="rect">
            <a:avLst/>
          </a:prstGeom>
          <a:noFill/>
          <a:ln/>
        </p:spPr>
        <p:txBody>
          <a:bodyPr wrap="square" lIns="0" tIns="0" rIns="0" bIns="0" rtlCol="0" anchor="ctr"/>
          <a:lstStyle/>
          <a:p>
            <a:pPr indent="0" marL="0">
              <a:buNone/>
            </a:pPr>
            <a:r>
              <a:rPr lang="en-US" sz="1200" dirty="0">
                <a:solidFill>
                  <a:srgbClr val="C8DAEF"/>
                </a:solidFill>
                <a:latin typeface="Calibri" pitchFamily="34" charset="0"/>
                <a:ea typeface="Calibri" pitchFamily="34" charset="-122"/>
                <a:cs typeface="Calibri" pitchFamily="34" charset="-120"/>
              </a:rPr>
              <a:t>Pick one real upcoming feature from the current roadmap — small or medium scope is best for a first run.</a:t>
            </a:r>
            <a:endParaRPr lang="en-US" sz="1200" dirty="0"/>
          </a:p>
        </p:txBody>
      </p:sp>
      <p:sp>
        <p:nvSpPr>
          <p:cNvPr id="11" name="Shape 8"/>
          <p:cNvSpPr/>
          <p:nvPr/>
        </p:nvSpPr>
        <p:spPr>
          <a:xfrm>
            <a:off x="4526280" y="4041648"/>
            <a:ext cx="3520440" cy="2468880"/>
          </a:xfrm>
          <a:prstGeom prst="rect">
            <a:avLst/>
          </a:prstGeom>
          <a:solidFill>
            <a:srgbClr val="21386A"/>
          </a:solidFill>
          <a:ln w="15875">
            <a:solidFill>
              <a:srgbClr val="44608F"/>
            </a:solidFill>
            <a:prstDash val="solid"/>
          </a:ln>
          <a:effectLst>
            <a:outerShdw sx="100000" sy="100000" kx="0" ky="0" algn="bl" rotWithShape="0" blurRad="127000" dist="38100" dir="8100000">
              <a:srgbClr val="000000">
                <a:alpha val="14000"/>
              </a:srgbClr>
            </a:outerShdw>
          </a:effectLst>
        </p:spPr>
      </p:sp>
      <p:sp>
        <p:nvSpPr>
          <p:cNvPr id="12" name="Shape 9"/>
          <p:cNvSpPr/>
          <p:nvPr/>
        </p:nvSpPr>
        <p:spPr>
          <a:xfrm>
            <a:off x="4846320" y="4315968"/>
            <a:ext cx="658368" cy="658368"/>
          </a:xfrm>
          <a:prstGeom prst="ellipse">
            <a:avLst/>
          </a:prstGeom>
          <a:solidFill>
            <a:srgbClr val="2C4C82"/>
          </a:solidFill>
          <a:ln/>
        </p:spPr>
      </p:sp>
      <p:pic>
        <p:nvPicPr>
          <p:cNvPr id="13" name="Image 1" descr="preencoded.png">    </p:cNvPr>
          <p:cNvPicPr>
            <a:picLocks noChangeAspect="1"/>
          </p:cNvPicPr>
          <p:nvPr/>
        </p:nvPicPr>
        <p:blipFill>
          <a:blip r:embed="rId2"/>
          <a:stretch>
            <a:fillRect/>
          </a:stretch>
        </p:blipFill>
        <p:spPr>
          <a:xfrm>
            <a:off x="4991161" y="4460809"/>
            <a:ext cx="368686" cy="368686"/>
          </a:xfrm>
          <a:prstGeom prst="rect">
            <a:avLst/>
          </a:prstGeom>
        </p:spPr>
      </p:pic>
      <p:sp>
        <p:nvSpPr>
          <p:cNvPr id="14" name="Text 10"/>
          <p:cNvSpPr/>
          <p:nvPr/>
        </p:nvSpPr>
        <p:spPr>
          <a:xfrm>
            <a:off x="5669280" y="4361688"/>
            <a:ext cx="2240280" cy="475488"/>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Step 2: Name the approver</a:t>
            </a:r>
            <a:endParaRPr lang="en-US" sz="1500" dirty="0"/>
          </a:p>
        </p:txBody>
      </p:sp>
      <p:sp>
        <p:nvSpPr>
          <p:cNvPr id="15" name="Text 11"/>
          <p:cNvSpPr/>
          <p:nvPr/>
        </p:nvSpPr>
        <p:spPr>
          <a:xfrm>
            <a:off x="4846320" y="5093208"/>
            <a:ext cx="3035808" cy="1298448"/>
          </a:xfrm>
          <a:prstGeom prst="rect">
            <a:avLst/>
          </a:prstGeom>
          <a:noFill/>
          <a:ln/>
        </p:spPr>
        <p:txBody>
          <a:bodyPr wrap="square" lIns="0" tIns="0" rIns="0" bIns="0" rtlCol="0" anchor="ctr"/>
          <a:lstStyle/>
          <a:p>
            <a:pPr indent="0" marL="0">
              <a:buNone/>
            </a:pPr>
            <a:r>
              <a:rPr lang="en-US" sz="1200" dirty="0">
                <a:solidFill>
                  <a:srgbClr val="C8DAEF"/>
                </a:solidFill>
                <a:latin typeface="Calibri" pitchFamily="34" charset="0"/>
                <a:ea typeface="Calibri" pitchFamily="34" charset="-122"/>
                <a:cs typeface="Calibri" pitchFamily="34" charset="-120"/>
              </a:rPr>
              <a:t>Identify who will approve the spec (what/why) and give the go before the build. Usually the PM or product owner.</a:t>
            </a:r>
            <a:endParaRPr lang="en-US" sz="1200" dirty="0"/>
          </a:p>
        </p:txBody>
      </p:sp>
      <p:sp>
        <p:nvSpPr>
          <p:cNvPr id="16" name="Shape 12"/>
          <p:cNvSpPr/>
          <p:nvPr/>
        </p:nvSpPr>
        <p:spPr>
          <a:xfrm>
            <a:off x="8275320" y="4041648"/>
            <a:ext cx="3520440" cy="2468880"/>
          </a:xfrm>
          <a:prstGeom prst="rect">
            <a:avLst/>
          </a:prstGeom>
          <a:solidFill>
            <a:srgbClr val="21386A"/>
          </a:solidFill>
          <a:ln w="15875">
            <a:solidFill>
              <a:srgbClr val="44608F"/>
            </a:solidFill>
            <a:prstDash val="solid"/>
          </a:ln>
          <a:effectLst>
            <a:outerShdw sx="100000" sy="100000" kx="0" ky="0" algn="bl" rotWithShape="0" blurRad="127000" dist="38100" dir="8100000">
              <a:srgbClr val="000000">
                <a:alpha val="14000"/>
              </a:srgbClr>
            </a:outerShdw>
          </a:effectLst>
        </p:spPr>
      </p:sp>
      <p:sp>
        <p:nvSpPr>
          <p:cNvPr id="17" name="Shape 13"/>
          <p:cNvSpPr/>
          <p:nvPr/>
        </p:nvSpPr>
        <p:spPr>
          <a:xfrm>
            <a:off x="8595360" y="4315968"/>
            <a:ext cx="658368" cy="658368"/>
          </a:xfrm>
          <a:prstGeom prst="ellipse">
            <a:avLst/>
          </a:prstGeom>
          <a:solidFill>
            <a:srgbClr val="2C4C82"/>
          </a:solidFill>
          <a:ln/>
        </p:spPr>
      </p:sp>
      <p:pic>
        <p:nvPicPr>
          <p:cNvPr id="18" name="Image 2" descr="preencoded.png">    </p:cNvPr>
          <p:cNvPicPr>
            <a:picLocks noChangeAspect="1"/>
          </p:cNvPicPr>
          <p:nvPr/>
        </p:nvPicPr>
        <p:blipFill>
          <a:blip r:embed="rId3"/>
          <a:stretch>
            <a:fillRect/>
          </a:stretch>
        </p:blipFill>
        <p:spPr>
          <a:xfrm>
            <a:off x="8740201" y="4460809"/>
            <a:ext cx="368686" cy="368686"/>
          </a:xfrm>
          <a:prstGeom prst="rect">
            <a:avLst/>
          </a:prstGeom>
        </p:spPr>
      </p:pic>
      <p:sp>
        <p:nvSpPr>
          <p:cNvPr id="19" name="Text 14"/>
          <p:cNvSpPr/>
          <p:nvPr/>
        </p:nvSpPr>
        <p:spPr>
          <a:xfrm>
            <a:off x="9418320" y="4361688"/>
            <a:ext cx="2240280" cy="475488"/>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Step 3: Review the result</a:t>
            </a:r>
            <a:endParaRPr lang="en-US" sz="1500" dirty="0"/>
          </a:p>
        </p:txBody>
      </p:sp>
      <p:sp>
        <p:nvSpPr>
          <p:cNvPr id="20" name="Text 15"/>
          <p:cNvSpPr/>
          <p:nvPr/>
        </p:nvSpPr>
        <p:spPr>
          <a:xfrm>
            <a:off x="8595360" y="5093208"/>
            <a:ext cx="3035808" cy="1298448"/>
          </a:xfrm>
          <a:prstGeom prst="rect">
            <a:avLst/>
          </a:prstGeom>
          <a:noFill/>
          <a:ln/>
        </p:spPr>
        <p:txBody>
          <a:bodyPr wrap="square" lIns="0" tIns="0" rIns="0" bIns="0" rtlCol="0" anchor="ctr"/>
          <a:lstStyle/>
          <a:p>
            <a:pPr indent="0" marL="0">
              <a:buNone/>
            </a:pPr>
            <a:r>
              <a:rPr lang="en-US" sz="1200" dirty="0">
                <a:solidFill>
                  <a:srgbClr val="C8DAEF"/>
                </a:solidFill>
                <a:latin typeface="Calibri" pitchFamily="34" charset="0"/>
                <a:ea typeface="Calibri" pitchFamily="34" charset="-122"/>
                <a:cs typeface="Calibri" pitchFamily="34" charset="-120"/>
              </a:rPr>
              <a:t>After implement, we walk you through the full paper trail: spec → plan → tasks → shipped, all traceable.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Spec-Driven Development</dc:title>
  <dc:subject>PptxGenJS Presentation</dc:subject>
  <dc:creator>SDD Toolkit</dc:creator>
  <cp:lastModifiedBy>SDD Toolkit</cp:lastModifiedBy>
  <cp:revision>1</cp:revision>
  <dcterms:created xsi:type="dcterms:W3CDTF">2026-06-12T03:45:30Z</dcterms:created>
  <dcterms:modified xsi:type="dcterms:W3CDTF">2026-06-12T03:45:30Z</dcterms:modified>
</cp:coreProperties>
</file>